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handoutMasterIdLst>
    <p:handoutMasterId r:id="rId34"/>
  </p:handoutMasterIdLst>
  <p:sldIdLst>
    <p:sldId id="2561" r:id="rId2"/>
    <p:sldId id="2562" r:id="rId3"/>
    <p:sldId id="2571" r:id="rId4"/>
    <p:sldId id="2566" r:id="rId5"/>
    <p:sldId id="2572" r:id="rId6"/>
    <p:sldId id="2613" r:id="rId7"/>
    <p:sldId id="2567" r:id="rId8"/>
    <p:sldId id="2573" r:id="rId9"/>
    <p:sldId id="2570" r:id="rId10"/>
    <p:sldId id="2565" r:id="rId11"/>
    <p:sldId id="2614" r:id="rId12"/>
    <p:sldId id="2615" r:id="rId13"/>
    <p:sldId id="2616" r:id="rId14"/>
    <p:sldId id="2623" r:id="rId15"/>
    <p:sldId id="2624" r:id="rId16"/>
    <p:sldId id="2625" r:id="rId17"/>
    <p:sldId id="2617" r:id="rId18"/>
    <p:sldId id="2618" r:id="rId19"/>
    <p:sldId id="2626" r:id="rId20"/>
    <p:sldId id="2627" r:id="rId21"/>
    <p:sldId id="2628" r:id="rId22"/>
    <p:sldId id="2629" r:id="rId23"/>
    <p:sldId id="2630" r:id="rId24"/>
    <p:sldId id="2631" r:id="rId25"/>
    <p:sldId id="2619" r:id="rId26"/>
    <p:sldId id="2620" r:id="rId27"/>
    <p:sldId id="2632" r:id="rId28"/>
    <p:sldId id="2633" r:id="rId29"/>
    <p:sldId id="2634" r:id="rId30"/>
    <p:sldId id="2611" r:id="rId31"/>
    <p:sldId id="2612" r:id="rId3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ploys Infinitos" id="{A233ABC0-2989-4C5C-A544-BEBA5BD63310}">
          <p14:sldIdLst>
            <p14:sldId id="2561"/>
            <p14:sldId id="2562"/>
            <p14:sldId id="2571"/>
            <p14:sldId id="2566"/>
            <p14:sldId id="2572"/>
            <p14:sldId id="2613"/>
            <p14:sldId id="2567"/>
            <p14:sldId id="2573"/>
            <p14:sldId id="2570"/>
            <p14:sldId id="2565"/>
            <p14:sldId id="2614"/>
            <p14:sldId id="2615"/>
            <p14:sldId id="2616"/>
            <p14:sldId id="2623"/>
            <p14:sldId id="2624"/>
            <p14:sldId id="2625"/>
            <p14:sldId id="2617"/>
            <p14:sldId id="2618"/>
            <p14:sldId id="2626"/>
            <p14:sldId id="2627"/>
            <p14:sldId id="2628"/>
            <p14:sldId id="2629"/>
            <p14:sldId id="2630"/>
            <p14:sldId id="2631"/>
            <p14:sldId id="2619"/>
            <p14:sldId id="2620"/>
            <p14:sldId id="2632"/>
            <p14:sldId id="2633"/>
            <p14:sldId id="2634"/>
            <p14:sldId id="2611"/>
            <p14:sldId id="26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3E8"/>
    <a:srgbClr val="A7B0C0"/>
    <a:srgbClr val="FF6F1E"/>
    <a:srgbClr val="3DF5FF"/>
    <a:srgbClr val="0D1B2A"/>
    <a:srgbClr val="CA7926"/>
    <a:srgbClr val="8E3208"/>
    <a:srgbClr val="4D1310"/>
    <a:srgbClr val="DA9700"/>
    <a:srgbClr val="FFB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A1D866-9945-4532-83AB-A5DAED726D2B}" v="408" dt="2025-06-09T11:25:00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342" y="-278"/>
      </p:cViewPr>
      <p:guideLst>
        <p:guide orient="horz" pos="4032"/>
        <p:guide pos="30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CF1927D-7E82-AAF7-CA67-AB873314BC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9966BD-CECB-1306-0983-2E2BD4826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477F2-BB17-45E7-A12E-FED27ED2F681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4A1223-D719-E47A-BE66-344374346B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7F336B-34FE-6D97-CA62-EB900E1BAC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B11E2-2634-4FC6-8324-CF3F584A4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3810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97A49-3252-4501-B181-1EE9AE55AD81}" type="datetimeFigureOut">
              <a:rPr lang="pt-BR" smtClean="0"/>
              <a:t>02/05/2026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8AD3F-2BB8-435B-976B-E9298CFB63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8992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956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913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869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82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782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738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6695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7651" algn="l" defTabSz="1221913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conteúdos gerados pela IA podem estar incorretos.
---
Nesta apresentação, exploraremos como os microserviços, aliados ao Apache Camel, podem transformar aplicações Java em sistemas mais ágeis e eficientes. Vamos abordar desde a introdução aos microserviços até a implementação prática, destacando as melhores práticas para garantir seu sucesso.
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58AD3F-2BB8-435B-976B-E9298CFB639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564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AE310-A55C-4EB1-AD3C-EDEE92B7F4AC}" type="datetime1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99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80411-44A4-4AE4-A3BD-6A5431412225}" type="datetime1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3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7CF1-C67D-48A6-99B4-5FEEEFD40596}" type="datetime1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10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1AA3E-5949-4536-8C04-BEF26C4811E0}" type="datetime1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321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10880-6A74-4CD7-A8CE-1488EA9CB108}" type="datetime1">
              <a:rPr lang="pt-BR" smtClean="0"/>
              <a:t>02/05/2026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91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1E27C-5FDE-415F-A343-3B5BD9238A3C}" type="datetime1">
              <a:rPr lang="pt-BR" smtClean="0"/>
              <a:t>02/05/2026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613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CF654-CE7D-45FD-BE4A-06C2E723E95F}" type="datetime1">
              <a:rPr lang="pt-BR" smtClean="0"/>
              <a:t>02/05/2026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35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C6B66-68A6-4F06-A506-FC96375F3AE8}" type="datetime1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72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E5162-4168-435C-A977-B0B7242B5674}" type="datetime1">
              <a:rPr lang="pt-BR" smtClean="0"/>
              <a:t>02/05/2026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70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C9104-92CC-4233-A6E3-0429C5FB452E}" type="datetime1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234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49A38-4D44-4B3C-9952-1A2644000FB2}" type="datetime1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 EMPRESA DOS DEPLOYS INFINITOS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76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31837-3B98-4915-9BF4-758D85774DB6}" type="datetime1">
              <a:rPr lang="pt-BR" smtClean="0"/>
              <a:t>02/05/2026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A EMPRESA DOS DEPLOYS INFINITOS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1CB04-2BE3-4164-84E0-A56E2E41F69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93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uis-zancanela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D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F42D772E-3D32-9903-F4BE-D9B567A70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14401800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60A2DF7E-EE0D-7FBC-7EFE-7B60828B35F7}"/>
              </a:ext>
            </a:extLst>
          </p:cNvPr>
          <p:cNvSpPr/>
          <p:nvPr/>
        </p:nvSpPr>
        <p:spPr>
          <a:xfrm>
            <a:off x="0" y="4229100"/>
            <a:ext cx="9601200" cy="723900"/>
          </a:xfrm>
          <a:prstGeom prst="rect">
            <a:avLst/>
          </a:prstGeom>
          <a:solidFill>
            <a:srgbClr val="0D1B2A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ln w="22225">
                  <a:noFill/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rgbClr val="FFC000"/>
                    </a:gs>
                    <a:gs pos="83000">
                      <a:srgbClr val="FFB300"/>
                    </a:gs>
                    <a:gs pos="100000">
                      <a:srgbClr val="DA9700"/>
                    </a:gs>
                  </a:gsLst>
                  <a:lin ang="5400000" scaled="1"/>
                </a:gradFill>
                <a:effectLst>
                  <a:outerShdw blurRad="25400" dist="63500" dir="5400000" algn="t" rotWithShape="0">
                    <a:srgbClr val="8E3208"/>
                  </a:outerShdw>
                </a:effectLst>
                <a:latin typeface="Impact" panose="020B0806030902050204" pitchFamily="34" charset="0"/>
                <a:ea typeface="Roboto" panose="02000000000000000000" pitchFamily="2" charset="0"/>
                <a:cs typeface="Roboto" panose="02000000000000000000" pitchFamily="2" charset="0"/>
              </a:rPr>
              <a:t>Luis Zancanela</a:t>
            </a:r>
          </a:p>
        </p:txBody>
      </p:sp>
    </p:spTree>
    <p:extLst>
      <p:ext uri="{BB962C8B-B14F-4D97-AF65-F5344CB8AC3E}">
        <p14:creationId xmlns:p14="http://schemas.microsoft.com/office/powerpoint/2010/main" val="207314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 dirty="0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1300" dirty="0"/>
          </a:p>
        </p:txBody>
      </p:sp>
      <p:sp>
        <p:nvSpPr>
          <p:cNvPr id="3" name="Text 1"/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BEM-VINDO À EMPRESA DOS DEPLOYS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INFINITOS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7F4D43-319C-5F78-5ABC-9BE3619A5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2175E0-499A-4451-7B99-61889879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2</a:t>
            </a:fld>
            <a:endParaRPr lang="pt-BR" dirty="0">
              <a:solidFill>
                <a:srgbClr val="A7B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Bem-vindo à Empresa dos</a:t>
            </a:r>
          </a:p>
          <a:p>
            <a:pPr marL="0" indent="0" algn="l">
              <a:buNone/>
            </a:pP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Deploys Infinitos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O CEO dos Containers e o RH dos Pods</a:t>
            </a:r>
            <a:endParaRPr lang="en-US" sz="3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2459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/>
              <a:t>Imagine o </a:t>
            </a:r>
            <a:r>
              <a:rPr lang="pt-BR" sz="2400" dirty="0" err="1"/>
              <a:t>Kubernetes</a:t>
            </a:r>
            <a:r>
              <a:rPr lang="pt-BR" sz="2400" dirty="0"/>
              <a:t> como um </a:t>
            </a:r>
            <a:r>
              <a:rPr lang="pt-BR" sz="2400" b="1" dirty="0"/>
              <a:t>sistema de gestão distribuído</a:t>
            </a:r>
            <a:r>
              <a:rPr lang="pt-BR" sz="2400" dirty="0"/>
              <a:t>: não há um único “CEO”, mas vários componentes que trabalham juntos para manter o ambiente no </a:t>
            </a:r>
            <a:r>
              <a:rPr lang="pt-BR" sz="2400" b="1" dirty="0"/>
              <a:t>estado desejado</a:t>
            </a:r>
            <a:r>
              <a:rPr lang="pt-BR" sz="2400" dirty="0"/>
              <a:t>. Quando a demanda cresce, o sistema </a:t>
            </a:r>
            <a:r>
              <a:rPr lang="pt-BR" sz="2400" b="1" dirty="0"/>
              <a:t>cria </a:t>
            </a:r>
            <a:r>
              <a:rPr lang="pt-BR" sz="2400" b="1" dirty="0" err="1"/>
              <a:t>pods</a:t>
            </a:r>
            <a:r>
              <a:rPr lang="pt-BR" sz="2400" b="1" dirty="0"/>
              <a:t> </a:t>
            </a:r>
            <a:r>
              <a:rPr lang="pt-BR" sz="2400" dirty="0"/>
              <a:t>e quando cai, </a:t>
            </a:r>
            <a:r>
              <a:rPr lang="pt-BR" sz="2400" b="1" dirty="0"/>
              <a:t>reduz réplicas</a:t>
            </a:r>
            <a:r>
              <a:rPr lang="pt-BR" sz="2400" dirty="0"/>
              <a:t>. Essas ações são automáticas e baseadas na especificação declarada.</a:t>
            </a:r>
            <a:endParaRPr lang="pt-BR" sz="220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9494BC-9687-C8E3-A5FF-FCAD6B27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C51FBA-2D97-36EA-83D5-6B5D5418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3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9461FDE-540A-41FB-8163-726C41284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43" y="5980177"/>
            <a:ext cx="7694314" cy="49911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 dirty="0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1300" dirty="0"/>
          </a:p>
        </p:txBody>
      </p:sp>
      <p:sp>
        <p:nvSpPr>
          <p:cNvPr id="3" name="Text 1"/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TEM NO KUBERNETES?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FC3756-8606-9469-645B-FAAF5B8FD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087C21-A533-6D32-1652-AE38BD7B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4</a:t>
            </a:fld>
            <a:endParaRPr lang="pt-BR" dirty="0">
              <a:solidFill>
                <a:srgbClr val="A7B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 e </a:t>
            </a:r>
            <a:r>
              <a:rPr lang="pt-BR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</a:t>
            </a:r>
            <a:endParaRPr lang="pt-BR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Os Colaboradores e as Salas</a:t>
            </a:r>
            <a:endParaRPr lang="pt-BR" sz="3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430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200" b="1" dirty="0"/>
              <a:t>Container = Colaborador</a:t>
            </a:r>
          </a:p>
          <a:p>
            <a:r>
              <a:rPr lang="pt-BR" sz="2200" dirty="0"/>
              <a:t>O </a:t>
            </a:r>
            <a:r>
              <a:rPr lang="pt-BR" sz="2200" b="1" dirty="0"/>
              <a:t>container</a:t>
            </a:r>
            <a:r>
              <a:rPr lang="pt-BR" sz="2200" dirty="0"/>
              <a:t> é um processo isolado que executa uma função específica. Na empresa é o </a:t>
            </a:r>
            <a:r>
              <a:rPr lang="pt-BR" sz="2200" b="1" dirty="0"/>
              <a:t>colaborador</a:t>
            </a:r>
            <a:r>
              <a:rPr lang="pt-BR" sz="2200" dirty="0"/>
              <a:t> com sua mesa, computador e ferramentas, executando uma tarefa de forma independente.</a:t>
            </a:r>
          </a:p>
          <a:p>
            <a:endParaRPr lang="pt-BR" sz="2200" dirty="0"/>
          </a:p>
          <a:p>
            <a:r>
              <a:rPr lang="pt-BR" sz="2200" b="1" dirty="0" err="1"/>
              <a:t>Pod</a:t>
            </a:r>
            <a:r>
              <a:rPr lang="pt-BR" sz="2200" b="1" dirty="0"/>
              <a:t> = Sala Modular</a:t>
            </a:r>
            <a:endParaRPr lang="pt-BR" sz="2200" dirty="0"/>
          </a:p>
          <a:p>
            <a:r>
              <a:rPr lang="pt-BR" sz="2200" dirty="0"/>
              <a:t>O </a:t>
            </a:r>
            <a:r>
              <a:rPr lang="pt-BR" sz="2200" b="1" dirty="0" err="1"/>
              <a:t>pod</a:t>
            </a:r>
            <a:r>
              <a:rPr lang="pt-BR" sz="2200" dirty="0"/>
              <a:t> agrupa containers com rede e volumes compartilhados. Pense numa </a:t>
            </a:r>
            <a:r>
              <a:rPr lang="pt-BR" sz="2200" b="1" dirty="0"/>
              <a:t>sala modular </a:t>
            </a:r>
            <a:r>
              <a:rPr lang="pt-BR" sz="2200" dirty="0"/>
              <a:t>com divisórias móveis, que pode ser criada, reconfigurada ou removida conforme a necessidade.</a:t>
            </a:r>
          </a:p>
          <a:p>
            <a:endParaRPr lang="pt-BR" sz="2200" dirty="0"/>
          </a:p>
          <a:p>
            <a:r>
              <a:rPr lang="pt-BR" sz="2200" b="1" dirty="0"/>
              <a:t>Um </a:t>
            </a:r>
            <a:r>
              <a:rPr lang="pt-BR" sz="2200" b="1" dirty="0" err="1"/>
              <a:t>pod</a:t>
            </a:r>
            <a:r>
              <a:rPr lang="pt-BR" sz="2200" b="1" dirty="0"/>
              <a:t> pode conter apenas um container</a:t>
            </a:r>
            <a:r>
              <a:rPr lang="pt-BR" sz="2200" dirty="0"/>
              <a:t>, como a “sala do Fulano”, </a:t>
            </a:r>
            <a:r>
              <a:rPr lang="pt-BR" sz="2200" b="1" dirty="0"/>
              <a:t>mas isso não torna container e </a:t>
            </a:r>
            <a:r>
              <a:rPr lang="pt-BR" sz="2200" b="1" dirty="0" err="1"/>
              <a:t>pod</a:t>
            </a:r>
            <a:r>
              <a:rPr lang="pt-BR" sz="2200" b="1" dirty="0"/>
              <a:t> a mesma coisa</a:t>
            </a:r>
            <a:r>
              <a:rPr lang="pt-BR" sz="2200" dirty="0"/>
              <a:t>.</a:t>
            </a:r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51FB77FA-5901-9AAC-BDC9-C31E92C5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618934CE-B0D6-1FD0-1C24-ECA9773B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5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0351807-CD54-3E81-F9F2-D1B279509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11" b="8392"/>
          <a:stretch>
            <a:fillRect/>
          </a:stretch>
        </p:blipFill>
        <p:spPr>
          <a:xfrm>
            <a:off x="834464" y="7391400"/>
            <a:ext cx="7923128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Workload</a:t>
            </a:r>
            <a:r>
              <a:rPr lang="pt-BR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, Node e Cluster</a:t>
            </a:r>
            <a:endParaRPr lang="pt-BR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200" dirty="0"/>
              <a:t>Departamentos, Andares e Prédio</a:t>
            </a:r>
            <a:endParaRPr lang="pt-BR" sz="3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597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200" b="1" dirty="0" err="1"/>
              <a:t>Workload</a:t>
            </a:r>
            <a:r>
              <a:rPr lang="pt-BR" sz="2200" b="1" dirty="0"/>
              <a:t> = Departamento</a:t>
            </a:r>
          </a:p>
          <a:p>
            <a:r>
              <a:rPr lang="pt-BR" sz="2200" b="1" dirty="0" err="1"/>
              <a:t>Workload</a:t>
            </a:r>
            <a:r>
              <a:rPr lang="pt-BR" sz="2200" dirty="0"/>
              <a:t> refere-se a recursos como Deployment, </a:t>
            </a:r>
            <a:r>
              <a:rPr lang="pt-BR" sz="2200" dirty="0" err="1"/>
              <a:t>StatefulSet</a:t>
            </a:r>
            <a:r>
              <a:rPr lang="pt-BR" sz="2200" dirty="0"/>
              <a:t>, </a:t>
            </a:r>
            <a:r>
              <a:rPr lang="pt-BR" sz="2200" dirty="0" err="1"/>
              <a:t>DaemonSet</a:t>
            </a:r>
            <a:r>
              <a:rPr lang="pt-BR" sz="2200" dirty="0"/>
              <a:t> e </a:t>
            </a:r>
            <a:r>
              <a:rPr lang="pt-BR" sz="2200" dirty="0" err="1"/>
              <a:t>Job</a:t>
            </a:r>
            <a:r>
              <a:rPr lang="pt-BR" sz="2200" dirty="0"/>
              <a:t>. </a:t>
            </a:r>
            <a:r>
              <a:rPr lang="pt-BR" sz="2200" b="1" dirty="0"/>
              <a:t>Cada tipo de </a:t>
            </a:r>
            <a:r>
              <a:rPr lang="pt-BR" sz="2200" b="1" dirty="0" err="1"/>
              <a:t>workload</a:t>
            </a:r>
            <a:r>
              <a:rPr lang="pt-BR" sz="2200" b="1" dirty="0"/>
              <a:t> </a:t>
            </a:r>
            <a:r>
              <a:rPr lang="pt-BR" sz="2200" dirty="0"/>
              <a:t>representa um </a:t>
            </a:r>
            <a:r>
              <a:rPr lang="pt-BR" sz="2200" b="1" dirty="0"/>
              <a:t>departamento</a:t>
            </a:r>
            <a:r>
              <a:rPr lang="pt-BR" sz="2200" dirty="0"/>
              <a:t> que define regras e metas. Por exemplo, um Deployment é o departamento que decide quantas salas abrir e como manter o time. O </a:t>
            </a:r>
            <a:r>
              <a:rPr lang="pt-BR" sz="2200" dirty="0" err="1"/>
              <a:t>workload</a:t>
            </a:r>
            <a:r>
              <a:rPr lang="pt-BR" sz="2200" dirty="0"/>
              <a:t> garante que as salas modulares (</a:t>
            </a:r>
            <a:r>
              <a:rPr lang="pt-BR" sz="2200" dirty="0" err="1"/>
              <a:t>pods</a:t>
            </a:r>
            <a:r>
              <a:rPr lang="pt-BR" sz="2200" dirty="0"/>
              <a:t>) existam e sigam a especificação declarada.</a:t>
            </a:r>
          </a:p>
          <a:p>
            <a:endParaRPr lang="pt-BR" sz="2200" dirty="0"/>
          </a:p>
          <a:p>
            <a:r>
              <a:rPr lang="pt-BR" sz="2200" b="1" dirty="0"/>
              <a:t>Node = Andar</a:t>
            </a:r>
          </a:p>
          <a:p>
            <a:r>
              <a:rPr lang="pt-BR" sz="2200" b="1" dirty="0"/>
              <a:t>Node</a:t>
            </a:r>
            <a:r>
              <a:rPr lang="pt-BR" sz="2200" dirty="0"/>
              <a:t> é a máquina física ou virtual que executa </a:t>
            </a:r>
            <a:r>
              <a:rPr lang="pt-BR" sz="2200" dirty="0" err="1"/>
              <a:t>pods</a:t>
            </a:r>
            <a:r>
              <a:rPr lang="pt-BR" sz="2200" dirty="0"/>
              <a:t>. Na empresa é o </a:t>
            </a:r>
            <a:r>
              <a:rPr lang="pt-BR" sz="2200" b="1" dirty="0"/>
              <a:t>andar</a:t>
            </a:r>
            <a:r>
              <a:rPr lang="pt-BR" sz="2200" dirty="0"/>
              <a:t> do prédio onde várias salas estão alocadas. Nodes podem falhar, ser drenados ou substituídos, por isso não confie em permanência.</a:t>
            </a:r>
          </a:p>
          <a:p>
            <a:endParaRPr lang="pt-BR" sz="2200" dirty="0"/>
          </a:p>
          <a:p>
            <a:r>
              <a:rPr lang="pt-BR" sz="2200" b="1" dirty="0"/>
              <a:t>Cluster = Prédio</a:t>
            </a:r>
            <a:r>
              <a:rPr lang="pt-BR" sz="2200" dirty="0"/>
              <a:t> </a:t>
            </a:r>
          </a:p>
          <a:p>
            <a:r>
              <a:rPr lang="pt-BR" sz="2200" dirty="0"/>
              <a:t>Cluster é o conjunto de nodes mais o </a:t>
            </a:r>
            <a:r>
              <a:rPr lang="pt-BR" sz="2200" dirty="0" err="1"/>
              <a:t>control</a:t>
            </a:r>
            <a:r>
              <a:rPr lang="pt-BR" sz="2200" dirty="0"/>
              <a:t> plane que mantém tudo funcionando. Na empresa é o prédio inteiro com todos os andares e departamentos operando juntos.</a:t>
            </a:r>
          </a:p>
        </p:txBody>
      </p:sp>
      <p:sp>
        <p:nvSpPr>
          <p:cNvPr id="20" name="DiagContainer"/>
          <p:cNvSpPr/>
          <p:nvPr/>
        </p:nvSpPr>
        <p:spPr>
          <a:xfrm>
            <a:off x="708176" y="9856895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pt-BR" b="1" dirty="0">
                <a:solidFill>
                  <a:srgbClr val="FFFFFF"/>
                </a:solidFill>
                <a:latin typeface="Calibri" pitchFamily="34" charset="0"/>
              </a:rPr>
              <a:t>Container</a:t>
            </a:r>
          </a:p>
          <a:p>
            <a:pPr algn="ctr">
              <a:buNone/>
            </a:pPr>
            <a:r>
              <a:rPr lang="pt-BR" sz="1400" dirty="0">
                <a:solidFill>
                  <a:srgbClr val="C5DFFF"/>
                </a:solidFill>
                <a:latin typeface="Calibri" pitchFamily="34" charset="0"/>
              </a:rPr>
              <a:t>Colaborador</a:t>
            </a:r>
          </a:p>
        </p:txBody>
      </p:sp>
      <p:sp>
        <p:nvSpPr>
          <p:cNvPr id="21" name="Arrow1"/>
          <p:cNvSpPr/>
          <p:nvPr/>
        </p:nvSpPr>
        <p:spPr>
          <a:xfrm>
            <a:off x="2079776" y="10176935"/>
            <a:ext cx="35000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DF5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DiagPod"/>
          <p:cNvSpPr/>
          <p:nvPr/>
        </p:nvSpPr>
        <p:spPr>
          <a:xfrm>
            <a:off x="2429776" y="9856895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0D47A1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pt-BR" b="1" dirty="0" err="1">
                <a:solidFill>
                  <a:srgbClr val="FFFFFF"/>
                </a:solidFill>
                <a:latin typeface="Calibri" pitchFamily="34" charset="0"/>
              </a:rPr>
              <a:t>Pod</a:t>
            </a:r>
            <a:endParaRPr lang="pt-BR" b="1" dirty="0">
              <a:solidFill>
                <a:srgbClr val="FFFFFF"/>
              </a:solidFill>
              <a:latin typeface="Calibri" pitchFamily="34" charset="0"/>
            </a:endParaRPr>
          </a:p>
          <a:p>
            <a:pPr algn="ctr">
              <a:buNone/>
            </a:pPr>
            <a:r>
              <a:rPr lang="pt-BR" sz="1400" dirty="0">
                <a:solidFill>
                  <a:srgbClr val="90CAF9"/>
                </a:solidFill>
                <a:latin typeface="Calibri" pitchFamily="34" charset="0"/>
              </a:rPr>
              <a:t>Sala Modular</a:t>
            </a:r>
          </a:p>
        </p:txBody>
      </p:sp>
      <p:sp>
        <p:nvSpPr>
          <p:cNvPr id="23" name="Arrow2"/>
          <p:cNvSpPr/>
          <p:nvPr/>
        </p:nvSpPr>
        <p:spPr>
          <a:xfrm>
            <a:off x="3801376" y="10176935"/>
            <a:ext cx="35000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DF5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DiagWorkload"/>
          <p:cNvSpPr/>
          <p:nvPr/>
        </p:nvSpPr>
        <p:spPr>
          <a:xfrm>
            <a:off x="4151376" y="9856895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0A3570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pt-BR" b="1" dirty="0" err="1">
                <a:solidFill>
                  <a:srgbClr val="FFFFFF"/>
                </a:solidFill>
                <a:latin typeface="Calibri" pitchFamily="34" charset="0"/>
              </a:rPr>
              <a:t>Workload</a:t>
            </a:r>
            <a:endParaRPr lang="pt-BR" b="1" dirty="0">
              <a:solidFill>
                <a:srgbClr val="FFFFFF"/>
              </a:solidFill>
              <a:latin typeface="Calibri" pitchFamily="34" charset="0"/>
            </a:endParaRPr>
          </a:p>
          <a:p>
            <a:pPr algn="ctr">
              <a:buNone/>
            </a:pPr>
            <a:r>
              <a:rPr lang="pt-BR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(ex.: Deployment)</a:t>
            </a:r>
          </a:p>
          <a:p>
            <a:pPr algn="ctr">
              <a:buNone/>
            </a:pPr>
            <a:r>
              <a:rPr lang="pt-BR" sz="1400" dirty="0">
                <a:solidFill>
                  <a:srgbClr val="90CAF9"/>
                </a:solidFill>
                <a:latin typeface="Calibri" pitchFamily="34" charset="0"/>
              </a:rPr>
              <a:t>Departamento</a:t>
            </a:r>
          </a:p>
        </p:txBody>
      </p:sp>
      <p:sp>
        <p:nvSpPr>
          <p:cNvPr id="31" name="Arrow3"/>
          <p:cNvSpPr/>
          <p:nvPr/>
        </p:nvSpPr>
        <p:spPr>
          <a:xfrm>
            <a:off x="5522976" y="10176935"/>
            <a:ext cx="35000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DF5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DiagNode"/>
          <p:cNvSpPr/>
          <p:nvPr/>
        </p:nvSpPr>
        <p:spPr>
          <a:xfrm>
            <a:off x="5872976" y="9856895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pt-BR" b="1" dirty="0">
                <a:solidFill>
                  <a:srgbClr val="FFFFFF"/>
                </a:solidFill>
                <a:latin typeface="Calibri" pitchFamily="34" charset="0"/>
              </a:rPr>
              <a:t>Node</a:t>
            </a:r>
          </a:p>
          <a:p>
            <a:pPr algn="ctr">
              <a:buNone/>
            </a:pPr>
            <a:r>
              <a:rPr lang="pt-BR" sz="1400" dirty="0">
                <a:solidFill>
                  <a:srgbClr val="90CAF9"/>
                </a:solidFill>
                <a:latin typeface="Calibri" pitchFamily="34" charset="0"/>
              </a:rPr>
              <a:t>Andar</a:t>
            </a:r>
          </a:p>
        </p:txBody>
      </p:sp>
      <p:sp>
        <p:nvSpPr>
          <p:cNvPr id="25" name="Arrow4"/>
          <p:cNvSpPr/>
          <p:nvPr/>
        </p:nvSpPr>
        <p:spPr>
          <a:xfrm>
            <a:off x="7244576" y="10176935"/>
            <a:ext cx="350000" cy="274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DF5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DiagCluster"/>
          <p:cNvSpPr/>
          <p:nvPr/>
        </p:nvSpPr>
        <p:spPr>
          <a:xfrm>
            <a:off x="7594576" y="9856895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263238"/>
          </a:solidFill>
          <a:ln w="0">
            <a:noFill/>
          </a:ln>
        </p:spPr>
        <p:txBody>
          <a:bodyPr wrap="square" lIns="45720" tIns="45720" rIns="45720" bIns="45720" anchor="ctr"/>
          <a:lstStyle/>
          <a:p>
            <a:pPr algn="ctr">
              <a:buNone/>
            </a:pPr>
            <a:r>
              <a:rPr lang="pt-BR" b="1" dirty="0">
                <a:solidFill>
                  <a:srgbClr val="FFFFFF"/>
                </a:solidFill>
                <a:latin typeface="Calibri" pitchFamily="34" charset="0"/>
              </a:rPr>
              <a:t>Cluster</a:t>
            </a:r>
          </a:p>
          <a:p>
            <a:pPr algn="ctr">
              <a:buNone/>
            </a:pPr>
            <a:r>
              <a:rPr lang="pt-BR" sz="1400" dirty="0">
                <a:solidFill>
                  <a:srgbClr val="90CAF9"/>
                </a:solidFill>
                <a:latin typeface="Calibri" pitchFamily="34" charset="0"/>
              </a:rPr>
              <a:t>Prédio</a:t>
            </a:r>
          </a:p>
        </p:txBody>
      </p:sp>
      <p:sp>
        <p:nvSpPr>
          <p:cNvPr id="27" name="DiagLabel"/>
          <p:cNvSpPr/>
          <p:nvPr/>
        </p:nvSpPr>
        <p:spPr>
          <a:xfrm>
            <a:off x="512064" y="9282813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pt-BR" sz="2800" b="1" dirty="0">
                <a:solidFill>
                  <a:srgbClr val="1A73E8"/>
                </a:solidFill>
                <a:latin typeface="Calibri" pitchFamily="34" charset="0"/>
              </a:rPr>
              <a:t>HIERARQUIA DO KUBERNETES</a:t>
            </a:r>
          </a:p>
        </p:txBody>
      </p:sp>
      <p:sp>
        <p:nvSpPr>
          <p:cNvPr id="28" name="DiagSubLabel"/>
          <p:cNvSpPr/>
          <p:nvPr/>
        </p:nvSpPr>
        <p:spPr>
          <a:xfrm>
            <a:off x="512064" y="11071057"/>
            <a:ext cx="8641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pt-BR" i="1" dirty="0">
                <a:solidFill>
                  <a:srgbClr val="888888"/>
                </a:solidFill>
                <a:latin typeface="Calibri" pitchFamily="34" charset="0"/>
              </a:rPr>
              <a:t>Execução → Gerenciamento → Orquestração → Máquina → Infraestrutura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08CC5FF-8296-B9ED-EBF8-04AC8865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D748445-DEC9-083E-1162-C731FE06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6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 dirty="0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1300" dirty="0"/>
          </a:p>
        </p:txBody>
      </p:sp>
      <p:sp>
        <p:nvSpPr>
          <p:cNvPr id="3" name="Text 1"/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INFINITOS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 MOVIMENTO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DC6F93-4D44-0005-C1AB-601D9915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678587-A9F9-B3DC-5560-3FA9D911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7</a:t>
            </a:fld>
            <a:endParaRPr lang="pt-BR" dirty="0">
              <a:solidFill>
                <a:srgbClr val="A7B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Deploys </a:t>
            </a:r>
            <a:r>
              <a:rPr lang="en-US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Infinitos</a:t>
            </a: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</a:t>
            </a: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Movimento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 dirty="0" err="1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Autoscaling</a:t>
            </a:r>
            <a:r>
              <a:rPr lang="pt-BR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, resiliência e gestão contínua</a:t>
            </a:r>
            <a:endParaRPr lang="en-US" sz="3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4141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200" dirty="0"/>
              <a:t>O </a:t>
            </a:r>
            <a:r>
              <a:rPr lang="pt-BR" sz="2200" dirty="0" err="1"/>
              <a:t>Kubernetes</a:t>
            </a:r>
            <a:r>
              <a:rPr lang="pt-BR" sz="2200" dirty="0"/>
              <a:t> atua como um gestor que monitora a empresa em tempo real e reconcilia o estado atual com o estado desejado. Ele observa métricas e eventos e age para manter cada departamento funcionando conforme o plano.</a:t>
            </a:r>
          </a:p>
          <a:p>
            <a:endParaRPr lang="pt-BR" sz="1200" dirty="0"/>
          </a:p>
          <a:p>
            <a:r>
              <a:rPr lang="pt-BR" sz="2200" dirty="0"/>
              <a:t>Quando a demanda de um departamento aumenta, o sistema abre novas salas modulares, ou seja, cria mais </a:t>
            </a:r>
            <a:r>
              <a:rPr lang="pt-BR" sz="2200" dirty="0" err="1"/>
              <a:t>pods</a:t>
            </a:r>
            <a:r>
              <a:rPr lang="pt-BR" sz="2200" dirty="0"/>
              <a:t> para atender a carga. Quando a demanda cai, ele reduz réplicas para economizar recursos. </a:t>
            </a:r>
          </a:p>
          <a:p>
            <a:endParaRPr lang="pt-BR" sz="1200" dirty="0"/>
          </a:p>
          <a:p>
            <a:r>
              <a:rPr lang="pt-BR" sz="2200" dirty="0"/>
              <a:t>A resiliência vem da reconciliação e do auto </a:t>
            </a:r>
            <a:r>
              <a:rPr lang="pt-BR" sz="2200" dirty="0" err="1"/>
              <a:t>healing</a:t>
            </a:r>
            <a:r>
              <a:rPr lang="pt-BR" sz="2200" dirty="0"/>
              <a:t>. Se uma sala falha, o </a:t>
            </a:r>
            <a:r>
              <a:rPr lang="pt-BR" sz="2200" dirty="0" err="1"/>
              <a:t>Kubernetes</a:t>
            </a:r>
            <a:r>
              <a:rPr lang="pt-BR" sz="2200" dirty="0"/>
              <a:t> reinicia ou </a:t>
            </a:r>
            <a:r>
              <a:rPr lang="pt-BR" sz="2200" dirty="0" err="1"/>
              <a:t>reprovisiona</a:t>
            </a:r>
            <a:r>
              <a:rPr lang="pt-BR" sz="2200" dirty="0"/>
              <a:t> a sala em outro andar. Se uma aplicação não responde, </a:t>
            </a:r>
            <a:r>
              <a:rPr lang="pt-BR" sz="2200" dirty="0" err="1"/>
              <a:t>probes</a:t>
            </a:r>
            <a:r>
              <a:rPr lang="pt-BR" sz="2200" dirty="0"/>
              <a:t> de </a:t>
            </a:r>
            <a:r>
              <a:rPr lang="pt-BR" sz="2200" dirty="0" err="1"/>
              <a:t>readiness</a:t>
            </a:r>
            <a:r>
              <a:rPr lang="pt-BR" sz="2200" dirty="0"/>
              <a:t> e </a:t>
            </a:r>
            <a:r>
              <a:rPr lang="pt-BR" sz="2200" dirty="0" err="1"/>
              <a:t>liveness</a:t>
            </a:r>
            <a:r>
              <a:rPr lang="pt-BR" sz="2200" dirty="0"/>
              <a:t> impedem que ela receba tráfego ou forçam reinício. </a:t>
            </a:r>
            <a:endParaRPr lang="pt-BR" sz="240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833E6C-D555-A400-1E6A-9FD51879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EB1B5C-2420-EA4F-558A-09972208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8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BE89897-A62B-C23A-571E-FEB64B58B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2" b="10147"/>
          <a:stretch>
            <a:fillRect/>
          </a:stretch>
        </p:blipFill>
        <p:spPr>
          <a:xfrm>
            <a:off x="776478" y="7328554"/>
            <a:ext cx="8039100" cy="42296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 dirty="0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1300" dirty="0"/>
          </a:p>
        </p:txBody>
      </p:sp>
      <p:sp>
        <p:nvSpPr>
          <p:cNvPr id="3" name="Text 1"/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 NOS PROVEDORES DE NUVEM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8C3D83-B8BB-8C60-EED9-F7E65F5B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D39D99-A4F9-34D1-F77E-4838ACBC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9</a:t>
            </a:fld>
            <a:endParaRPr lang="pt-BR" dirty="0">
              <a:solidFill>
                <a:srgbClr val="A7B0C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 nos Provedores de Nuvem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Filiais Globais da Empresa dos Deploys Infinitos</a:t>
            </a:r>
            <a:endParaRPr lang="en-US" sz="3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880360"/>
            <a:ext cx="8641080" cy="636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pt-BR" sz="2200" dirty="0"/>
              <a:t>Na </a:t>
            </a:r>
            <a:r>
              <a:rPr lang="pt-BR" sz="2200" dirty="0" err="1"/>
              <a:t>Deploys</a:t>
            </a:r>
            <a:r>
              <a:rPr lang="pt-BR" sz="2200" dirty="0"/>
              <a:t> Infinitos, as filiais na nuvem seguem a mesma lógica de gestão. Dominar os conceitos (</a:t>
            </a:r>
            <a:r>
              <a:rPr lang="pt-BR" sz="2200" dirty="0" err="1"/>
              <a:t>pods</a:t>
            </a:r>
            <a:r>
              <a:rPr lang="pt-BR" sz="2200" dirty="0"/>
              <a:t>, </a:t>
            </a:r>
            <a:r>
              <a:rPr lang="pt-BR" sz="2200" dirty="0" err="1"/>
              <a:t>workloads</a:t>
            </a:r>
            <a:r>
              <a:rPr lang="pt-BR" sz="2200" dirty="0"/>
              <a:t>, nodes, cluster) permite trabalhar em qualquer filial sem recomeçar do zero. O que muda entre as filiais são as portas de entrada, os serviços auxiliares e os atalhos operacionais.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" y="4717627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78D4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Azure Kubernetes Service (AKS)</a:t>
            </a:r>
            <a:endParaRPr lang="en-US" sz="32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5174827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/>
              <a:t>Foca na integração com o ecossistema Azure, CI/CD com GitHub </a:t>
            </a:r>
            <a:r>
              <a:rPr lang="pt-BR" sz="2400" dirty="0" err="1"/>
              <a:t>Actions</a:t>
            </a:r>
            <a:r>
              <a:rPr lang="pt-BR" sz="2400" dirty="0"/>
              <a:t> e monitoramento via Azure Monitor.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6077797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6F1E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Amazon Elastic Kubernetes Service (EKS)</a:t>
            </a:r>
            <a:endParaRPr lang="en-US" sz="32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6534997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/>
              <a:t>Oferece alta escalabilidade e integração com serviços AWS como EC2, IAM e </a:t>
            </a:r>
            <a:r>
              <a:rPr lang="pt-BR" sz="2400" dirty="0" err="1"/>
              <a:t>CloudWatch</a:t>
            </a:r>
            <a:r>
              <a:rPr lang="pt-BR" sz="2400" dirty="0"/>
              <a:t>.</a:t>
            </a:r>
          </a:p>
        </p:txBody>
      </p:sp>
      <p:sp>
        <p:nvSpPr>
          <p:cNvPr id="10" name="Text 8"/>
          <p:cNvSpPr/>
          <p:nvPr/>
        </p:nvSpPr>
        <p:spPr>
          <a:xfrm>
            <a:off x="475488" y="7460827"/>
            <a:ext cx="8366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4A853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Google Kubernetes Engine (GKE)</a:t>
            </a:r>
            <a:endParaRPr lang="en-US" sz="32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7918027"/>
            <a:ext cx="8366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/>
              <a:t>Originado no Google e doado à comunidade, GKE oferece integração nativa com o Google Cloud e recursos como </a:t>
            </a:r>
            <a:r>
              <a:rPr lang="pt-BR" sz="2400" dirty="0" err="1"/>
              <a:t>Autopilot</a:t>
            </a:r>
            <a:r>
              <a:rPr lang="pt-BR" sz="2400" dirty="0"/>
              <a:t> e </a:t>
            </a:r>
            <a:r>
              <a:rPr lang="pt-BR" sz="2400" dirty="0" err="1"/>
              <a:t>autoscaling</a:t>
            </a:r>
            <a:r>
              <a:rPr lang="pt-BR" sz="2400" dirty="0"/>
              <a:t> inteligente.</a:t>
            </a:r>
            <a:endParaRPr lang="en-US" sz="2200" dirty="0"/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46C18667-B15B-F1E6-0FBD-B247147D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2949D1B6-2C91-D7BA-B647-DAE45A60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10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FC61F32-E5E9-4354-1FDB-8C89948FA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47" b="33929"/>
          <a:stretch>
            <a:fillRect/>
          </a:stretch>
        </p:blipFill>
        <p:spPr>
          <a:xfrm>
            <a:off x="660082" y="9245601"/>
            <a:ext cx="8131351" cy="26195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41300"/>
          </a:p>
        </p:txBody>
      </p:sp>
      <p:sp>
        <p:nvSpPr>
          <p:cNvPr id="3" name="Text 1"/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QUANDO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DEPLOY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DÁ ERRADO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9A3C37-A813-CE9A-CC7B-9AF6BBD5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EA3936-0D79-1F74-62D0-086DF9A3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11</a:t>
            </a:fld>
            <a:endParaRPr lang="pt-BR" dirty="0">
              <a:solidFill>
                <a:srgbClr val="A7B0C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meu </a:t>
            </a:r>
            <a:r>
              <a:rPr lang="pt-BR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</a:t>
            </a:r>
            <a:r>
              <a:rPr lang="pt-BR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não sobe?</a:t>
            </a:r>
            <a:endParaRPr lang="pt-BR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800" dirty="0">
                <a:solidFill>
                  <a:srgbClr val="333333"/>
                </a:solidFill>
                <a:ea typeface="Calibri Light" pitchFamily="34" charset="-122"/>
                <a:cs typeface="Calibri Light" pitchFamily="34" charset="-120"/>
              </a:rPr>
              <a:t>Por Que Colaboradores Não Conseguem Trabalhar</a:t>
            </a:r>
            <a:endParaRPr lang="pt-BR" sz="2800" dirty="0"/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614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b="1" dirty="0" err="1"/>
              <a:t>OOMKilled</a:t>
            </a:r>
            <a:r>
              <a:rPr lang="pt-BR" sz="2400" b="1" dirty="0"/>
              <a:t>: </a:t>
            </a:r>
            <a:r>
              <a:rPr lang="pt-BR" sz="2400" dirty="0"/>
              <a:t> “O colaborador desmaiou por excesso de trabalho.”</a:t>
            </a:r>
          </a:p>
          <a:p>
            <a:r>
              <a:rPr lang="pt-BR" sz="2400" dirty="0"/>
              <a:t>Como identificar: o </a:t>
            </a:r>
            <a:r>
              <a:rPr lang="pt-BR" sz="2400" dirty="0" err="1"/>
              <a:t>pod</a:t>
            </a:r>
            <a:r>
              <a:rPr lang="pt-BR" sz="2400" dirty="0"/>
              <a:t> reinicia repetidamente e no </a:t>
            </a:r>
            <a:r>
              <a:rPr lang="pt-BR" sz="2400" dirty="0" err="1"/>
              <a:t>describe</a:t>
            </a:r>
            <a:r>
              <a:rPr lang="pt-BR" sz="2400" dirty="0"/>
              <a:t> aparece </a:t>
            </a:r>
            <a:r>
              <a:rPr lang="pt-BR" sz="2400" dirty="0" err="1"/>
              <a:t>Reason</a:t>
            </a:r>
            <a:r>
              <a:rPr lang="pt-BR" sz="2400" dirty="0"/>
              <a:t>: </a:t>
            </a:r>
            <a:r>
              <a:rPr lang="pt-BR" sz="2400" dirty="0" err="1"/>
              <a:t>OOMKilled</a:t>
            </a:r>
            <a:r>
              <a:rPr lang="pt-BR" sz="2400" dirty="0"/>
              <a:t>. Significa que o container ultrapassou o limite de memória definido.</a:t>
            </a:r>
          </a:p>
          <a:p>
            <a:endParaRPr lang="pt-BR" sz="1200" dirty="0"/>
          </a:p>
          <a:p>
            <a:r>
              <a:rPr lang="pt-BR" sz="2400" b="1" dirty="0" err="1"/>
              <a:t>ImagePullBackOff</a:t>
            </a:r>
            <a:r>
              <a:rPr lang="pt-BR" sz="2400" b="1" dirty="0"/>
              <a:t> / </a:t>
            </a:r>
            <a:r>
              <a:rPr lang="pt-BR" sz="2400" b="1" dirty="0" err="1"/>
              <a:t>ErrImagePull</a:t>
            </a:r>
            <a:r>
              <a:rPr lang="pt-BR" sz="2400" b="1" dirty="0"/>
              <a:t>: </a:t>
            </a:r>
            <a:r>
              <a:rPr lang="pt-BR" sz="2400" dirty="0"/>
              <a:t>“Crachá inválido ou registro privado sem acesso.”</a:t>
            </a:r>
          </a:p>
          <a:p>
            <a:r>
              <a:rPr lang="pt-BR" sz="2400" dirty="0"/>
              <a:t>O </a:t>
            </a:r>
            <a:r>
              <a:rPr lang="pt-BR" sz="2400" dirty="0" err="1"/>
              <a:t>Kubernetes</a:t>
            </a:r>
            <a:r>
              <a:rPr lang="pt-BR" sz="2400" dirty="0"/>
              <a:t> não consegue baixar a imagem do container. Verifique o nome da imagem, a </a:t>
            </a:r>
            <a:r>
              <a:rPr lang="pt-BR" sz="2400" dirty="0" err="1"/>
              <a:t>tag</a:t>
            </a:r>
            <a:r>
              <a:rPr lang="pt-BR" sz="2400" dirty="0"/>
              <a:t> e as credenciais do registry (</a:t>
            </a:r>
            <a:r>
              <a:rPr lang="pt-BR" sz="2400" dirty="0" err="1"/>
              <a:t>imagePullSecrets</a:t>
            </a:r>
            <a:r>
              <a:rPr lang="pt-BR" sz="2400" dirty="0"/>
              <a:t>).</a:t>
            </a:r>
          </a:p>
          <a:p>
            <a:endParaRPr lang="pt-BR" sz="1200" dirty="0"/>
          </a:p>
          <a:p>
            <a:r>
              <a:rPr lang="pt-BR" sz="2400" b="1" dirty="0" err="1"/>
              <a:t>CrashLoop</a:t>
            </a:r>
            <a:r>
              <a:rPr lang="pt-BR" sz="2400" b="1" dirty="0"/>
              <a:t> por dependência externa: </a:t>
            </a:r>
            <a:r>
              <a:rPr lang="pt-BR" sz="2400" dirty="0"/>
              <a:t>“O colaborador depende de outro setor que está fechado.”</a:t>
            </a:r>
          </a:p>
          <a:p>
            <a:r>
              <a:rPr lang="pt-BR" sz="2400" dirty="0"/>
              <a:t>O container inicia, tenta conectar a um banco de dados ou serviço externo que não está disponível, e falha. O </a:t>
            </a:r>
            <a:r>
              <a:rPr lang="pt-BR" sz="2400" dirty="0" err="1"/>
              <a:t>pod</a:t>
            </a:r>
            <a:r>
              <a:rPr lang="pt-BR" sz="2400" dirty="0"/>
              <a:t> fica em </a:t>
            </a:r>
            <a:r>
              <a:rPr lang="pt-BR" sz="2400" dirty="0" err="1"/>
              <a:t>CrashLoopBackOff</a:t>
            </a:r>
            <a:r>
              <a:rPr lang="pt-BR" sz="2400" dirty="0"/>
              <a:t>.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6212AA-12D2-2EC2-BE8E-273E7D58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4401BE4-57CB-4261-A45B-6BBAE68E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12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B716402-0EF5-B3AA-2F39-6B68A154C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8" b="28416"/>
          <a:stretch>
            <a:fillRect/>
          </a:stretch>
        </p:blipFill>
        <p:spPr>
          <a:xfrm>
            <a:off x="1326898" y="8623299"/>
            <a:ext cx="6938259" cy="31275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 de Diagnóstico</a:t>
            </a:r>
            <a:endParaRPr lang="pt-BR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200" dirty="0">
                <a:solidFill>
                  <a:srgbClr val="333333"/>
                </a:solidFill>
                <a:ea typeface="Calibri Light" pitchFamily="34" charset="-122"/>
                <a:cs typeface="Calibri Light" pitchFamily="34" charset="-120"/>
              </a:rPr>
              <a:t>O Caminho Para Encontrar o Problema</a:t>
            </a:r>
            <a:endParaRPr lang="pt-BR" sz="3200" dirty="0"/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614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AutoNum type="arabicPeriod"/>
            </a:pPr>
            <a:r>
              <a:rPr lang="pt-BR" sz="2200" b="1" dirty="0" err="1">
                <a:latin typeface="Consolas" panose="020B0609020204030204" pitchFamily="49" charset="0"/>
              </a:rPr>
              <a:t>kubectl</a:t>
            </a:r>
            <a:r>
              <a:rPr lang="pt-BR" sz="2200" b="1" dirty="0">
                <a:latin typeface="Consolas" panose="020B0609020204030204" pitchFamily="49" charset="0"/>
              </a:rPr>
              <a:t> </a:t>
            </a:r>
            <a:r>
              <a:rPr lang="pt-BR" sz="2200" b="1" dirty="0" err="1">
                <a:latin typeface="Consolas" panose="020B0609020204030204" pitchFamily="49" charset="0"/>
              </a:rPr>
              <a:t>get</a:t>
            </a:r>
            <a:r>
              <a:rPr lang="pt-BR" sz="2200" b="1" dirty="0">
                <a:latin typeface="Consolas" panose="020B0609020204030204" pitchFamily="49" charset="0"/>
              </a:rPr>
              <a:t> </a:t>
            </a:r>
            <a:r>
              <a:rPr lang="pt-BR" sz="2200" b="1" dirty="0" err="1">
                <a:latin typeface="Consolas" panose="020B0609020204030204" pitchFamily="49" charset="0"/>
              </a:rPr>
              <a:t>pods</a:t>
            </a:r>
            <a:r>
              <a:rPr lang="pt-BR" sz="2200" dirty="0"/>
              <a:t> → Verificar o status. Procure por: </a:t>
            </a:r>
            <a:r>
              <a:rPr lang="pt-BR" sz="2200" dirty="0" err="1"/>
              <a:t>CrashLoopBackOff</a:t>
            </a:r>
            <a:r>
              <a:rPr lang="pt-BR" sz="2200" dirty="0"/>
              <a:t>, </a:t>
            </a:r>
            <a:r>
              <a:rPr lang="pt-BR" sz="2200" dirty="0" err="1"/>
              <a:t>ImagePullBackOff</a:t>
            </a:r>
            <a:r>
              <a:rPr lang="pt-BR" sz="2200" dirty="0"/>
              <a:t>, </a:t>
            </a:r>
            <a:r>
              <a:rPr lang="pt-BR" sz="2200" dirty="0" err="1"/>
              <a:t>Pending</a:t>
            </a:r>
            <a:r>
              <a:rPr lang="pt-BR" sz="2200" dirty="0"/>
              <a:t>, </a:t>
            </a:r>
            <a:r>
              <a:rPr lang="pt-BR" sz="2200" dirty="0" err="1"/>
              <a:t>OOMKilled</a:t>
            </a:r>
            <a:r>
              <a:rPr lang="pt-BR" sz="2200" dirty="0"/>
              <a:t>.</a:t>
            </a:r>
          </a:p>
          <a:p>
            <a:endParaRPr lang="pt-BR" sz="1050" dirty="0"/>
          </a:p>
          <a:p>
            <a:pPr marL="457200" indent="-457200">
              <a:buAutoNum type="arabicPeriod" startAt="2"/>
            </a:pPr>
            <a:r>
              <a:rPr lang="pt-BR" sz="2200" b="1" dirty="0" err="1">
                <a:latin typeface="Consolas" panose="020B0609020204030204" pitchFamily="49" charset="0"/>
              </a:rPr>
              <a:t>kubectl</a:t>
            </a:r>
            <a:r>
              <a:rPr lang="pt-BR" sz="2200" b="1" dirty="0">
                <a:latin typeface="Consolas" panose="020B0609020204030204" pitchFamily="49" charset="0"/>
              </a:rPr>
              <a:t> </a:t>
            </a:r>
            <a:r>
              <a:rPr lang="pt-BR" sz="2200" b="1" dirty="0" err="1">
                <a:latin typeface="Consolas" panose="020B0609020204030204" pitchFamily="49" charset="0"/>
              </a:rPr>
              <a:t>describe</a:t>
            </a:r>
            <a:r>
              <a:rPr lang="pt-BR" sz="2200" b="1" dirty="0">
                <a:latin typeface="Consolas" panose="020B0609020204030204" pitchFamily="49" charset="0"/>
              </a:rPr>
              <a:t> </a:t>
            </a:r>
            <a:r>
              <a:rPr lang="pt-BR" sz="2200" b="1" dirty="0" err="1">
                <a:latin typeface="Consolas" panose="020B0609020204030204" pitchFamily="49" charset="0"/>
              </a:rPr>
              <a:t>pod</a:t>
            </a:r>
            <a:r>
              <a:rPr lang="pt-BR" sz="2200" b="1" dirty="0">
                <a:latin typeface="Consolas" panose="020B0609020204030204" pitchFamily="49" charset="0"/>
              </a:rPr>
              <a:t> &lt;nome&gt;</a:t>
            </a:r>
            <a:r>
              <a:rPr lang="pt-BR" sz="2200" dirty="0"/>
              <a:t> → Ler a seção </a:t>
            </a:r>
            <a:r>
              <a:rPr lang="pt-BR" sz="2200" dirty="0" err="1"/>
              <a:t>Events</a:t>
            </a:r>
            <a:r>
              <a:rPr lang="pt-BR" sz="2200" dirty="0"/>
              <a:t>. Procure por: </a:t>
            </a:r>
            <a:r>
              <a:rPr lang="pt-BR" sz="2200" dirty="0" err="1"/>
              <a:t>FailedScheduling</a:t>
            </a:r>
            <a:r>
              <a:rPr lang="pt-BR" sz="2200" dirty="0"/>
              <a:t>, </a:t>
            </a:r>
            <a:r>
              <a:rPr lang="pt-BR" sz="2200" dirty="0" err="1"/>
              <a:t>Failed</a:t>
            </a:r>
            <a:r>
              <a:rPr lang="pt-BR" sz="2200" dirty="0"/>
              <a:t> </a:t>
            </a:r>
            <a:r>
              <a:rPr lang="pt-BR" sz="2200" dirty="0" err="1"/>
              <a:t>to</a:t>
            </a:r>
            <a:r>
              <a:rPr lang="pt-BR" sz="2200" dirty="0"/>
              <a:t> </a:t>
            </a:r>
            <a:r>
              <a:rPr lang="pt-BR" sz="2200" dirty="0" err="1"/>
              <a:t>pull</a:t>
            </a:r>
            <a:r>
              <a:rPr lang="pt-BR" sz="2200" dirty="0"/>
              <a:t> </a:t>
            </a:r>
            <a:r>
              <a:rPr lang="pt-BR" sz="2200" dirty="0" err="1"/>
              <a:t>image</a:t>
            </a:r>
            <a:r>
              <a:rPr lang="pt-BR" sz="2200" dirty="0"/>
              <a:t>, </a:t>
            </a:r>
            <a:r>
              <a:rPr lang="pt-BR" sz="2200" dirty="0" err="1"/>
              <a:t>Unhealthy</a:t>
            </a:r>
            <a:r>
              <a:rPr lang="pt-BR" sz="2200" dirty="0"/>
              <a:t>, </a:t>
            </a:r>
            <a:r>
              <a:rPr lang="pt-BR" sz="2200" dirty="0" err="1"/>
              <a:t>OOMKilled</a:t>
            </a:r>
            <a:r>
              <a:rPr lang="pt-BR" sz="2200" dirty="0"/>
              <a:t>.</a:t>
            </a:r>
          </a:p>
          <a:p>
            <a:endParaRPr lang="pt-BR" sz="1050" dirty="0"/>
          </a:p>
          <a:p>
            <a:pPr marL="457200" indent="-457200">
              <a:buAutoNum type="arabicPeriod" startAt="3"/>
            </a:pPr>
            <a:r>
              <a:rPr lang="pt-BR" sz="2200" b="1" dirty="0" err="1">
                <a:latin typeface="Consolas" panose="020B0609020204030204" pitchFamily="49" charset="0"/>
              </a:rPr>
              <a:t>kubectl</a:t>
            </a:r>
            <a:r>
              <a:rPr lang="pt-BR" sz="2200" b="1" dirty="0">
                <a:latin typeface="Consolas" panose="020B0609020204030204" pitchFamily="49" charset="0"/>
              </a:rPr>
              <a:t> logs &lt;nome&gt;</a:t>
            </a:r>
            <a:r>
              <a:rPr lang="pt-BR" sz="2200" dirty="0"/>
              <a:t> → Analisar os logs do container. Procure por: </a:t>
            </a:r>
            <a:r>
              <a:rPr lang="pt-BR" sz="2200" dirty="0" err="1"/>
              <a:t>stack</a:t>
            </a:r>
            <a:r>
              <a:rPr lang="pt-BR" sz="2200" dirty="0"/>
              <a:t> traces, connection </a:t>
            </a:r>
            <a:r>
              <a:rPr lang="pt-BR" sz="2200" dirty="0" err="1"/>
              <a:t>refused</a:t>
            </a:r>
            <a:r>
              <a:rPr lang="pt-BR" sz="2200" dirty="0"/>
              <a:t>, timeout, </a:t>
            </a:r>
            <a:r>
              <a:rPr lang="pt-BR" sz="2200" dirty="0" err="1"/>
              <a:t>permission</a:t>
            </a:r>
            <a:r>
              <a:rPr lang="pt-BR" sz="2200" dirty="0"/>
              <a:t> </a:t>
            </a:r>
            <a:r>
              <a:rPr lang="pt-BR" sz="2200" dirty="0" err="1"/>
              <a:t>denied</a:t>
            </a:r>
            <a:r>
              <a:rPr lang="pt-BR" sz="2200" dirty="0"/>
              <a:t>.</a:t>
            </a:r>
          </a:p>
          <a:p>
            <a:endParaRPr lang="pt-BR" sz="1050" dirty="0"/>
          </a:p>
          <a:p>
            <a:pPr marL="457200" indent="-457200">
              <a:buAutoNum type="arabicPeriod" startAt="4"/>
            </a:pPr>
            <a:r>
              <a:rPr lang="pt-BR" sz="2200" b="1" dirty="0" err="1">
                <a:latin typeface="Consolas" panose="020B0609020204030204" pitchFamily="49" charset="0"/>
              </a:rPr>
              <a:t>kubectl</a:t>
            </a:r>
            <a:r>
              <a:rPr lang="pt-BR" sz="2200" b="1" dirty="0">
                <a:latin typeface="Consolas" panose="020B0609020204030204" pitchFamily="49" charset="0"/>
              </a:rPr>
              <a:t> </a:t>
            </a:r>
            <a:r>
              <a:rPr lang="pt-BR" sz="2200" b="1" dirty="0" err="1">
                <a:latin typeface="Consolas" panose="020B0609020204030204" pitchFamily="49" charset="0"/>
              </a:rPr>
              <a:t>exec</a:t>
            </a:r>
            <a:r>
              <a:rPr lang="pt-BR" sz="2200" b="1" dirty="0">
                <a:latin typeface="Consolas" panose="020B0609020204030204" pitchFamily="49" charset="0"/>
              </a:rPr>
              <a:t> -it &lt;nome&gt; -- /bin/</a:t>
            </a:r>
            <a:r>
              <a:rPr lang="pt-BR" sz="2200" b="1" dirty="0" err="1">
                <a:latin typeface="Consolas" panose="020B0609020204030204" pitchFamily="49" charset="0"/>
              </a:rPr>
              <a:t>sh</a:t>
            </a:r>
            <a:r>
              <a:rPr lang="pt-BR" sz="2200" dirty="0"/>
              <a:t> → Entrar na sala do colaborador para investigar diretamente. Verificar variáveis de ambiente, conectividade de rede, arquivos de configuração.</a:t>
            </a:r>
          </a:p>
          <a:p>
            <a:endParaRPr lang="pt-BR" sz="1050" dirty="0"/>
          </a:p>
          <a:p>
            <a:pPr marL="457200" indent="-457200">
              <a:buAutoNum type="arabicPeriod" startAt="5"/>
            </a:pPr>
            <a:r>
              <a:rPr lang="pt-BR" sz="2200" b="1" dirty="0">
                <a:latin typeface="Consolas" panose="020B0609020204030204" pitchFamily="49" charset="0"/>
              </a:rPr>
              <a:t>Checar node e métricas</a:t>
            </a:r>
            <a:r>
              <a:rPr lang="pt-BR" sz="2200" dirty="0"/>
              <a:t> → </a:t>
            </a:r>
            <a:r>
              <a:rPr lang="pt-BR" sz="2200" dirty="0" err="1"/>
              <a:t>kubectl</a:t>
            </a:r>
            <a:r>
              <a:rPr lang="pt-BR" sz="2200" dirty="0"/>
              <a:t> top nodes / </a:t>
            </a:r>
            <a:r>
              <a:rPr lang="pt-BR" sz="2200" dirty="0" err="1"/>
              <a:t>kubectl</a:t>
            </a:r>
            <a:r>
              <a:rPr lang="pt-BR" sz="2200" dirty="0"/>
              <a:t> top </a:t>
            </a:r>
            <a:r>
              <a:rPr lang="pt-BR" sz="2200" dirty="0" err="1"/>
              <a:t>pods</a:t>
            </a:r>
            <a:r>
              <a:rPr lang="pt-BR" sz="2200" dirty="0"/>
              <a:t>. Verificar se há pressão de recursos no andar (node) ou se o prédio (cluster) está sobrecarregado.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5BEEBC6-DB15-DE37-ABB7-BA8A0A38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4FD0006-43C7-3F34-6B2B-A0E95862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13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CD57B43-7476-2107-BB6E-C7025B902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3" b="14910"/>
          <a:stretch>
            <a:fillRect/>
          </a:stretch>
        </p:blipFill>
        <p:spPr>
          <a:xfrm>
            <a:off x="548640" y="7877389"/>
            <a:ext cx="8458200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Mensagens de Erro e Interpretação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Traduzindo o Que a Empresa Está Dizendo</a:t>
            </a:r>
            <a:endParaRPr lang="pt-BR" sz="320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6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2000" b="1" dirty="0">
                <a:latin typeface="Consolas" pitchFamily="49" charset="0"/>
              </a:rPr>
              <a:t>Back-off </a:t>
            </a:r>
            <a:r>
              <a:rPr lang="pt-BR" sz="2000" b="1" dirty="0" err="1">
                <a:latin typeface="Consolas" pitchFamily="49" charset="0"/>
              </a:rPr>
              <a:t>restarting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failed</a:t>
            </a:r>
            <a:r>
              <a:rPr lang="pt-BR" sz="2000" b="1" dirty="0">
                <a:latin typeface="Consolas" pitchFamily="49" charset="0"/>
              </a:rPr>
              <a:t> container</a:t>
            </a:r>
          </a:p>
          <a:p>
            <a:pPr marL="0" indent="0" algn="l">
              <a:buNone/>
            </a:pPr>
            <a:r>
              <a:rPr lang="pt-BR" sz="2000" dirty="0"/>
              <a:t>“O colaborador continua tropeçando ao entrar. O gestor está esperando antes de tentar novamente.” Ação: verificar logs para entender a causa da falha.</a:t>
            </a:r>
          </a:p>
          <a:p>
            <a:pPr marL="0" indent="0" algn="l">
              <a:buNone/>
            </a:pPr>
            <a:endParaRPr lang="pt-BR" sz="1000" dirty="0"/>
          </a:p>
          <a:p>
            <a:pPr marL="0" indent="0" algn="l">
              <a:buNone/>
            </a:pPr>
            <a:r>
              <a:rPr lang="pt-BR" sz="2000" b="1" dirty="0">
                <a:latin typeface="Consolas" pitchFamily="49" charset="0"/>
              </a:rPr>
              <a:t>0/3 nodes are </a:t>
            </a:r>
            <a:r>
              <a:rPr lang="pt-BR" sz="2000" b="1" dirty="0" err="1">
                <a:latin typeface="Consolas" pitchFamily="49" charset="0"/>
              </a:rPr>
              <a:t>available</a:t>
            </a:r>
            <a:r>
              <a:rPr lang="pt-BR" sz="2000" b="1" dirty="0">
                <a:latin typeface="Consolas" pitchFamily="49" charset="0"/>
              </a:rPr>
              <a:t>: </a:t>
            </a:r>
            <a:r>
              <a:rPr lang="pt-BR" sz="2000" b="1" dirty="0" err="1">
                <a:latin typeface="Consolas" pitchFamily="49" charset="0"/>
              </a:rPr>
              <a:t>insufficient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memory</a:t>
            </a:r>
            <a:endParaRPr lang="pt-BR" sz="2000" b="1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pt-BR" sz="2000" dirty="0"/>
              <a:t>“Todos os andares do prédio estão lotados, sem mesa para o novo colaborador.” Ação: liberar recursos ou adicionar mais nodes ao cluster.</a:t>
            </a:r>
          </a:p>
          <a:p>
            <a:pPr marL="0" indent="0" algn="l">
              <a:buNone/>
            </a:pPr>
            <a:endParaRPr lang="pt-BR" sz="1000" dirty="0"/>
          </a:p>
          <a:p>
            <a:pPr marL="0" indent="0" algn="l">
              <a:buNone/>
            </a:pPr>
            <a:r>
              <a:rPr lang="pt-BR" sz="2000" b="1" dirty="0" err="1">
                <a:latin typeface="Consolas" pitchFamily="49" charset="0"/>
              </a:rPr>
              <a:t>Failed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to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pull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image</a:t>
            </a:r>
            <a:r>
              <a:rPr lang="pt-BR" sz="2000" b="1" dirty="0">
                <a:latin typeface="Consolas" pitchFamily="49" charset="0"/>
              </a:rPr>
              <a:t> "app:v2": </a:t>
            </a:r>
            <a:r>
              <a:rPr lang="pt-BR" sz="2000" b="1" dirty="0" err="1">
                <a:latin typeface="Consolas" pitchFamily="49" charset="0"/>
              </a:rPr>
              <a:t>not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found</a:t>
            </a:r>
            <a:endParaRPr lang="pt-BR" sz="2000" b="1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pt-BR" sz="2000" dirty="0"/>
              <a:t>“O crachá do colaborador aponta para uma foto que não existe no arquivo.” Ação: verificar nome e </a:t>
            </a:r>
            <a:r>
              <a:rPr lang="pt-BR" sz="2000" dirty="0" err="1"/>
              <a:t>tag</a:t>
            </a:r>
            <a:r>
              <a:rPr lang="pt-BR" sz="2000" dirty="0"/>
              <a:t> da imagem no registry.</a:t>
            </a:r>
          </a:p>
          <a:p>
            <a:pPr marL="0" indent="0" algn="l">
              <a:buNone/>
            </a:pPr>
            <a:endParaRPr lang="pt-BR" sz="1000" dirty="0"/>
          </a:p>
          <a:p>
            <a:pPr marL="0" indent="0" algn="l">
              <a:buNone/>
            </a:pPr>
            <a:r>
              <a:rPr lang="pt-BR" sz="2000" b="1" dirty="0" err="1">
                <a:latin typeface="Consolas" pitchFamily="49" charset="0"/>
              </a:rPr>
              <a:t>Readiness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probe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failed</a:t>
            </a:r>
            <a:r>
              <a:rPr lang="pt-BR" sz="2000" b="1" dirty="0">
                <a:latin typeface="Consolas" pitchFamily="49" charset="0"/>
              </a:rPr>
              <a:t>: connection </a:t>
            </a:r>
            <a:r>
              <a:rPr lang="pt-BR" sz="2000" b="1" dirty="0" err="1">
                <a:latin typeface="Consolas" pitchFamily="49" charset="0"/>
              </a:rPr>
              <a:t>refused</a:t>
            </a:r>
            <a:endParaRPr lang="pt-BR" sz="2000" b="1" dirty="0">
              <a:latin typeface="Consolas" pitchFamily="49" charset="0"/>
            </a:endParaRPr>
          </a:p>
          <a:p>
            <a:pPr marL="0" indent="0" algn="l">
              <a:buNone/>
            </a:pPr>
            <a:r>
              <a:rPr lang="pt-BR" sz="2000" dirty="0"/>
              <a:t>“O colaborador foi chamado, mas ainda não está pronto para atender.” Ação: verificar se a aplicação está iniciando corretamente na porta configurada.</a:t>
            </a:r>
          </a:p>
          <a:p>
            <a:pPr marL="0" indent="0" algn="l">
              <a:buNone/>
            </a:pPr>
            <a:endParaRPr lang="pt-BR" sz="1000" dirty="0"/>
          </a:p>
          <a:p>
            <a:pPr marL="0" indent="0" algn="l">
              <a:buNone/>
            </a:pPr>
            <a:r>
              <a:rPr lang="pt-BR" sz="2000" b="1" dirty="0" err="1">
                <a:latin typeface="Consolas" pitchFamily="49" charset="0"/>
              </a:rPr>
              <a:t>Liveness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probe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failed</a:t>
            </a:r>
            <a:r>
              <a:rPr lang="pt-BR" sz="2000" b="1" dirty="0">
                <a:latin typeface="Consolas" pitchFamily="49" charset="0"/>
              </a:rPr>
              <a:t>: HTTP </a:t>
            </a:r>
            <a:r>
              <a:rPr lang="pt-BR" sz="2000" b="1" dirty="0" err="1">
                <a:latin typeface="Consolas" pitchFamily="49" charset="0"/>
              </a:rPr>
              <a:t>probe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failed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with</a:t>
            </a:r>
            <a:r>
              <a:rPr lang="pt-BR" sz="2000" b="1" dirty="0">
                <a:latin typeface="Consolas" pitchFamily="49" charset="0"/>
              </a:rPr>
              <a:t> </a:t>
            </a:r>
            <a:r>
              <a:rPr lang="pt-BR" sz="2000" b="1" dirty="0" err="1">
                <a:latin typeface="Consolas" pitchFamily="49" charset="0"/>
              </a:rPr>
              <a:t>statuscode</a:t>
            </a:r>
            <a:r>
              <a:rPr lang="pt-BR" sz="2000" b="1" dirty="0">
                <a:latin typeface="Consolas" pitchFamily="49" charset="0"/>
              </a:rPr>
              <a:t>: 500</a:t>
            </a:r>
          </a:p>
          <a:p>
            <a:pPr marL="0" indent="0" algn="l">
              <a:buNone/>
            </a:pPr>
            <a:r>
              <a:rPr lang="pt-BR" sz="2000" dirty="0"/>
              <a:t>“A vistoria periódica descobriu que o colaborador está em estado crítico.” Ação: verificar logs da aplicação para erros internos.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5D11DED-E333-780F-450C-E825F83BE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F78B98D-D37B-9128-54E4-0C87BCCA9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14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96B8EC0-53DF-13D0-48F4-40B6342B6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4" b="26293"/>
          <a:stretch>
            <a:fillRect/>
          </a:stretch>
        </p:blipFill>
        <p:spPr>
          <a:xfrm>
            <a:off x="548640" y="8359989"/>
            <a:ext cx="8503158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Probes e Limites de Recursos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Verificando a Saúde e o Espaço dos Colaboradores</a:t>
            </a:r>
            <a:endParaRPr lang="pt-BR" sz="320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985700"/>
            <a:ext cx="8641080" cy="4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2200" b="1" dirty="0" err="1">
                <a:solidFill>
                  <a:srgbClr val="333333"/>
                </a:solidFill>
              </a:rPr>
              <a:t>readinessProbe</a:t>
            </a:r>
            <a:r>
              <a:rPr lang="pt-BR" sz="2200" b="1" dirty="0">
                <a:solidFill>
                  <a:srgbClr val="333333"/>
                </a:solidFill>
              </a:rPr>
              <a:t>:</a:t>
            </a:r>
            <a:r>
              <a:rPr lang="pt-BR" sz="2200" dirty="0">
                <a:solidFill>
                  <a:srgbClr val="333333"/>
                </a:solidFill>
              </a:rPr>
              <a:t> “O colaborador está pronto para ser chamado?”</a:t>
            </a:r>
          </a:p>
          <a:p>
            <a:pPr marL="0" indent="0" algn="l">
              <a:buNone/>
            </a:pPr>
            <a:r>
              <a:rPr lang="pt-BR" sz="2000" dirty="0">
                <a:solidFill>
                  <a:srgbClr val="333333"/>
                </a:solidFill>
              </a:rPr>
              <a:t>Verifica se o container já está apto a receber tráfego. Enquanto não passar, o Service não direciona requisições para ele.</a:t>
            </a:r>
          </a:p>
          <a:p>
            <a:pPr marL="0" indent="0" algn="l">
              <a:buNone/>
            </a:pPr>
            <a:endParaRPr lang="pt-BR" sz="1200" dirty="0"/>
          </a:p>
          <a:p>
            <a:pPr marL="0" indent="0" algn="l">
              <a:buNone/>
            </a:pPr>
            <a:r>
              <a:rPr lang="pt-BR" sz="2200" b="1" dirty="0" err="1">
                <a:solidFill>
                  <a:srgbClr val="333333"/>
                </a:solidFill>
              </a:rPr>
              <a:t>livenessProbe</a:t>
            </a:r>
            <a:r>
              <a:rPr lang="pt-BR" sz="2200" b="1" dirty="0">
                <a:solidFill>
                  <a:srgbClr val="333333"/>
                </a:solidFill>
              </a:rPr>
              <a:t>:</a:t>
            </a:r>
            <a:r>
              <a:rPr lang="pt-BR" sz="2200" dirty="0">
                <a:solidFill>
                  <a:srgbClr val="333333"/>
                </a:solidFill>
              </a:rPr>
              <a:t> “O colaborador ainda está trabalhando?”</a:t>
            </a:r>
          </a:p>
          <a:p>
            <a:pPr marL="0" indent="0" algn="l">
              <a:buNone/>
            </a:pPr>
            <a:r>
              <a:rPr lang="pt-BR" sz="2000" dirty="0">
                <a:solidFill>
                  <a:srgbClr val="333333"/>
                </a:solidFill>
              </a:rPr>
              <a:t>Verifica periodicamente se o container está funcionando. Se falhar, o </a:t>
            </a:r>
            <a:r>
              <a:rPr lang="pt-BR" sz="2000" dirty="0" err="1">
                <a:solidFill>
                  <a:srgbClr val="333333"/>
                </a:solidFill>
              </a:rPr>
              <a:t>Kubernetes</a:t>
            </a:r>
            <a:r>
              <a:rPr lang="pt-BR" sz="2000" dirty="0">
                <a:solidFill>
                  <a:srgbClr val="333333"/>
                </a:solidFill>
              </a:rPr>
              <a:t> reinicia o </a:t>
            </a:r>
            <a:r>
              <a:rPr lang="pt-BR" sz="2000" dirty="0" err="1">
                <a:solidFill>
                  <a:srgbClr val="333333"/>
                </a:solidFill>
              </a:rPr>
              <a:t>pod</a:t>
            </a:r>
            <a:r>
              <a:rPr lang="pt-BR" sz="2000" dirty="0">
                <a:solidFill>
                  <a:srgbClr val="333333"/>
                </a:solidFill>
              </a:rPr>
              <a:t> automaticamente.</a:t>
            </a:r>
          </a:p>
          <a:p>
            <a:pPr marL="0" indent="0" algn="l">
              <a:buNone/>
            </a:pPr>
            <a:endParaRPr lang="pt-BR" sz="1200" dirty="0"/>
          </a:p>
          <a:p>
            <a:pPr marL="0" indent="0" algn="l">
              <a:buNone/>
            </a:pPr>
            <a:r>
              <a:rPr lang="pt-BR" sz="2200" b="1" dirty="0" err="1">
                <a:solidFill>
                  <a:srgbClr val="333333"/>
                </a:solidFill>
              </a:rPr>
              <a:t>Requests</a:t>
            </a:r>
            <a:r>
              <a:rPr lang="pt-BR" sz="2200" b="1" dirty="0">
                <a:solidFill>
                  <a:srgbClr val="333333"/>
                </a:solidFill>
              </a:rPr>
              <a:t>:</a:t>
            </a:r>
            <a:r>
              <a:rPr lang="pt-BR" sz="2200" dirty="0">
                <a:solidFill>
                  <a:srgbClr val="333333"/>
                </a:solidFill>
              </a:rPr>
              <a:t> “A sala tem espaço suficiente para receber trabalho?”</a:t>
            </a:r>
          </a:p>
          <a:p>
            <a:pPr marL="0" indent="0" algn="l">
              <a:buNone/>
            </a:pPr>
            <a:r>
              <a:rPr lang="pt-BR" sz="2000" dirty="0">
                <a:solidFill>
                  <a:srgbClr val="333333"/>
                </a:solidFill>
              </a:rPr>
              <a:t>O mínimo de CPU e memória garantido para o container. O </a:t>
            </a:r>
            <a:r>
              <a:rPr lang="pt-BR" sz="2000" dirty="0" err="1">
                <a:solidFill>
                  <a:srgbClr val="333333"/>
                </a:solidFill>
              </a:rPr>
              <a:t>scheduler</a:t>
            </a:r>
            <a:r>
              <a:rPr lang="pt-BR" sz="2000" dirty="0">
                <a:solidFill>
                  <a:srgbClr val="333333"/>
                </a:solidFill>
              </a:rPr>
              <a:t> usa esse valor para decidir em qual node alocar o </a:t>
            </a:r>
            <a:r>
              <a:rPr lang="pt-BR" sz="2000" dirty="0" err="1">
                <a:solidFill>
                  <a:srgbClr val="333333"/>
                </a:solidFill>
              </a:rPr>
              <a:t>pod</a:t>
            </a:r>
            <a:r>
              <a:rPr lang="pt-BR" sz="2000" dirty="0">
                <a:solidFill>
                  <a:srgbClr val="333333"/>
                </a:solidFill>
              </a:rPr>
              <a:t>.</a:t>
            </a:r>
          </a:p>
          <a:p>
            <a:pPr marL="0" indent="0" algn="l">
              <a:buNone/>
            </a:pPr>
            <a:endParaRPr lang="pt-BR" sz="1200" dirty="0"/>
          </a:p>
          <a:p>
            <a:pPr marL="0" indent="0" algn="l">
              <a:buNone/>
            </a:pPr>
            <a:r>
              <a:rPr lang="pt-BR" sz="2200" b="1" dirty="0">
                <a:solidFill>
                  <a:srgbClr val="333333"/>
                </a:solidFill>
              </a:rPr>
              <a:t>Limits</a:t>
            </a:r>
            <a:r>
              <a:rPr lang="pt-BR" sz="2200" dirty="0">
                <a:solidFill>
                  <a:srgbClr val="333333"/>
                </a:solidFill>
              </a:rPr>
              <a:t> — “Máximo que pode ocupar”</a:t>
            </a:r>
          </a:p>
          <a:p>
            <a:pPr marL="0" indent="0" algn="l">
              <a:buNone/>
            </a:pPr>
            <a:r>
              <a:rPr lang="pt-BR" sz="2000" dirty="0">
                <a:solidFill>
                  <a:srgbClr val="333333"/>
                </a:solidFill>
              </a:rPr>
              <a:t>O teto de recursos. Se o container ultrapassar o limite de memória, será encerrado (</a:t>
            </a:r>
            <a:r>
              <a:rPr lang="pt-BR" sz="2000" dirty="0" err="1">
                <a:solidFill>
                  <a:srgbClr val="333333"/>
                </a:solidFill>
              </a:rPr>
              <a:t>OOMKilled</a:t>
            </a:r>
            <a:r>
              <a:rPr lang="pt-BR" sz="2000" dirty="0">
                <a:solidFill>
                  <a:srgbClr val="333333"/>
                </a:solidFill>
              </a:rPr>
              <a:t>).</a:t>
            </a:r>
          </a:p>
        </p:txBody>
      </p:sp>
      <p:sp>
        <p:nvSpPr>
          <p:cNvPr id="20" name="YAMLBox"/>
          <p:cNvSpPr/>
          <p:nvPr/>
        </p:nvSpPr>
        <p:spPr>
          <a:xfrm>
            <a:off x="475488" y="7479456"/>
            <a:ext cx="8641080" cy="4385733"/>
          </a:xfrm>
          <a:prstGeom prst="roundRect">
            <a:avLst>
              <a:gd name="adj" fmla="val 3000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wrap="square" lIns="137160" tIns="137160" rIns="137160" bIns="137160" anchor="t"/>
          <a:lstStyle/>
          <a:p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resources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requests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pt-BR" sz="1400" dirty="0">
                <a:solidFill>
                  <a:srgbClr val="3DF5FF"/>
                </a:solidFill>
                <a:latin typeface="Consolas" panose="020B0609020204030204" pitchFamily="49" charset="0"/>
              </a:rPr>
              <a:t># tamanho mínimo da sala reservada</a:t>
            </a: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memory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</a:t>
            </a:r>
            <a:r>
              <a:rPr lang="pt-BR" sz="1400" dirty="0">
                <a:solidFill>
                  <a:srgbClr val="00B050"/>
                </a:solidFill>
                <a:latin typeface="Consolas" panose="020B0609020204030204" pitchFamily="49" charset="0"/>
              </a:rPr>
              <a:t>"128Mi"</a:t>
            </a: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cpu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0B050"/>
                </a:solidFill>
                <a:latin typeface="Consolas" panose="020B0609020204030204" pitchFamily="49" charset="0"/>
              </a:rPr>
              <a:t>"250m"</a:t>
            </a: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limits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         </a:t>
            </a:r>
            <a:r>
              <a:rPr lang="pt-BR" sz="1400" dirty="0">
                <a:solidFill>
                  <a:srgbClr val="3DF5FF"/>
                </a:solidFill>
                <a:latin typeface="Consolas" panose="020B0609020204030204" pitchFamily="49" charset="0"/>
              </a:rPr>
              <a:t># máximo que pode ocupar</a:t>
            </a: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memory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0B050"/>
                </a:solidFill>
                <a:latin typeface="Consolas" panose="020B0609020204030204" pitchFamily="49" charset="0"/>
              </a:rPr>
              <a:t>"256Mi"</a:t>
            </a: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cpu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0B050"/>
                </a:solidFill>
                <a:latin typeface="Consolas" panose="020B0609020204030204" pitchFamily="49" charset="0"/>
              </a:rPr>
              <a:t>"500m"</a:t>
            </a:r>
          </a:p>
          <a:p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readinessProbe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   </a:t>
            </a:r>
            <a:r>
              <a:rPr lang="pt-BR" sz="1400" dirty="0">
                <a:solidFill>
                  <a:srgbClr val="3DF5FF"/>
                </a:solidFill>
                <a:latin typeface="Consolas" panose="020B0609020204030204" pitchFamily="49" charset="0"/>
              </a:rPr>
              <a:t># pronto para atender?</a:t>
            </a: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httpGet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    path: </a:t>
            </a:r>
            <a:r>
              <a:rPr lang="pt-BR" sz="1400" dirty="0">
                <a:solidFill>
                  <a:srgbClr val="00B050"/>
                </a:solidFill>
                <a:latin typeface="Consolas" panose="020B0609020204030204" pitchFamily="49" charset="0"/>
              </a:rPr>
              <a:t>/</a:t>
            </a:r>
            <a:r>
              <a:rPr lang="pt-BR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health</a:t>
            </a:r>
            <a:endParaRPr lang="pt-BR" sz="1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port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8080</a:t>
            </a:r>
          </a:p>
          <a:p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initialDelaySeconds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5</a:t>
            </a:r>
          </a:p>
          <a:p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timeoutSeconds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2</a:t>
            </a:r>
          </a:p>
          <a:p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livenessProbe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</a:t>
            </a:r>
            <a:r>
              <a:rPr lang="pt-BR" sz="1400" dirty="0">
                <a:solidFill>
                  <a:srgbClr val="3DF5FF"/>
                </a:solidFill>
                <a:latin typeface="Consolas" panose="020B0609020204030204" pitchFamily="49" charset="0"/>
              </a:rPr>
              <a:t># ainda está vivo?</a:t>
            </a: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httpGet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    path: </a:t>
            </a:r>
            <a:r>
              <a:rPr lang="pt-BR" sz="1400" dirty="0">
                <a:solidFill>
                  <a:srgbClr val="00B050"/>
                </a:solidFill>
                <a:latin typeface="Consolas" panose="020B0609020204030204" pitchFamily="49" charset="0"/>
              </a:rPr>
              <a:t>/</a:t>
            </a:r>
            <a:r>
              <a:rPr lang="pt-BR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health</a:t>
            </a:r>
            <a:endParaRPr lang="pt-BR" sz="14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port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8080</a:t>
            </a:r>
          </a:p>
          <a:p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initialDelaySeconds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20</a:t>
            </a:r>
          </a:p>
          <a:p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  </a:t>
            </a:r>
            <a:r>
              <a:rPr lang="pt-BR" sz="1400" dirty="0" err="1">
                <a:solidFill>
                  <a:srgbClr val="FF6F1E"/>
                </a:solidFill>
                <a:latin typeface="Consolas" panose="020B0609020204030204" pitchFamily="49" charset="0"/>
              </a:rPr>
              <a:t>timeoutSeconds</a:t>
            </a:r>
            <a:r>
              <a:rPr lang="pt-BR" sz="1400" dirty="0">
                <a:solidFill>
                  <a:srgbClr val="FF6F1E"/>
                </a:solidFill>
                <a:latin typeface="Consolas" panose="020B0609020204030204" pitchFamily="49" charset="0"/>
              </a:rPr>
              <a:t>: 2</a:t>
            </a:r>
          </a:p>
          <a:p>
            <a:endParaRPr lang="pt-BR"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D832FA-F223-8D06-F67C-AC24F627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7F11493A-1916-9C7B-3060-8C681F2A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15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Playbook de Escalonamento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Quem Faz o Quê Quando Algo Dá Errado</a:t>
            </a:r>
            <a:endParaRPr lang="pt-BR" sz="320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880359"/>
            <a:ext cx="8641080" cy="5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333333"/>
                </a:solidFill>
              </a:rPr>
              <a:t>Desenvolvedor (Júnior/Pleno):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Executar o checklist básico: </a:t>
            </a:r>
            <a:r>
              <a:rPr lang="pt-BR" sz="1800" err="1">
                <a:solidFill>
                  <a:srgbClr val="333333"/>
                </a:solidFill>
              </a:rPr>
              <a:t>kubectl</a:t>
            </a:r>
            <a:r>
              <a:rPr lang="pt-BR" sz="1800">
                <a:solidFill>
                  <a:srgbClr val="333333"/>
                </a:solidFill>
              </a:rPr>
              <a:t> </a:t>
            </a:r>
            <a:r>
              <a:rPr lang="pt-BR" sz="1800" err="1">
                <a:solidFill>
                  <a:srgbClr val="333333"/>
                </a:solidFill>
              </a:rPr>
              <a:t>get</a:t>
            </a:r>
            <a:r>
              <a:rPr lang="pt-BR" sz="1800">
                <a:solidFill>
                  <a:srgbClr val="333333"/>
                </a:solidFill>
              </a:rPr>
              <a:t> </a:t>
            </a:r>
            <a:r>
              <a:rPr lang="pt-BR" sz="1800" err="1">
                <a:solidFill>
                  <a:srgbClr val="333333"/>
                </a:solidFill>
              </a:rPr>
              <a:t>pods</a:t>
            </a:r>
            <a:r>
              <a:rPr lang="pt-BR" sz="1800">
                <a:solidFill>
                  <a:srgbClr val="333333"/>
                </a:solidFill>
              </a:rPr>
              <a:t>, </a:t>
            </a:r>
            <a:r>
              <a:rPr lang="pt-BR" sz="1800" err="1">
                <a:solidFill>
                  <a:srgbClr val="333333"/>
                </a:solidFill>
              </a:rPr>
              <a:t>describe</a:t>
            </a:r>
            <a:r>
              <a:rPr lang="pt-BR" sz="1800">
                <a:solidFill>
                  <a:srgbClr val="333333"/>
                </a:solidFill>
              </a:rPr>
              <a:t>, logs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Verificar configuração da aplicação (variáveis de ambiente, portas, imagem)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Documentar o que foi encontrado antes de escalonar</a:t>
            </a:r>
          </a:p>
          <a:p>
            <a:pPr marL="0" indent="0" algn="l">
              <a:buNone/>
            </a:pPr>
            <a:endParaRPr lang="pt-BR" sz="600"/>
          </a:p>
          <a:p>
            <a:pPr marL="0" indent="0" algn="l">
              <a:buNone/>
            </a:pPr>
            <a:r>
              <a:rPr lang="pt-BR" sz="1800" b="1">
                <a:solidFill>
                  <a:srgbClr val="333333"/>
                </a:solidFill>
              </a:rPr>
              <a:t>Desenvolvedor Sênior: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Análise de causa raiz: revisar </a:t>
            </a:r>
            <a:r>
              <a:rPr lang="pt-BR" sz="1800" err="1">
                <a:solidFill>
                  <a:srgbClr val="333333"/>
                </a:solidFill>
              </a:rPr>
              <a:t>probes</a:t>
            </a:r>
            <a:r>
              <a:rPr lang="pt-BR" sz="1800">
                <a:solidFill>
                  <a:srgbClr val="333333"/>
                </a:solidFill>
              </a:rPr>
              <a:t>, </a:t>
            </a:r>
            <a:r>
              <a:rPr lang="pt-BR" sz="1800" err="1">
                <a:solidFill>
                  <a:srgbClr val="333333"/>
                </a:solidFill>
              </a:rPr>
              <a:t>limits</a:t>
            </a:r>
            <a:r>
              <a:rPr lang="pt-BR" sz="1800">
                <a:solidFill>
                  <a:srgbClr val="333333"/>
                </a:solidFill>
              </a:rPr>
              <a:t>, dependências externas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Ajustar configurações de Deployment (replicas, </a:t>
            </a:r>
            <a:r>
              <a:rPr lang="pt-BR" sz="1800" err="1">
                <a:solidFill>
                  <a:srgbClr val="333333"/>
                </a:solidFill>
              </a:rPr>
              <a:t>resources</a:t>
            </a:r>
            <a:r>
              <a:rPr lang="pt-BR" sz="1800">
                <a:solidFill>
                  <a:srgbClr val="333333"/>
                </a:solidFill>
              </a:rPr>
              <a:t>, </a:t>
            </a:r>
            <a:r>
              <a:rPr lang="pt-BR" sz="1800" err="1">
                <a:solidFill>
                  <a:srgbClr val="333333"/>
                </a:solidFill>
              </a:rPr>
              <a:t>probes</a:t>
            </a:r>
            <a:r>
              <a:rPr lang="pt-BR" sz="1800">
                <a:solidFill>
                  <a:srgbClr val="333333"/>
                </a:solidFill>
              </a:rPr>
              <a:t>)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Validar se o problema é da aplicação ou da infraestrutura</a:t>
            </a:r>
          </a:p>
          <a:p>
            <a:pPr marL="0" indent="0" algn="l">
              <a:buNone/>
            </a:pPr>
            <a:endParaRPr lang="pt-BR" sz="600"/>
          </a:p>
          <a:p>
            <a:pPr marL="0" indent="0" algn="l">
              <a:buNone/>
            </a:pPr>
            <a:r>
              <a:rPr lang="pt-BR" sz="1800" b="1">
                <a:solidFill>
                  <a:srgbClr val="333333"/>
                </a:solidFill>
              </a:rPr>
              <a:t>SRE / Infra: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Investigar estado do node: </a:t>
            </a:r>
            <a:r>
              <a:rPr lang="pt-BR" sz="1800" err="1">
                <a:solidFill>
                  <a:srgbClr val="333333"/>
                </a:solidFill>
              </a:rPr>
              <a:t>kubectl</a:t>
            </a:r>
            <a:r>
              <a:rPr lang="pt-BR" sz="1800">
                <a:solidFill>
                  <a:srgbClr val="333333"/>
                </a:solidFill>
              </a:rPr>
              <a:t> </a:t>
            </a:r>
            <a:r>
              <a:rPr lang="pt-BR" sz="1800" err="1">
                <a:solidFill>
                  <a:srgbClr val="333333"/>
                </a:solidFill>
              </a:rPr>
              <a:t>describe</a:t>
            </a:r>
            <a:r>
              <a:rPr lang="pt-BR" sz="1800">
                <a:solidFill>
                  <a:srgbClr val="333333"/>
                </a:solidFill>
              </a:rPr>
              <a:t> node, top nodes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Verificar quotas de </a:t>
            </a:r>
            <a:r>
              <a:rPr lang="pt-BR" sz="1800" err="1">
                <a:solidFill>
                  <a:srgbClr val="333333"/>
                </a:solidFill>
              </a:rPr>
              <a:t>namespace</a:t>
            </a:r>
            <a:r>
              <a:rPr lang="pt-BR" sz="1800">
                <a:solidFill>
                  <a:srgbClr val="333333"/>
                </a:solidFill>
              </a:rPr>
              <a:t>, RBAC e políticas de rede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Registrar incidente e aplicar correções de infraestrutura</a:t>
            </a:r>
          </a:p>
          <a:p>
            <a:pPr marL="0" indent="0" algn="l">
              <a:buNone/>
            </a:pPr>
            <a:endParaRPr lang="pt-BR" sz="600"/>
          </a:p>
          <a:p>
            <a:pPr marL="0" indent="0" algn="l">
              <a:buNone/>
            </a:pPr>
            <a:r>
              <a:rPr lang="pt-BR" sz="1800" b="1">
                <a:solidFill>
                  <a:srgbClr val="333333"/>
                </a:solidFill>
              </a:rPr>
              <a:t>Quando abrir ticket para SRE:</a:t>
            </a:r>
          </a:p>
          <a:p>
            <a:pPr marL="342900" indent="-342900">
              <a:buChar char="•"/>
            </a:pPr>
            <a:r>
              <a:rPr lang="pt-BR" sz="1800" err="1">
                <a:solidFill>
                  <a:srgbClr val="333333"/>
                </a:solidFill>
              </a:rPr>
              <a:t>OOMKilled</a:t>
            </a:r>
            <a:r>
              <a:rPr lang="pt-BR" sz="1800">
                <a:solidFill>
                  <a:srgbClr val="333333"/>
                </a:solidFill>
              </a:rPr>
              <a:t> repetido após ajuste de </a:t>
            </a:r>
            <a:r>
              <a:rPr lang="pt-BR" sz="1800" err="1">
                <a:solidFill>
                  <a:srgbClr val="333333"/>
                </a:solidFill>
              </a:rPr>
              <a:t>limits</a:t>
            </a:r>
            <a:endParaRPr lang="pt-BR" sz="1800">
              <a:solidFill>
                <a:srgbClr val="333333"/>
              </a:solidFill>
            </a:endParaRP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Node sem recursos disponíveis (</a:t>
            </a:r>
            <a:r>
              <a:rPr lang="pt-BR" sz="1800" err="1">
                <a:solidFill>
                  <a:srgbClr val="333333"/>
                </a:solidFill>
              </a:rPr>
              <a:t>SchedulingFailed</a:t>
            </a:r>
            <a:r>
              <a:rPr lang="pt-BR" sz="1800">
                <a:solidFill>
                  <a:srgbClr val="333333"/>
                </a:solidFill>
              </a:rPr>
              <a:t>)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Erro de imagem em registry privado (credenciais/rede)</a:t>
            </a:r>
          </a:p>
          <a:p>
            <a:pPr marL="342900" indent="-342900">
              <a:buChar char="•"/>
            </a:pPr>
            <a:r>
              <a:rPr lang="pt-BR" sz="1800">
                <a:solidFill>
                  <a:srgbClr val="333333"/>
                </a:solidFill>
              </a:rPr>
              <a:t>Falha de rede entre serviços (DNS, </a:t>
            </a:r>
            <a:r>
              <a:rPr lang="pt-BR" sz="1800" err="1">
                <a:solidFill>
                  <a:srgbClr val="333333"/>
                </a:solidFill>
              </a:rPr>
              <a:t>NetworkPolicy</a:t>
            </a:r>
            <a:r>
              <a:rPr lang="pt-BR" sz="1800">
                <a:solidFill>
                  <a:srgbClr val="333333"/>
                </a:solidFill>
              </a:rPr>
              <a:t>)</a:t>
            </a:r>
          </a:p>
        </p:txBody>
      </p:sp>
      <p:pic>
        <p:nvPicPr>
          <p:cNvPr id="8" name="PlaybookImage"/>
          <p:cNvPicPr>
            <a:picLocks noChangeAspect="1"/>
          </p:cNvPicPr>
          <p:nvPr/>
        </p:nvPicPr>
        <p:blipFill rotWithShape="1">
          <a:blip r:embed="rId2"/>
          <a:srcRect t="20497" b="20497"/>
          <a:stretch>
            <a:fillRect/>
          </a:stretch>
        </p:blipFill>
        <p:spPr>
          <a:xfrm>
            <a:off x="475488" y="8134373"/>
            <a:ext cx="8641080" cy="3573735"/>
          </a:xfrm>
          <a:prstGeom prst="rect">
            <a:avLst/>
          </a:prstGeom>
        </p:spPr>
      </p:pic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38CC4F-2FDF-9813-6333-5146C895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6FABE0-263D-D13F-022E-3776CD46E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16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41300"/>
          </a:p>
        </p:txBody>
      </p:sp>
      <p:sp>
        <p:nvSpPr>
          <p:cNvPr id="3" name="Text 1"/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CONVERSANDO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 O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GESTOR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4A5404-A2A7-580A-6684-9FC7AF72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1C0F6F-4C6C-30F6-CF4C-5A6B69EE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17</a:t>
            </a:fld>
            <a:endParaRPr lang="pt-BR" dirty="0">
              <a:solidFill>
                <a:srgbClr val="A7B0C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Comandos Essenciais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O Kit de Ferramentas do Gestor da Empresa</a:t>
            </a:r>
            <a:endParaRPr lang="pt-BR" sz="3200">
              <a:latin typeface="+mj-lt"/>
            </a:endParaRPr>
          </a:p>
        </p:txBody>
      </p:sp>
      <p:sp>
        <p:nvSpPr>
          <p:cNvPr id="10" name="CmdGet"/>
          <p:cNvSpPr/>
          <p:nvPr/>
        </p:nvSpPr>
        <p:spPr>
          <a:xfrm>
            <a:off x="475488" y="3200000"/>
            <a:ext cx="4200000" cy="2600000"/>
          </a:xfrm>
          <a:prstGeom prst="roundRect">
            <a:avLst>
              <a:gd name="adj" fmla="val 5000"/>
            </a:avLst>
          </a:prstGeom>
          <a:solidFill>
            <a:srgbClr val="1A73E8"/>
          </a:solidFill>
          <a:ln w="0">
            <a:noFill/>
          </a:ln>
        </p:spPr>
        <p:txBody>
          <a:bodyPr wrap="square" lIns="137160" tIns="137160" rIns="137160" bIns="137160" anchor="ctr"/>
          <a:lstStyle/>
          <a:p>
            <a:pPr algn="l">
              <a:buNone/>
            </a:pP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kubectl</a:t>
            </a:r>
            <a:r>
              <a:rPr lang="pt-BR" sz="2400" b="1" dirty="0">
                <a:solidFill>
                  <a:srgbClr val="FFFFFF"/>
                </a:solidFill>
                <a:latin typeface="Consolas" pitchFamily="49" charset="0"/>
              </a:rPr>
              <a:t> </a:t>
            </a: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get</a:t>
            </a:r>
            <a:endParaRPr lang="pt-BR" sz="2400" b="1" dirty="0">
              <a:solidFill>
                <a:srgbClr val="FFFFFF"/>
              </a:solidFill>
              <a:latin typeface="Consolas" pitchFamily="49" charset="0"/>
            </a:endParaRP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dirty="0">
                <a:solidFill>
                  <a:srgbClr val="FFFFFF"/>
                </a:solidFill>
              </a:rPr>
              <a:t>Listar colaboradores, setores e turnos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sz="1600" i="1" dirty="0">
                <a:solidFill>
                  <a:srgbClr val="C5DFFF"/>
                </a:solidFill>
              </a:rPr>
              <a:t>“Quem está trabalhando agora?”</a:t>
            </a:r>
          </a:p>
        </p:txBody>
      </p:sp>
      <p:sp>
        <p:nvSpPr>
          <p:cNvPr id="11" name="CmdDescribe"/>
          <p:cNvSpPr/>
          <p:nvPr/>
        </p:nvSpPr>
        <p:spPr>
          <a:xfrm>
            <a:off x="4916568" y="3200000"/>
            <a:ext cx="4200000" cy="2600000"/>
          </a:xfrm>
          <a:prstGeom prst="roundRect">
            <a:avLst>
              <a:gd name="adj" fmla="val 5000"/>
            </a:avLst>
          </a:prstGeom>
          <a:solidFill>
            <a:srgbClr val="0D47A1"/>
          </a:solidFill>
          <a:ln w="0">
            <a:noFill/>
          </a:ln>
        </p:spPr>
        <p:txBody>
          <a:bodyPr wrap="square" lIns="137160" tIns="137160" rIns="137160" bIns="137160" anchor="ctr"/>
          <a:lstStyle/>
          <a:p>
            <a:pPr algn="l">
              <a:buNone/>
            </a:pP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kubectl</a:t>
            </a:r>
            <a:r>
              <a:rPr lang="pt-BR" sz="2400" b="1" dirty="0">
                <a:solidFill>
                  <a:srgbClr val="FFFFFF"/>
                </a:solidFill>
                <a:latin typeface="Consolas" pitchFamily="49" charset="0"/>
              </a:rPr>
              <a:t> </a:t>
            </a: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describe</a:t>
            </a:r>
            <a:endParaRPr lang="pt-BR" sz="2400" b="1" dirty="0">
              <a:solidFill>
                <a:srgbClr val="FFFFFF"/>
              </a:solidFill>
              <a:latin typeface="Consolas" pitchFamily="49" charset="0"/>
            </a:endParaRP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dirty="0">
                <a:solidFill>
                  <a:srgbClr val="FFFFFF"/>
                </a:solidFill>
              </a:rPr>
              <a:t>Ficha completa do colaborador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sz="1600" i="1" dirty="0">
                <a:solidFill>
                  <a:srgbClr val="90CAF9"/>
                </a:solidFill>
              </a:rPr>
              <a:t>“Me conta tudo sobre esse colaborador.”</a:t>
            </a:r>
          </a:p>
        </p:txBody>
      </p:sp>
      <p:sp>
        <p:nvSpPr>
          <p:cNvPr id="12" name="CmdLogs"/>
          <p:cNvSpPr/>
          <p:nvPr/>
        </p:nvSpPr>
        <p:spPr>
          <a:xfrm>
            <a:off x="475488" y="6100000"/>
            <a:ext cx="4200000" cy="2600000"/>
          </a:xfrm>
          <a:prstGeom prst="roundRect">
            <a:avLst>
              <a:gd name="adj" fmla="val 5000"/>
            </a:avLst>
          </a:prstGeom>
          <a:solidFill>
            <a:srgbClr val="0A3570"/>
          </a:solidFill>
          <a:ln w="0">
            <a:noFill/>
          </a:ln>
        </p:spPr>
        <p:txBody>
          <a:bodyPr wrap="square" lIns="137160" tIns="137160" rIns="137160" bIns="137160" anchor="ctr"/>
          <a:lstStyle/>
          <a:p>
            <a:pPr algn="l">
              <a:buNone/>
            </a:pP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kubectl</a:t>
            </a:r>
            <a:r>
              <a:rPr lang="pt-BR" sz="2400" b="1" dirty="0">
                <a:solidFill>
                  <a:srgbClr val="FFFFFF"/>
                </a:solidFill>
                <a:latin typeface="Consolas" pitchFamily="49" charset="0"/>
              </a:rPr>
              <a:t> logs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dirty="0">
                <a:solidFill>
                  <a:srgbClr val="FFFFFF"/>
                </a:solidFill>
              </a:rPr>
              <a:t>O que ele fazia antes do problema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sz="1600" i="1" dirty="0">
                <a:solidFill>
                  <a:srgbClr val="90CAF9"/>
                </a:solidFill>
              </a:rPr>
              <a:t>“Mostra o diário de bordo dele.”</a:t>
            </a:r>
          </a:p>
        </p:txBody>
      </p:sp>
      <p:sp>
        <p:nvSpPr>
          <p:cNvPr id="13" name="CmdExec"/>
          <p:cNvSpPr/>
          <p:nvPr/>
        </p:nvSpPr>
        <p:spPr>
          <a:xfrm>
            <a:off x="4916568" y="6100000"/>
            <a:ext cx="4200000" cy="26000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0">
            <a:noFill/>
          </a:ln>
        </p:spPr>
        <p:txBody>
          <a:bodyPr wrap="square" lIns="137160" tIns="137160" rIns="137160" bIns="137160" anchor="ctr"/>
          <a:lstStyle/>
          <a:p>
            <a:pPr algn="l">
              <a:buNone/>
            </a:pP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kubectl</a:t>
            </a:r>
            <a:r>
              <a:rPr lang="pt-BR" sz="2400" b="1" dirty="0">
                <a:solidFill>
                  <a:srgbClr val="FFFFFF"/>
                </a:solidFill>
                <a:latin typeface="Consolas" pitchFamily="49" charset="0"/>
              </a:rPr>
              <a:t> </a:t>
            </a: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exec</a:t>
            </a:r>
            <a:endParaRPr lang="pt-BR" sz="2400" b="1" dirty="0">
              <a:solidFill>
                <a:srgbClr val="FFFFFF"/>
              </a:solidFill>
              <a:latin typeface="Consolas" pitchFamily="49" charset="0"/>
            </a:endParaRP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dirty="0">
                <a:solidFill>
                  <a:srgbClr val="FFFFFF"/>
                </a:solidFill>
              </a:rPr>
              <a:t>Entrar na sala para investigar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sz="1600" i="1" dirty="0">
                <a:solidFill>
                  <a:srgbClr val="90CAF9"/>
                </a:solidFill>
                <a:cs typeface="Arial" panose="020B0604020202020204" pitchFamily="34" charset="0"/>
              </a:rPr>
              <a:t>“Deixa eu sentar na mesa dele um momento.”</a:t>
            </a:r>
          </a:p>
        </p:txBody>
      </p:sp>
      <p:sp>
        <p:nvSpPr>
          <p:cNvPr id="14" name="CmdApply"/>
          <p:cNvSpPr/>
          <p:nvPr/>
        </p:nvSpPr>
        <p:spPr>
          <a:xfrm>
            <a:off x="475488" y="9000000"/>
            <a:ext cx="4200000" cy="260000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 w="0">
            <a:noFill/>
          </a:ln>
        </p:spPr>
        <p:txBody>
          <a:bodyPr wrap="square" lIns="137160" tIns="137160" rIns="137160" bIns="137160" anchor="ctr"/>
          <a:lstStyle/>
          <a:p>
            <a:pPr algn="l">
              <a:buNone/>
            </a:pP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kubectl</a:t>
            </a:r>
            <a:r>
              <a:rPr lang="pt-BR" sz="2400" b="1" dirty="0">
                <a:solidFill>
                  <a:srgbClr val="FFFFFF"/>
                </a:solidFill>
                <a:latin typeface="Consolas" pitchFamily="49" charset="0"/>
              </a:rPr>
              <a:t> </a:t>
            </a: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apply</a:t>
            </a:r>
            <a:endParaRPr lang="pt-BR" sz="2400" b="1" dirty="0">
              <a:solidFill>
                <a:srgbClr val="FFFFFF"/>
              </a:solidFill>
              <a:latin typeface="Consolas" pitchFamily="49" charset="0"/>
            </a:endParaRP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dirty="0">
                <a:solidFill>
                  <a:srgbClr val="FFFFFF"/>
                </a:solidFill>
                <a:latin typeface="Calibri" pitchFamily="34" charset="0"/>
              </a:rPr>
              <a:t>Enviar novas ordens para a empresa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sz="1600" i="1" dirty="0">
                <a:solidFill>
                  <a:srgbClr val="90CAF9"/>
                </a:solidFill>
              </a:rPr>
              <a:t>“Implementa essas mudanças agora.”</a:t>
            </a:r>
          </a:p>
        </p:txBody>
      </p:sp>
      <p:sp>
        <p:nvSpPr>
          <p:cNvPr id="15" name="CmdDelete"/>
          <p:cNvSpPr/>
          <p:nvPr/>
        </p:nvSpPr>
        <p:spPr>
          <a:xfrm>
            <a:off x="4916568" y="9000000"/>
            <a:ext cx="4200000" cy="2600000"/>
          </a:xfrm>
          <a:prstGeom prst="roundRect">
            <a:avLst>
              <a:gd name="adj" fmla="val 5000"/>
            </a:avLst>
          </a:prstGeom>
          <a:solidFill>
            <a:srgbClr val="8B0000"/>
          </a:solidFill>
          <a:ln w="0">
            <a:noFill/>
          </a:ln>
        </p:spPr>
        <p:txBody>
          <a:bodyPr wrap="square" lIns="137160" tIns="137160" rIns="137160" bIns="137160" anchor="ctr"/>
          <a:lstStyle/>
          <a:p>
            <a:pPr algn="l">
              <a:buNone/>
            </a:pPr>
            <a:r>
              <a:rPr lang="pt-BR" sz="2400" b="1" dirty="0" err="1">
                <a:solidFill>
                  <a:srgbClr val="FFFFFF"/>
                </a:solidFill>
                <a:latin typeface="Consolas" pitchFamily="49" charset="0"/>
              </a:rPr>
              <a:t>kubectl</a:t>
            </a:r>
            <a:r>
              <a:rPr lang="pt-BR" sz="2400" b="1" dirty="0">
                <a:solidFill>
                  <a:srgbClr val="FFFFFF"/>
                </a:solidFill>
                <a:latin typeface="Consolas" pitchFamily="49" charset="0"/>
              </a:rPr>
              <a:t> delete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dirty="0">
                <a:solidFill>
                  <a:srgbClr val="FFFFFF"/>
                </a:solidFill>
              </a:rPr>
              <a:t>Encerrar um turno ou demitir</a:t>
            </a:r>
          </a:p>
          <a:p>
            <a:pPr algn="l">
              <a:buNone/>
            </a:pPr>
            <a:endParaRPr lang="pt-BR" sz="800" dirty="0">
              <a:solidFill>
                <a:srgbClr val="FFFFFF"/>
              </a:solidFill>
            </a:endParaRPr>
          </a:p>
          <a:p>
            <a:pPr algn="l">
              <a:buNone/>
            </a:pPr>
            <a:r>
              <a:rPr lang="pt-BR" sz="1600" i="1" dirty="0">
                <a:solidFill>
                  <a:srgbClr val="FFCDD2"/>
                </a:solidFill>
              </a:rPr>
              <a:t>“Pode encerrar o expediente dele.”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B2A012-8CC6-8F89-F2B1-63211135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A6B04B-2C7C-A847-D627-E4C14718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18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kubectl get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Quem Está Trabalhando Agora?</a:t>
            </a:r>
            <a:endParaRPr lang="pt-BR" sz="3200">
              <a:latin typeface="+mj-lt"/>
            </a:endParaRPr>
          </a:p>
        </p:txBody>
      </p:sp>
      <p:sp>
        <p:nvSpPr>
          <p:cNvPr id="5" name="Command Box"/>
          <p:cNvSpPr/>
          <p:nvPr/>
        </p:nvSpPr>
        <p:spPr>
          <a:xfrm>
            <a:off x="475488" y="3000000"/>
            <a:ext cx="8641080" cy="16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COMANDO</a:t>
            </a:r>
          </a:p>
          <a:p>
            <a:pPr marL="0" indent="0" algn="l">
              <a:buNone/>
            </a:pPr>
            <a:r>
              <a:rPr lang="pt-BR" sz="2000" b="1">
                <a:solidFill>
                  <a:srgbClr val="FFFFFF"/>
                </a:solidFill>
                <a:latin typeface="Consolas" pitchFamily="49" charset="0"/>
              </a:rPr>
              <a:t>$ kubectl get pods -o wide</a:t>
            </a:r>
          </a:p>
        </p:txBody>
      </p:sp>
      <p:sp>
        <p:nvSpPr>
          <p:cNvPr id="20" name="Output Box"/>
          <p:cNvSpPr/>
          <p:nvPr/>
        </p:nvSpPr>
        <p:spPr>
          <a:xfrm>
            <a:off x="475488" y="4900000"/>
            <a:ext cx="8641080" cy="2200000"/>
          </a:xfrm>
          <a:prstGeom prst="roundRect">
            <a:avLst>
              <a:gd name="adj" fmla="val 3000"/>
            </a:avLst>
          </a:prstGeom>
          <a:solidFill>
            <a:srgbClr val="1A237E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OUTPUT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NAME                     READY   STATUS    RESTARTS   AGE   IP            NODE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api-deploy-7d4b9-xk2f   1/1     Running   0          2h    10.244.1.5    node-01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api-deploy-7d4b9-m3nq   1/1     Running   0          2h    10.244.2.8    node-02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web-deploy-5c8a2-j9pl   0/1     Pending   0          5m    &lt;none&gt;        &lt;none&gt;</a:t>
            </a:r>
          </a:p>
        </p:txBody>
      </p:sp>
      <p:sp>
        <p:nvSpPr>
          <p:cNvPr id="21" name="Interpretation"/>
          <p:cNvSpPr/>
          <p:nvPr/>
        </p:nvSpPr>
        <p:spPr>
          <a:xfrm>
            <a:off x="475488" y="7400000"/>
            <a:ext cx="8641080" cy="2400000"/>
          </a:xfrm>
          <a:prstGeom prst="roundRect">
            <a:avLst>
              <a:gd name="adj" fmla="val 3000"/>
            </a:avLst>
          </a:prstGeom>
          <a:solidFill>
            <a:srgbClr val="1A73E8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</a:rPr>
              <a:t>INTERPRETAÇÃO</a:t>
            </a:r>
          </a:p>
          <a:p>
            <a:pPr marL="0" indent="0" algn="l">
              <a:buNone/>
            </a:pP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Duas salas (api) estão ativas nos seus andares, com os colaboradores em operação. Uma terceira sala (web) está na fila de espera e ainda não encontrou espaço disponível no prédio. O status </a:t>
            </a:r>
            <a:r>
              <a:rPr lang="pt-BR" sz="2000" i="1" dirty="0" err="1">
                <a:solidFill>
                  <a:srgbClr val="FFFFFF"/>
                </a:solidFill>
                <a:latin typeface="Calibri" pitchFamily="34" charset="0"/>
              </a:rPr>
              <a:t>Pending</a:t>
            </a: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 indica que o gestor não conseguiu alocá-la em nenhum andar.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385038-F82A-7E02-89C8-C565102E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45A8B71-6826-188B-09F3-1B4078A7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19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kubectl describe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 Ficha Completa da Sala de Trabalho</a:t>
            </a:r>
            <a:endParaRPr lang="pt-BR" sz="3200" dirty="0">
              <a:latin typeface="+mj-lt"/>
            </a:endParaRPr>
          </a:p>
        </p:txBody>
      </p:sp>
      <p:sp>
        <p:nvSpPr>
          <p:cNvPr id="5" name="Command Box"/>
          <p:cNvSpPr/>
          <p:nvPr/>
        </p:nvSpPr>
        <p:spPr>
          <a:xfrm>
            <a:off x="475488" y="3000000"/>
            <a:ext cx="8641080" cy="16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COMANDO</a:t>
            </a:r>
          </a:p>
          <a:p>
            <a:pPr marL="0" indent="0" algn="l">
              <a:buNone/>
            </a:pPr>
            <a:r>
              <a:rPr lang="pt-BR" sz="2000" b="1">
                <a:solidFill>
                  <a:srgbClr val="FFFFFF"/>
                </a:solidFill>
                <a:latin typeface="Consolas" pitchFamily="49" charset="0"/>
              </a:rPr>
              <a:t>$ kubectl describe pod api-deploy-7d4b9-xk2f</a:t>
            </a:r>
          </a:p>
        </p:txBody>
      </p:sp>
      <p:sp>
        <p:nvSpPr>
          <p:cNvPr id="20" name="Output Box"/>
          <p:cNvSpPr/>
          <p:nvPr/>
        </p:nvSpPr>
        <p:spPr>
          <a:xfrm>
            <a:off x="475488" y="4900000"/>
            <a:ext cx="8641080" cy="2400000"/>
          </a:xfrm>
          <a:prstGeom prst="roundRect">
            <a:avLst>
              <a:gd name="adj" fmla="val 3000"/>
            </a:avLst>
          </a:prstGeom>
          <a:solidFill>
            <a:srgbClr val="1A237E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OUTPUT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Events: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  Type     Reason     Age   Message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  ----     ------     ---   -------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  Normal   Scheduled  2h    Successfully assigned to node-01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  Normal   Pulled     2h    Container image "api:v1.2" pulled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  Normal   Started    2h    Started container api</a:t>
            </a:r>
          </a:p>
        </p:txBody>
      </p:sp>
      <p:sp>
        <p:nvSpPr>
          <p:cNvPr id="21" name="Interpretation"/>
          <p:cNvSpPr/>
          <p:nvPr/>
        </p:nvSpPr>
        <p:spPr>
          <a:xfrm>
            <a:off x="475488" y="7600000"/>
            <a:ext cx="8641080" cy="2400000"/>
          </a:xfrm>
          <a:prstGeom prst="roundRect">
            <a:avLst>
              <a:gd name="adj" fmla="val 3000"/>
            </a:avLst>
          </a:prstGeom>
          <a:solidFill>
            <a:srgbClr val="1A73E8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</a:rPr>
              <a:t>INTERPRETAÇÃO</a:t>
            </a:r>
          </a:p>
          <a:p>
            <a:pPr marL="0" indent="0" algn="l">
              <a:buNone/>
            </a:pP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A ficha da sala mostra que a sala foi criada com sucesso no 1º andar (node-01), recebeu o colaborador (imagem baixada) e iniciou o expediente normalmente. Se houvesse problemas, os </a:t>
            </a:r>
            <a:r>
              <a:rPr lang="pt-BR" sz="2000" i="1" dirty="0" err="1">
                <a:solidFill>
                  <a:srgbClr val="FFFFFF"/>
                </a:solidFill>
                <a:latin typeface="Calibri" pitchFamily="34" charset="0"/>
              </a:rPr>
              <a:t>Events</a:t>
            </a: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 mostrariam avisos (</a:t>
            </a:r>
            <a:r>
              <a:rPr lang="pt-BR" sz="2000" i="1" dirty="0" err="1">
                <a:solidFill>
                  <a:srgbClr val="FFFFFF"/>
                </a:solidFill>
                <a:latin typeface="Calibri" pitchFamily="34" charset="0"/>
              </a:rPr>
              <a:t>Warning</a:t>
            </a: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) com detalhes.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100C7B-1FF0-AAF2-869F-1407526C7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925A40B1-49BA-3FE4-D571-1E237B47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20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kubectl logs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O Diário de Bordo do Colaborador</a:t>
            </a:r>
            <a:endParaRPr lang="pt-BR" sz="3200">
              <a:latin typeface="+mj-lt"/>
            </a:endParaRPr>
          </a:p>
        </p:txBody>
      </p:sp>
      <p:sp>
        <p:nvSpPr>
          <p:cNvPr id="5" name="Command Box"/>
          <p:cNvSpPr/>
          <p:nvPr/>
        </p:nvSpPr>
        <p:spPr>
          <a:xfrm>
            <a:off x="475488" y="3000000"/>
            <a:ext cx="8641080" cy="16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COMANDO</a:t>
            </a:r>
          </a:p>
          <a:p>
            <a:pPr marL="0" indent="0" algn="l">
              <a:buNone/>
            </a:pPr>
            <a:r>
              <a:rPr lang="pt-BR" sz="2000" b="1">
                <a:solidFill>
                  <a:srgbClr val="FFFFFF"/>
                </a:solidFill>
                <a:latin typeface="Consolas" pitchFamily="49" charset="0"/>
              </a:rPr>
              <a:t>$ kubectl logs api-deploy-7d4b9-xk2f --tail=5</a:t>
            </a:r>
          </a:p>
        </p:txBody>
      </p:sp>
      <p:sp>
        <p:nvSpPr>
          <p:cNvPr id="20" name="Output Box"/>
          <p:cNvSpPr/>
          <p:nvPr/>
        </p:nvSpPr>
        <p:spPr>
          <a:xfrm>
            <a:off x="475488" y="4900000"/>
            <a:ext cx="8641080" cy="2200000"/>
          </a:xfrm>
          <a:prstGeom prst="roundRect">
            <a:avLst>
              <a:gd name="adj" fmla="val 3000"/>
            </a:avLst>
          </a:prstGeom>
          <a:solidFill>
            <a:srgbClr val="1A237E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OUTPUT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2025-01-15T10:30:01Z INFO  Server started on port 8080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2025-01-15T10:30:05Z INFO  Connected to database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D600"/>
                </a:solidFill>
                <a:latin typeface="Consolas" pitchFamily="49" charset="0"/>
              </a:rPr>
              <a:t>2025-01-15T10:35:12Z WARN  Slow query detected: 2.3s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5252"/>
                </a:solidFill>
                <a:latin typeface="Consolas" pitchFamily="49" charset="0"/>
              </a:rPr>
              <a:t>2025-01-15T10:40:00Z ERROR Connection refused: redis:6379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5252"/>
                </a:solidFill>
                <a:latin typeface="Consolas" pitchFamily="49" charset="0"/>
              </a:rPr>
              <a:t>2025-01-15T10:40:01Z ERROR Health check failed</a:t>
            </a:r>
          </a:p>
        </p:txBody>
      </p:sp>
      <p:sp>
        <p:nvSpPr>
          <p:cNvPr id="21" name="Interpretation"/>
          <p:cNvSpPr/>
          <p:nvPr/>
        </p:nvSpPr>
        <p:spPr>
          <a:xfrm>
            <a:off x="475488" y="7400000"/>
            <a:ext cx="8641080" cy="2400000"/>
          </a:xfrm>
          <a:prstGeom prst="roundRect">
            <a:avLst>
              <a:gd name="adj" fmla="val 3000"/>
            </a:avLst>
          </a:prstGeom>
          <a:solidFill>
            <a:srgbClr val="1A73E8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FFFFFF"/>
                </a:solidFill>
                <a:latin typeface="Calibri" pitchFamily="34" charset="0"/>
              </a:rPr>
              <a:t>INTERPRETAÇÃO</a:t>
            </a:r>
          </a:p>
          <a:p>
            <a:pPr marL="0" indent="0" algn="l">
              <a:buNone/>
            </a:pPr>
            <a:r>
              <a:rPr lang="pt-BR" sz="2000" i="1">
                <a:solidFill>
                  <a:srgbClr val="FFFFFF"/>
                </a:solidFill>
                <a:latin typeface="Calibri" pitchFamily="34" charset="0"/>
              </a:rPr>
              <a:t>O diário de bordo mostra que o colaborador começou bem, mas encontrou problemas: uma operação lenta e depois perda de contato com outro setor (Redis). Quando aparecem linhas ERROR, é sinal de que algo precisa de atenção imediata.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9B043B-A36E-7E43-5BF0-87CD2EE0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85002656-3134-467B-F718-EC1B0E02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21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kubectl exec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Entrando na Sala do Colaborador</a:t>
            </a:r>
            <a:endParaRPr lang="pt-BR" sz="3200" dirty="0">
              <a:latin typeface="+mj-lt"/>
            </a:endParaRPr>
          </a:p>
        </p:txBody>
      </p:sp>
      <p:sp>
        <p:nvSpPr>
          <p:cNvPr id="5" name="Command Box"/>
          <p:cNvSpPr/>
          <p:nvPr/>
        </p:nvSpPr>
        <p:spPr>
          <a:xfrm>
            <a:off x="475488" y="3000000"/>
            <a:ext cx="8641080" cy="16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COMANDO</a:t>
            </a:r>
          </a:p>
          <a:p>
            <a:pPr marL="0" indent="0" algn="l">
              <a:buNone/>
            </a:pPr>
            <a:r>
              <a:rPr lang="pt-BR" sz="2000" b="1">
                <a:solidFill>
                  <a:srgbClr val="FFFFFF"/>
                </a:solidFill>
                <a:latin typeface="Consolas" pitchFamily="49" charset="0"/>
              </a:rPr>
              <a:t>$ kubectl exec -it api-deploy-7d4b9-xk2f -- /bin/sh</a:t>
            </a:r>
          </a:p>
        </p:txBody>
      </p:sp>
      <p:sp>
        <p:nvSpPr>
          <p:cNvPr id="20" name="Output Box"/>
          <p:cNvSpPr/>
          <p:nvPr/>
        </p:nvSpPr>
        <p:spPr>
          <a:xfrm>
            <a:off x="475488" y="4900000"/>
            <a:ext cx="8641080" cy="2600000"/>
          </a:xfrm>
          <a:prstGeom prst="roundRect">
            <a:avLst>
              <a:gd name="adj" fmla="val 3000"/>
            </a:avLst>
          </a:prstGeom>
          <a:solidFill>
            <a:srgbClr val="1A237E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OUTPUT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/ # curl localhost:8080/health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{"status":"degraded","db":"ok","cache":"unreachable"}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/ # env | grep DATABASE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DATABASE_URL=postgres://db-svc:5432/app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/ # nslookup redis-svc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Server: 10.96.0.10   Address: 10.96.0.10:53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5252"/>
                </a:solidFill>
                <a:latin typeface="Consolas" pitchFamily="49" charset="0"/>
              </a:rPr>
              <a:t>** server can't find redis-svc: NXDOMAIN</a:t>
            </a:r>
          </a:p>
        </p:txBody>
      </p:sp>
      <p:sp>
        <p:nvSpPr>
          <p:cNvPr id="21" name="Interpretation"/>
          <p:cNvSpPr/>
          <p:nvPr/>
        </p:nvSpPr>
        <p:spPr>
          <a:xfrm>
            <a:off x="475488" y="7800000"/>
            <a:ext cx="8641080" cy="2400000"/>
          </a:xfrm>
          <a:prstGeom prst="roundRect">
            <a:avLst>
              <a:gd name="adj" fmla="val 3000"/>
            </a:avLst>
          </a:prstGeom>
          <a:solidFill>
            <a:srgbClr val="1A73E8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</a:rPr>
              <a:t>INTERPRETAÇÃO</a:t>
            </a:r>
          </a:p>
          <a:p>
            <a:pPr marL="0" indent="0" algn="l">
              <a:buNone/>
            </a:pP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Entramos na sala do colaborador para investigar pessoalmente. Descobrimos que a saúde está degradada porque o setor de cache (Redis) não está acessível, visto que o DNS não encontra o serviço. Isso confirma o que os logs indicavam.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354716-E146-D643-B6A3-784A2DCC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9C12C41E-ABDD-EAA8-3FC8-D68ADFD4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22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kubectl apply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Enviando Novas Ordens Para a Empresa</a:t>
            </a:r>
            <a:endParaRPr lang="pt-BR" sz="3200">
              <a:latin typeface="+mj-lt"/>
            </a:endParaRPr>
          </a:p>
        </p:txBody>
      </p:sp>
      <p:sp>
        <p:nvSpPr>
          <p:cNvPr id="5" name="Command Box"/>
          <p:cNvSpPr/>
          <p:nvPr/>
        </p:nvSpPr>
        <p:spPr>
          <a:xfrm>
            <a:off x="475488" y="3000000"/>
            <a:ext cx="8641080" cy="16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COMANDO</a:t>
            </a:r>
          </a:p>
          <a:p>
            <a:pPr marL="0" indent="0" algn="l">
              <a:buNone/>
            </a:pPr>
            <a:r>
              <a:rPr lang="pt-BR" sz="2000" b="1">
                <a:solidFill>
                  <a:srgbClr val="FFFFFF"/>
                </a:solidFill>
                <a:latin typeface="Consolas" pitchFamily="49" charset="0"/>
              </a:rPr>
              <a:t>$ kubectl apply -f deployment.yaml</a:t>
            </a:r>
          </a:p>
        </p:txBody>
      </p:sp>
      <p:sp>
        <p:nvSpPr>
          <p:cNvPr id="20" name="Output Box"/>
          <p:cNvSpPr/>
          <p:nvPr/>
        </p:nvSpPr>
        <p:spPr>
          <a:xfrm>
            <a:off x="475488" y="4900000"/>
            <a:ext cx="8641080" cy="1600000"/>
          </a:xfrm>
          <a:prstGeom prst="roundRect">
            <a:avLst>
              <a:gd name="adj" fmla="val 3000"/>
            </a:avLst>
          </a:prstGeom>
          <a:solidFill>
            <a:srgbClr val="1A237E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OUTPUT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deployment.apps/api-deploy configured</a:t>
            </a:r>
          </a:p>
          <a:p>
            <a:pPr marL="0" indent="0" algn="l">
              <a:buNone/>
            </a:pPr>
            <a:r>
              <a:rPr lang="pt-BR" sz="1400">
                <a:solidFill>
                  <a:srgbClr val="FFFFFF"/>
                </a:solidFill>
                <a:latin typeface="Consolas" pitchFamily="49" charset="0"/>
              </a:rPr>
              <a:t>service/api-svc unchanged</a:t>
            </a:r>
          </a:p>
        </p:txBody>
      </p:sp>
      <p:sp>
        <p:nvSpPr>
          <p:cNvPr id="21" name="Interpretation"/>
          <p:cNvSpPr/>
          <p:nvPr/>
        </p:nvSpPr>
        <p:spPr>
          <a:xfrm>
            <a:off x="475488" y="6800000"/>
            <a:ext cx="8641080" cy="2400000"/>
          </a:xfrm>
          <a:prstGeom prst="roundRect">
            <a:avLst>
              <a:gd name="adj" fmla="val 3000"/>
            </a:avLst>
          </a:prstGeom>
          <a:solidFill>
            <a:srgbClr val="1A73E8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>
                <a:solidFill>
                  <a:srgbClr val="FFFFFF"/>
                </a:solidFill>
                <a:latin typeface="Calibri" pitchFamily="34" charset="0"/>
              </a:rPr>
              <a:t>INTERPRETAÇÃO</a:t>
            </a:r>
          </a:p>
          <a:p>
            <a:pPr marL="0" indent="0" algn="l">
              <a:buNone/>
            </a:pPr>
            <a:r>
              <a:rPr lang="pt-BR" sz="2000" i="1">
                <a:solidFill>
                  <a:srgbClr val="FFFFFF"/>
                </a:solidFill>
                <a:latin typeface="Calibri" pitchFamily="34" charset="0"/>
              </a:rPr>
              <a:t>As novas instruções foram enviadas e a empresa aceitou. O departamento (Deployment) foi atualizado com as mudanças. A portaria (Service) não precisou de alteração. O Kubernetes agora vai reorganizar os colaboradores conforme as novas regras.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309E08-980A-354A-7D53-F3C2AA409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47EECE4B-8BA5-996A-EB79-B399A03B6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23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kubectl delete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Encerrando o Expediente</a:t>
            </a:r>
            <a:endParaRPr lang="pt-BR" sz="3200">
              <a:latin typeface="+mj-lt"/>
            </a:endParaRPr>
          </a:p>
        </p:txBody>
      </p:sp>
      <p:sp>
        <p:nvSpPr>
          <p:cNvPr id="5" name="Command Box"/>
          <p:cNvSpPr/>
          <p:nvPr/>
        </p:nvSpPr>
        <p:spPr>
          <a:xfrm>
            <a:off x="475488" y="3000000"/>
            <a:ext cx="8641080" cy="160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>
            <a:noFill/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pt-BR" sz="1800" b="1">
                <a:solidFill>
                  <a:srgbClr val="3DF5FF"/>
                </a:solidFill>
                <a:latin typeface="Calibri" pitchFamily="34" charset="0"/>
              </a:rPr>
              <a:t>COMANDO</a:t>
            </a:r>
          </a:p>
          <a:p>
            <a:pPr marL="0" indent="0" algn="l">
              <a:buNone/>
            </a:pPr>
            <a:r>
              <a:rPr lang="pt-BR" sz="2000" b="1">
                <a:solidFill>
                  <a:srgbClr val="FFFFFF"/>
                </a:solidFill>
                <a:latin typeface="Consolas" pitchFamily="49" charset="0"/>
              </a:rPr>
              <a:t>$ kubectl delete pod api-deploy-7d4b9-xk2f</a:t>
            </a:r>
          </a:p>
        </p:txBody>
      </p:sp>
      <p:sp>
        <p:nvSpPr>
          <p:cNvPr id="20" name="Output Box"/>
          <p:cNvSpPr/>
          <p:nvPr/>
        </p:nvSpPr>
        <p:spPr>
          <a:xfrm>
            <a:off x="475488" y="4900000"/>
            <a:ext cx="8641080" cy="1400000"/>
          </a:xfrm>
          <a:prstGeom prst="roundRect">
            <a:avLst>
              <a:gd name="adj" fmla="val 3000"/>
            </a:avLst>
          </a:prstGeom>
          <a:solidFill>
            <a:srgbClr val="1A237E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 dirty="0">
                <a:solidFill>
                  <a:srgbClr val="3DF5FF"/>
                </a:solidFill>
                <a:latin typeface="Calibri" pitchFamily="34" charset="0"/>
              </a:rPr>
              <a:t>OUTPUT</a:t>
            </a:r>
          </a:p>
          <a:p>
            <a:pPr marL="0" indent="0" algn="l">
              <a:buNone/>
            </a:pPr>
            <a:r>
              <a:rPr lang="pt-BR" sz="1400" dirty="0" err="1">
                <a:solidFill>
                  <a:srgbClr val="FFFFFF"/>
                </a:solidFill>
                <a:latin typeface="Consolas" pitchFamily="49" charset="0"/>
              </a:rPr>
              <a:t>pod</a:t>
            </a:r>
            <a:r>
              <a:rPr lang="pt-BR" sz="1400" dirty="0">
                <a:solidFill>
                  <a:srgbClr val="FFFFFF"/>
                </a:solidFill>
                <a:latin typeface="Consolas" pitchFamily="49" charset="0"/>
              </a:rPr>
              <a:t> "api-deploy-7d4b9-xk2f" </a:t>
            </a:r>
            <a:r>
              <a:rPr lang="pt-BR" sz="1400" dirty="0" err="1">
                <a:solidFill>
                  <a:srgbClr val="FFFFFF"/>
                </a:solidFill>
                <a:latin typeface="Consolas" pitchFamily="49" charset="0"/>
              </a:rPr>
              <a:t>deleted</a:t>
            </a:r>
            <a:endParaRPr lang="pt-BR" sz="1400" dirty="0">
              <a:solidFill>
                <a:srgbClr val="FFFFFF"/>
              </a:solidFill>
              <a:latin typeface="Consolas" pitchFamily="49" charset="0"/>
            </a:endParaRPr>
          </a:p>
        </p:txBody>
      </p:sp>
      <p:sp>
        <p:nvSpPr>
          <p:cNvPr id="21" name="Interpretation"/>
          <p:cNvSpPr/>
          <p:nvPr/>
        </p:nvSpPr>
        <p:spPr>
          <a:xfrm>
            <a:off x="475488" y="6600000"/>
            <a:ext cx="8641080" cy="3000000"/>
          </a:xfrm>
          <a:prstGeom prst="roundRect">
            <a:avLst>
              <a:gd name="adj" fmla="val 3000"/>
            </a:avLst>
          </a:prstGeom>
          <a:solidFill>
            <a:srgbClr val="1A73E8"/>
          </a:solidFill>
          <a:ln>
            <a:noFill/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pt-BR" sz="1800" b="1" dirty="0">
                <a:solidFill>
                  <a:srgbClr val="FFFFFF"/>
                </a:solidFill>
                <a:latin typeface="Calibri" pitchFamily="34" charset="0"/>
              </a:rPr>
              <a:t>INTERPRETAÇÃO</a:t>
            </a:r>
          </a:p>
          <a:p>
            <a:pPr marL="0" indent="0" algn="l">
              <a:buNone/>
            </a:pP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O expediente nessa sala foi encerrado. Como ele faz parte de um Deployment, o gestor (</a:t>
            </a:r>
            <a:r>
              <a:rPr lang="pt-BR" sz="2000" i="1" dirty="0" err="1">
                <a:solidFill>
                  <a:srgbClr val="FFFFFF"/>
                </a:solidFill>
                <a:latin typeface="Calibri" pitchFamily="34" charset="0"/>
              </a:rPr>
              <a:t>ReplicaSet</a:t>
            </a:r>
            <a:r>
              <a:rPr lang="pt-BR" sz="2000" i="1" dirty="0">
                <a:solidFill>
                  <a:srgbClr val="FFFFFF"/>
                </a:solidFill>
                <a:latin typeface="Calibri" pitchFamily="34" charset="0"/>
              </a:rPr>
              <a:t>) já está providenciando um substituto automaticamente. Se o delete fosse no Deployment inteiro, todos os colaboradores daquele departamento seriam dispensados. Use com cuidado!</a:t>
            </a:r>
          </a:p>
          <a:p>
            <a:pPr marL="0" indent="0" algn="l">
              <a:buNone/>
            </a:pPr>
            <a:r>
              <a:rPr lang="pt-BR" sz="1800" b="1" dirty="0">
                <a:solidFill>
                  <a:srgbClr val="FFD600"/>
                </a:solidFill>
                <a:latin typeface="Calibri" pitchFamily="34" charset="0"/>
              </a:rPr>
              <a:t>Cuidado: </a:t>
            </a:r>
            <a:r>
              <a:rPr lang="pt-BR" sz="1800" b="1" dirty="0" err="1">
                <a:solidFill>
                  <a:srgbClr val="FFD600"/>
                </a:solidFill>
                <a:latin typeface="Calibri" pitchFamily="34" charset="0"/>
              </a:rPr>
              <a:t>kubectl</a:t>
            </a:r>
            <a:r>
              <a:rPr lang="pt-BR" sz="1800" b="1" dirty="0">
                <a:solidFill>
                  <a:srgbClr val="FFD600"/>
                </a:solidFill>
                <a:latin typeface="Calibri" pitchFamily="34" charset="0"/>
              </a:rPr>
              <a:t> delete em um Deployment remove todos os </a:t>
            </a:r>
            <a:r>
              <a:rPr lang="pt-BR" sz="1800" b="1" dirty="0" err="1">
                <a:solidFill>
                  <a:srgbClr val="FFD600"/>
                </a:solidFill>
                <a:latin typeface="Calibri" pitchFamily="34" charset="0"/>
              </a:rPr>
              <a:t>pods</a:t>
            </a:r>
            <a:r>
              <a:rPr lang="pt-BR" sz="1800" b="1" dirty="0">
                <a:solidFill>
                  <a:srgbClr val="FFD600"/>
                </a:solidFill>
                <a:latin typeface="Calibri" pitchFamily="34" charset="0"/>
              </a:rPr>
              <a:t>. Sempre confirme o recurso antes de executar.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68D7D5-39ED-4F96-1E6E-413A18DC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61FA5644-3CFC-789B-FA7D-039756E3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24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41300"/>
          </a:p>
        </p:txBody>
      </p:sp>
      <p:sp>
        <p:nvSpPr>
          <p:cNvPr id="3" name="Text 1"/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PLANTA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EMPRESA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60C4CB-C3ED-C55A-34F5-113C41D7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95992C-109F-D78B-54C7-54DA2F5B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25</a:t>
            </a:fld>
            <a:endParaRPr lang="pt-BR" dirty="0">
              <a:solidFill>
                <a:srgbClr val="A7B0C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Arquitetura </a:t>
            </a:r>
            <a:r>
              <a:rPr lang="pt-BR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</a:t>
            </a:r>
            <a:endParaRPr lang="pt-BR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 Planta Completa da Empresa dos </a:t>
            </a:r>
            <a:r>
              <a:rPr lang="pt-BR" sz="3200" dirty="0" err="1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Deploys</a:t>
            </a:r>
            <a:endParaRPr lang="pt-BR" sz="3200" dirty="0">
              <a:latin typeface="+mj-lt"/>
            </a:endParaRPr>
          </a:p>
        </p:txBody>
      </p:sp>
      <p:sp>
        <p:nvSpPr>
          <p:cNvPr id="20" name="Cluster"/>
          <p:cNvSpPr/>
          <p:nvPr/>
        </p:nvSpPr>
        <p:spPr>
          <a:xfrm>
            <a:off x="475488" y="2854693"/>
            <a:ext cx="8641080" cy="9010496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0"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pt-BR" sz="2000" b="1" dirty="0">
                <a:solidFill>
                  <a:srgbClr val="3DF5FF"/>
                </a:solidFill>
                <a:latin typeface="Arial Black" pitchFamily="34" charset="0"/>
              </a:rPr>
              <a:t>CLUSTER</a:t>
            </a:r>
            <a:r>
              <a:rPr lang="pt-BR" sz="1400" dirty="0">
                <a:solidFill>
                  <a:srgbClr val="A7B0C0"/>
                </a:solidFill>
                <a:latin typeface="Calibri" pitchFamily="34" charset="0"/>
              </a:rPr>
              <a:t>  (Prédio)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63065D2-1F11-B614-70F0-BF87EBC8CFBF}"/>
              </a:ext>
            </a:extLst>
          </p:cNvPr>
          <p:cNvGrpSpPr/>
          <p:nvPr/>
        </p:nvGrpSpPr>
        <p:grpSpPr>
          <a:xfrm>
            <a:off x="700000" y="7940039"/>
            <a:ext cx="8200000" cy="2490193"/>
            <a:chOff x="700000" y="3500000"/>
            <a:chExt cx="8200000" cy="2992979"/>
          </a:xfrm>
        </p:grpSpPr>
        <p:sp>
          <p:nvSpPr>
            <p:cNvPr id="21" name="Node1"/>
            <p:cNvSpPr/>
            <p:nvPr/>
          </p:nvSpPr>
          <p:spPr>
            <a:xfrm>
              <a:off x="700000" y="3500000"/>
              <a:ext cx="8200000" cy="2992979"/>
            </a:xfrm>
            <a:prstGeom prst="roundRect">
              <a:avLst>
                <a:gd name="adj" fmla="val 3000"/>
              </a:avLst>
            </a:prstGeom>
            <a:solidFill>
              <a:srgbClr val="1A3A5C"/>
            </a:solidFill>
            <a:ln w="0">
              <a:noFill/>
            </a:ln>
          </p:spPr>
          <p:txBody>
            <a:bodyPr wrap="square" lIns="137160" tIns="91440" rIns="137160" bIns="91440" anchor="t"/>
            <a:lstStyle/>
            <a:p>
              <a:pPr algn="l">
                <a:buNone/>
              </a:pPr>
              <a:r>
                <a:rPr lang="pt-BR" sz="1600" b="1" dirty="0">
                  <a:solidFill>
                    <a:srgbClr val="3DF5FF"/>
                  </a:solidFill>
                  <a:latin typeface="Calibri" pitchFamily="34" charset="0"/>
                </a:rPr>
                <a:t>NODE 1</a:t>
              </a:r>
              <a:r>
                <a:rPr lang="pt-BR" sz="1200" dirty="0">
                  <a:solidFill>
                    <a:srgbClr val="A7B0C0"/>
                  </a:solidFill>
                  <a:latin typeface="Calibri" pitchFamily="34" charset="0"/>
                </a:rPr>
                <a:t>  (1º Andar)</a:t>
              </a:r>
            </a:p>
          </p:txBody>
        </p:sp>
        <p:sp>
          <p:nvSpPr>
            <p:cNvPr id="22" name="Pod1A"/>
            <p:cNvSpPr/>
            <p:nvPr/>
          </p:nvSpPr>
          <p:spPr>
            <a:xfrm>
              <a:off x="920000" y="4100000"/>
              <a:ext cx="3700000" cy="2148400"/>
            </a:xfrm>
            <a:prstGeom prst="roundRect">
              <a:avLst>
                <a:gd name="adj" fmla="val 3000"/>
              </a:avLst>
            </a:prstGeom>
            <a:solidFill>
              <a:srgbClr val="0D47A1"/>
            </a:solidFill>
            <a:ln w="0">
              <a:noFill/>
            </a:ln>
          </p:spPr>
          <p:txBody>
            <a:bodyPr wrap="square" lIns="91440" tIns="68580" rIns="91440" bIns="68580" anchor="t"/>
            <a:lstStyle/>
            <a:p>
              <a:pPr algn="l">
                <a:buNone/>
              </a:pPr>
              <a:r>
                <a:rPr lang="pt-BR" sz="1400" b="1" dirty="0">
                  <a:solidFill>
                    <a:srgbClr val="FFFFFF"/>
                  </a:solidFill>
                  <a:latin typeface="Calibri" pitchFamily="34" charset="0"/>
                </a:rPr>
                <a:t>POD 1A</a:t>
              </a:r>
              <a:r>
                <a:rPr lang="pt-BR" sz="1100" dirty="0">
                  <a:solidFill>
                    <a:srgbClr val="90CAF9"/>
                  </a:solidFill>
                  <a:latin typeface="Calibri" pitchFamily="34" charset="0"/>
                </a:rPr>
                <a:t>  (Sala Modular)</a:t>
              </a:r>
            </a:p>
          </p:txBody>
        </p:sp>
        <p:sp>
          <p:nvSpPr>
            <p:cNvPr id="23" name="Container1"/>
            <p:cNvSpPr/>
            <p:nvPr/>
          </p:nvSpPr>
          <p:spPr>
            <a:xfrm>
              <a:off x="1050000" y="4700000"/>
              <a:ext cx="1550000" cy="1258840"/>
            </a:xfrm>
            <a:prstGeom prst="roundRect">
              <a:avLst>
                <a:gd name="adj" fmla="val 5000"/>
              </a:avLst>
            </a:prstGeom>
            <a:solidFill>
              <a:srgbClr val="1A73E8"/>
            </a:solidFill>
            <a:ln w="0">
              <a:noFill/>
            </a:ln>
          </p:spPr>
          <p:txBody>
            <a:bodyPr wrap="square" lIns="68580" tIns="68580" rIns="68580" bIns="68580" anchor="ctr"/>
            <a:lstStyle/>
            <a:p>
              <a:pPr algn="ctr">
                <a:buNone/>
              </a:pPr>
              <a:r>
                <a:rPr lang="pt-BR" sz="1400" b="1" dirty="0">
                  <a:solidFill>
                    <a:srgbClr val="FFFFFF"/>
                  </a:solidFill>
                  <a:latin typeface="Calibri" pitchFamily="34" charset="0"/>
                </a:rPr>
                <a:t>Container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C5DFFF"/>
                  </a:solidFill>
                  <a:latin typeface="Calibri" pitchFamily="34" charset="0"/>
                </a:rPr>
                <a:t>Colaborador</a:t>
              </a:r>
            </a:p>
          </p:txBody>
        </p:sp>
        <p:sp>
          <p:nvSpPr>
            <p:cNvPr id="24" name="Container2"/>
            <p:cNvSpPr/>
            <p:nvPr/>
          </p:nvSpPr>
          <p:spPr>
            <a:xfrm>
              <a:off x="2850000" y="4700000"/>
              <a:ext cx="1550000" cy="1258840"/>
            </a:xfrm>
            <a:prstGeom prst="roundRect">
              <a:avLst>
                <a:gd name="adj" fmla="val 5000"/>
              </a:avLst>
            </a:prstGeom>
            <a:solidFill>
              <a:srgbClr val="1A73E8"/>
            </a:solidFill>
            <a:ln w="0">
              <a:noFill/>
            </a:ln>
          </p:spPr>
          <p:txBody>
            <a:bodyPr wrap="square" lIns="68580" tIns="68580" rIns="68580" bIns="68580" anchor="ctr"/>
            <a:lstStyle/>
            <a:p>
              <a:pPr algn="ctr">
                <a:buNone/>
              </a:pPr>
              <a:r>
                <a:rPr lang="pt-BR" sz="1400" b="1" dirty="0">
                  <a:solidFill>
                    <a:srgbClr val="FFFFFF"/>
                  </a:solidFill>
                  <a:latin typeface="Calibri" pitchFamily="34" charset="0"/>
                </a:rPr>
                <a:t>Sidecar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C5DFFF"/>
                  </a:solidFill>
                  <a:latin typeface="Calibri" pitchFamily="34" charset="0"/>
                </a:rPr>
                <a:t>Assistente</a:t>
              </a:r>
            </a:p>
          </p:txBody>
        </p:sp>
        <p:sp>
          <p:nvSpPr>
            <p:cNvPr id="25" name="Pod1B"/>
            <p:cNvSpPr/>
            <p:nvPr/>
          </p:nvSpPr>
          <p:spPr>
            <a:xfrm>
              <a:off x="4981200" y="4132721"/>
              <a:ext cx="3700000" cy="2148401"/>
            </a:xfrm>
            <a:prstGeom prst="roundRect">
              <a:avLst>
                <a:gd name="adj" fmla="val 3000"/>
              </a:avLst>
            </a:prstGeom>
            <a:solidFill>
              <a:srgbClr val="0D47A1"/>
            </a:solidFill>
            <a:ln w="0">
              <a:noFill/>
            </a:ln>
          </p:spPr>
          <p:txBody>
            <a:bodyPr wrap="square" lIns="91440" tIns="68580" rIns="91440" bIns="68580" anchor="t"/>
            <a:lstStyle/>
            <a:p>
              <a:pPr algn="l">
                <a:buNone/>
              </a:pPr>
              <a:r>
                <a:rPr lang="pt-BR" sz="1400" b="1" dirty="0">
                  <a:solidFill>
                    <a:srgbClr val="FFFFFF"/>
                  </a:solidFill>
                  <a:latin typeface="Calibri" pitchFamily="34" charset="0"/>
                </a:rPr>
                <a:t>POD 1B</a:t>
              </a:r>
              <a:r>
                <a:rPr lang="pt-BR" sz="1100" dirty="0">
                  <a:solidFill>
                    <a:srgbClr val="90CAF9"/>
                  </a:solidFill>
                  <a:latin typeface="Calibri" pitchFamily="34" charset="0"/>
                </a:rPr>
                <a:t>  (Sala Modular)</a:t>
              </a:r>
            </a:p>
          </p:txBody>
        </p:sp>
        <p:sp>
          <p:nvSpPr>
            <p:cNvPr id="26" name="Container3"/>
            <p:cNvSpPr/>
            <p:nvPr/>
          </p:nvSpPr>
          <p:spPr>
            <a:xfrm>
              <a:off x="5100000" y="4700000"/>
              <a:ext cx="3451200" cy="1258840"/>
            </a:xfrm>
            <a:prstGeom prst="roundRect">
              <a:avLst>
                <a:gd name="adj" fmla="val 5000"/>
              </a:avLst>
            </a:prstGeom>
            <a:solidFill>
              <a:srgbClr val="1A73E8"/>
            </a:solidFill>
            <a:ln w="0">
              <a:noFill/>
            </a:ln>
          </p:spPr>
          <p:txBody>
            <a:bodyPr wrap="square" lIns="68580" tIns="68580" rIns="68580" bIns="68580" anchor="ctr"/>
            <a:lstStyle/>
            <a:p>
              <a:pPr algn="ctr">
                <a:buNone/>
              </a:pPr>
              <a:r>
                <a:rPr lang="pt-BR" sz="1400" b="1" dirty="0">
                  <a:solidFill>
                    <a:srgbClr val="FFFFFF"/>
                  </a:solidFill>
                  <a:latin typeface="Calibri" pitchFamily="34" charset="0"/>
                </a:rPr>
                <a:t>Container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C5DFFF"/>
                  </a:solidFill>
                  <a:latin typeface="Calibri" pitchFamily="34" charset="0"/>
                </a:rPr>
                <a:t>Colaborador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320E7AC-71DD-18F2-40F9-47D66D009D10}"/>
              </a:ext>
            </a:extLst>
          </p:cNvPr>
          <p:cNvGrpSpPr/>
          <p:nvPr/>
        </p:nvGrpSpPr>
        <p:grpSpPr>
          <a:xfrm>
            <a:off x="700000" y="5231574"/>
            <a:ext cx="8190000" cy="2490194"/>
            <a:chOff x="710000" y="6785648"/>
            <a:chExt cx="8190000" cy="2992979"/>
          </a:xfrm>
        </p:grpSpPr>
        <p:sp>
          <p:nvSpPr>
            <p:cNvPr id="30" name="Node2"/>
            <p:cNvSpPr/>
            <p:nvPr/>
          </p:nvSpPr>
          <p:spPr>
            <a:xfrm>
              <a:off x="710000" y="6785648"/>
              <a:ext cx="8190000" cy="2992979"/>
            </a:xfrm>
            <a:prstGeom prst="roundRect">
              <a:avLst>
                <a:gd name="adj" fmla="val 3000"/>
              </a:avLst>
            </a:prstGeom>
            <a:solidFill>
              <a:srgbClr val="1A3A5C"/>
            </a:solidFill>
            <a:ln w="0">
              <a:noFill/>
            </a:ln>
          </p:spPr>
          <p:txBody>
            <a:bodyPr wrap="square" lIns="137160" tIns="91440" rIns="137160" bIns="91440" anchor="t"/>
            <a:lstStyle/>
            <a:p>
              <a:pPr algn="l">
                <a:buNone/>
              </a:pPr>
              <a:r>
                <a:rPr lang="pt-BR" sz="1600" b="1">
                  <a:solidFill>
                    <a:srgbClr val="3DF5FF"/>
                  </a:solidFill>
                  <a:latin typeface="Calibri" pitchFamily="34" charset="0"/>
                </a:rPr>
                <a:t>NODE 2</a:t>
              </a:r>
              <a:r>
                <a:rPr lang="pt-BR" sz="1200">
                  <a:solidFill>
                    <a:srgbClr val="A7B0C0"/>
                  </a:solidFill>
                  <a:latin typeface="Calibri" pitchFamily="34" charset="0"/>
                </a:rPr>
                <a:t>  (2º Andar)</a:t>
              </a:r>
            </a:p>
          </p:txBody>
        </p:sp>
        <p:sp>
          <p:nvSpPr>
            <p:cNvPr id="31" name="Pod2A"/>
            <p:cNvSpPr/>
            <p:nvPr/>
          </p:nvSpPr>
          <p:spPr>
            <a:xfrm>
              <a:off x="900000" y="7409638"/>
              <a:ext cx="7791200" cy="2145842"/>
            </a:xfrm>
            <a:prstGeom prst="roundRect">
              <a:avLst>
                <a:gd name="adj" fmla="val 3000"/>
              </a:avLst>
            </a:prstGeom>
            <a:solidFill>
              <a:srgbClr val="0D47A1"/>
            </a:solidFill>
            <a:ln w="0">
              <a:noFill/>
            </a:ln>
          </p:spPr>
          <p:txBody>
            <a:bodyPr wrap="square" lIns="91440" tIns="68580" rIns="91440" bIns="68580" anchor="t"/>
            <a:lstStyle/>
            <a:p>
              <a:pPr algn="l">
                <a:buNone/>
              </a:pPr>
              <a:r>
                <a:rPr lang="pt-BR" sz="1400" b="1" dirty="0">
                  <a:solidFill>
                    <a:srgbClr val="FFFFFF"/>
                  </a:solidFill>
                  <a:latin typeface="Calibri" pitchFamily="34" charset="0"/>
                </a:rPr>
                <a:t>POD 2A</a:t>
              </a:r>
              <a:r>
                <a:rPr lang="pt-BR" sz="1100" dirty="0">
                  <a:solidFill>
                    <a:srgbClr val="90CAF9"/>
                  </a:solidFill>
                  <a:latin typeface="Calibri" pitchFamily="34" charset="0"/>
                </a:rPr>
                <a:t>  (Sala Modular)</a:t>
              </a:r>
            </a:p>
          </p:txBody>
        </p:sp>
        <p:sp>
          <p:nvSpPr>
            <p:cNvPr id="32" name="Container4"/>
            <p:cNvSpPr/>
            <p:nvPr/>
          </p:nvSpPr>
          <p:spPr>
            <a:xfrm>
              <a:off x="1050000" y="7946907"/>
              <a:ext cx="7511200" cy="1303773"/>
            </a:xfrm>
            <a:prstGeom prst="roundRect">
              <a:avLst>
                <a:gd name="adj" fmla="val 5000"/>
              </a:avLst>
            </a:prstGeom>
            <a:solidFill>
              <a:srgbClr val="1A73E8"/>
            </a:solidFill>
            <a:ln w="0">
              <a:noFill/>
            </a:ln>
          </p:spPr>
          <p:txBody>
            <a:bodyPr wrap="square" lIns="68580" tIns="68580" rIns="68580" bIns="68580" anchor="ctr"/>
            <a:lstStyle/>
            <a:p>
              <a:pPr algn="ctr">
                <a:buNone/>
              </a:pPr>
              <a:r>
                <a:rPr lang="pt-BR" sz="1400" b="1" dirty="0">
                  <a:solidFill>
                    <a:srgbClr val="FFFFFF"/>
                  </a:solidFill>
                  <a:latin typeface="Calibri" pitchFamily="34" charset="0"/>
                </a:rPr>
                <a:t>Container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C5DFFF"/>
                  </a:solidFill>
                  <a:latin typeface="Calibri" pitchFamily="34" charset="0"/>
                </a:rPr>
                <a:t>Colaborador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78963CD-B5BA-771F-95DB-8FAE8D248877}"/>
              </a:ext>
            </a:extLst>
          </p:cNvPr>
          <p:cNvGrpSpPr/>
          <p:nvPr/>
        </p:nvGrpSpPr>
        <p:grpSpPr>
          <a:xfrm>
            <a:off x="700000" y="10653520"/>
            <a:ext cx="8190000" cy="988382"/>
            <a:chOff x="710000" y="10000000"/>
            <a:chExt cx="8190000" cy="1100000"/>
          </a:xfrm>
        </p:grpSpPr>
        <p:sp>
          <p:nvSpPr>
            <p:cNvPr id="40" name="Service"/>
            <p:cNvSpPr/>
            <p:nvPr/>
          </p:nvSpPr>
          <p:spPr>
            <a:xfrm>
              <a:off x="710000" y="10000000"/>
              <a:ext cx="2600000" cy="1100000"/>
            </a:xfrm>
            <a:prstGeom prst="roundRect">
              <a:avLst>
                <a:gd name="adj" fmla="val 8000"/>
              </a:avLst>
            </a:prstGeom>
            <a:solidFill>
              <a:srgbClr val="00796B"/>
            </a:solidFill>
            <a:ln w="0">
              <a:noFill/>
            </a:ln>
          </p:spPr>
          <p:txBody>
            <a:bodyPr wrap="square" lIns="91440" tIns="68580" rIns="91440" bIns="68580" anchor="ctr"/>
            <a:lstStyle/>
            <a:p>
              <a:pPr algn="ctr">
                <a:buNone/>
              </a:pPr>
              <a:r>
                <a:rPr lang="pt-BR" sz="1600" b="1" dirty="0">
                  <a:solidFill>
                    <a:srgbClr val="FFFFFF"/>
                  </a:solidFill>
                  <a:latin typeface="Calibri" pitchFamily="34" charset="0"/>
                </a:rPr>
                <a:t>SERVICE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B2DFDB"/>
                  </a:solidFill>
                  <a:latin typeface="Calibri" pitchFamily="34" charset="0"/>
                </a:rPr>
                <a:t>Portaria</a:t>
              </a:r>
            </a:p>
          </p:txBody>
        </p:sp>
        <p:sp>
          <p:nvSpPr>
            <p:cNvPr id="41" name="Ingress"/>
            <p:cNvSpPr/>
            <p:nvPr/>
          </p:nvSpPr>
          <p:spPr>
            <a:xfrm>
              <a:off x="3505000" y="10000000"/>
              <a:ext cx="2600000" cy="1100000"/>
            </a:xfrm>
            <a:prstGeom prst="roundRect">
              <a:avLst>
                <a:gd name="adj" fmla="val 8000"/>
              </a:avLst>
            </a:prstGeom>
            <a:solidFill>
              <a:srgbClr val="E65100"/>
            </a:solidFill>
            <a:ln w="0">
              <a:noFill/>
            </a:ln>
          </p:spPr>
          <p:txBody>
            <a:bodyPr wrap="square" lIns="91440" tIns="68580" rIns="91440" bIns="68580" anchor="ctr"/>
            <a:lstStyle/>
            <a:p>
              <a:pPr algn="ctr">
                <a:buNone/>
              </a:pPr>
              <a:r>
                <a:rPr lang="pt-BR" sz="1600" b="1" dirty="0">
                  <a:solidFill>
                    <a:srgbClr val="FFFFFF"/>
                  </a:solidFill>
                  <a:latin typeface="Calibri" pitchFamily="34" charset="0"/>
                </a:rPr>
                <a:t>INGRESS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FFCC80"/>
                  </a:solidFill>
                  <a:latin typeface="Calibri" pitchFamily="34" charset="0"/>
                </a:rPr>
                <a:t>Entrada Principal</a:t>
              </a:r>
            </a:p>
          </p:txBody>
        </p:sp>
        <p:sp>
          <p:nvSpPr>
            <p:cNvPr id="42" name="Workload"/>
            <p:cNvSpPr/>
            <p:nvPr/>
          </p:nvSpPr>
          <p:spPr>
            <a:xfrm>
              <a:off x="6300000" y="10000000"/>
              <a:ext cx="2600000" cy="1100000"/>
            </a:xfrm>
            <a:prstGeom prst="roundRect">
              <a:avLst>
                <a:gd name="adj" fmla="val 8000"/>
              </a:avLst>
            </a:prstGeom>
            <a:solidFill>
              <a:srgbClr val="4527A0"/>
            </a:solidFill>
            <a:ln w="0">
              <a:noFill/>
            </a:ln>
          </p:spPr>
          <p:txBody>
            <a:bodyPr wrap="square" lIns="91440" tIns="68580" rIns="91440" bIns="68580" anchor="ctr"/>
            <a:lstStyle/>
            <a:p>
              <a:pPr algn="ctr">
                <a:buNone/>
              </a:pPr>
              <a:r>
                <a:rPr lang="pt-BR" sz="1600" b="1" dirty="0">
                  <a:solidFill>
                    <a:srgbClr val="FFFFFF"/>
                  </a:solidFill>
                  <a:latin typeface="Calibri" pitchFamily="34" charset="0"/>
                </a:rPr>
                <a:t>WORKLOAD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CE93D8"/>
                  </a:solidFill>
                  <a:latin typeface="Calibri" pitchFamily="34" charset="0"/>
                </a:rPr>
                <a:t>Departamento</a:t>
              </a:r>
            </a:p>
            <a:p>
              <a:pPr algn="ctr">
                <a:buNone/>
              </a:pPr>
              <a:r>
                <a:rPr lang="pt-BR" sz="1400" dirty="0">
                  <a:solidFill>
                    <a:srgbClr val="CE93D8"/>
                  </a:solidFill>
                  <a:latin typeface="Calibri" pitchFamily="34" charset="0"/>
                </a:rPr>
                <a:t>(Controlador)</a:t>
              </a:r>
            </a:p>
          </p:txBody>
        </p:sp>
      </p:grp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651D86-1CBB-2767-2564-A53EF43CB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19EFE4-76B0-307A-4C57-18D64786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26</a:t>
            </a:fld>
            <a:endParaRPr lang="pt-BR" dirty="0">
              <a:solidFill>
                <a:srgbClr val="1A73E8"/>
              </a:solidFill>
            </a:endParaRPr>
          </a:p>
        </p:txBody>
      </p:sp>
      <p:sp>
        <p:nvSpPr>
          <p:cNvPr id="11" name="Node2">
            <a:extLst>
              <a:ext uri="{FF2B5EF4-FFF2-40B4-BE49-F238E27FC236}">
                <a16:creationId xmlns:a16="http://schemas.microsoft.com/office/drawing/2014/main" id="{13E8DD7D-2DB5-8A71-6287-223995C04369}"/>
              </a:ext>
            </a:extLst>
          </p:cNvPr>
          <p:cNvSpPr/>
          <p:nvPr/>
        </p:nvSpPr>
        <p:spPr>
          <a:xfrm>
            <a:off x="711200" y="3529993"/>
            <a:ext cx="8190000" cy="1478293"/>
          </a:xfrm>
          <a:prstGeom prst="roundRect">
            <a:avLst>
              <a:gd name="adj" fmla="val 3000"/>
            </a:avLst>
          </a:prstGeom>
          <a:solidFill>
            <a:srgbClr val="1A3A5C"/>
          </a:solidFill>
          <a:ln w="0">
            <a:noFill/>
          </a:ln>
        </p:spPr>
        <p:txBody>
          <a:bodyPr wrap="square" lIns="137160" tIns="91440" rIns="137160" bIns="91440" anchor="t"/>
          <a:lstStyle/>
          <a:p>
            <a:pPr algn="l">
              <a:buNone/>
            </a:pPr>
            <a:r>
              <a:rPr lang="pt-BR" sz="1600" b="1" dirty="0">
                <a:solidFill>
                  <a:srgbClr val="3DF5FF"/>
                </a:solidFill>
                <a:latin typeface="Calibri" pitchFamily="34" charset="0"/>
              </a:rPr>
              <a:t>CONTROL PLANE </a:t>
            </a:r>
            <a:r>
              <a:rPr lang="pt-BR" sz="1200" dirty="0">
                <a:solidFill>
                  <a:srgbClr val="A7B0C0"/>
                </a:solidFill>
                <a:latin typeface="Calibri" pitchFamily="34" charset="0"/>
              </a:rPr>
              <a:t>(Administração)</a:t>
            </a:r>
          </a:p>
        </p:txBody>
      </p:sp>
      <p:sp>
        <p:nvSpPr>
          <p:cNvPr id="14" name="Service">
            <a:extLst>
              <a:ext uri="{FF2B5EF4-FFF2-40B4-BE49-F238E27FC236}">
                <a16:creationId xmlns:a16="http://schemas.microsoft.com/office/drawing/2014/main" id="{1902A6A8-E5D6-BFA1-DC35-5CB94A3B4FCA}"/>
              </a:ext>
            </a:extLst>
          </p:cNvPr>
          <p:cNvSpPr/>
          <p:nvPr/>
        </p:nvSpPr>
        <p:spPr>
          <a:xfrm>
            <a:off x="920000" y="3993589"/>
            <a:ext cx="2300000" cy="769209"/>
          </a:xfrm>
          <a:prstGeom prst="roundRect">
            <a:avLst>
              <a:gd name="adj" fmla="val 8000"/>
            </a:avLst>
          </a:prstGeom>
          <a:solidFill>
            <a:srgbClr val="00796B"/>
          </a:solidFill>
          <a:ln w="0"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API Server</a:t>
            </a:r>
            <a:endParaRPr lang="pt-BR" sz="1400" dirty="0">
              <a:solidFill>
                <a:srgbClr val="B2DFDB"/>
              </a:solidFill>
              <a:latin typeface="Calibri" pitchFamily="34" charset="0"/>
            </a:endParaRPr>
          </a:p>
        </p:txBody>
      </p:sp>
      <p:sp>
        <p:nvSpPr>
          <p:cNvPr id="15" name="Service">
            <a:extLst>
              <a:ext uri="{FF2B5EF4-FFF2-40B4-BE49-F238E27FC236}">
                <a16:creationId xmlns:a16="http://schemas.microsoft.com/office/drawing/2014/main" id="{F1D4241D-B4EF-BB52-D1AF-862D14D4629B}"/>
              </a:ext>
            </a:extLst>
          </p:cNvPr>
          <p:cNvSpPr/>
          <p:nvPr/>
        </p:nvSpPr>
        <p:spPr>
          <a:xfrm>
            <a:off x="6290000" y="3988544"/>
            <a:ext cx="2300000" cy="769209"/>
          </a:xfrm>
          <a:prstGeom prst="roundRect">
            <a:avLst>
              <a:gd name="adj" fmla="val 8000"/>
            </a:avLst>
          </a:prstGeom>
          <a:solidFill>
            <a:srgbClr val="00796B"/>
          </a:solidFill>
          <a:ln w="0"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pt-BR" sz="1600" b="1" dirty="0" err="1">
                <a:solidFill>
                  <a:srgbClr val="FFFFFF"/>
                </a:solidFill>
                <a:latin typeface="Calibri" pitchFamily="34" charset="0"/>
              </a:rPr>
              <a:t>Controller</a:t>
            </a:r>
            <a:r>
              <a:rPr lang="pt-BR" sz="1600" b="1" dirty="0">
                <a:solidFill>
                  <a:srgbClr val="FFFFFF"/>
                </a:solidFill>
                <a:latin typeface="Calibri" pitchFamily="34" charset="0"/>
              </a:rPr>
              <a:t> Manager</a:t>
            </a:r>
            <a:endParaRPr lang="pt-BR" sz="1400" dirty="0">
              <a:solidFill>
                <a:srgbClr val="B2DFDB"/>
              </a:solidFill>
              <a:latin typeface="Calibri" pitchFamily="34" charset="0"/>
            </a:endParaRPr>
          </a:p>
        </p:txBody>
      </p:sp>
      <p:sp>
        <p:nvSpPr>
          <p:cNvPr id="16" name="Service">
            <a:extLst>
              <a:ext uri="{FF2B5EF4-FFF2-40B4-BE49-F238E27FC236}">
                <a16:creationId xmlns:a16="http://schemas.microsoft.com/office/drawing/2014/main" id="{B0D89E51-05C1-2EEA-E1E9-8481806EA51C}"/>
              </a:ext>
            </a:extLst>
          </p:cNvPr>
          <p:cNvSpPr/>
          <p:nvPr/>
        </p:nvSpPr>
        <p:spPr>
          <a:xfrm>
            <a:off x="3605000" y="3988544"/>
            <a:ext cx="2300000" cy="769209"/>
          </a:xfrm>
          <a:prstGeom prst="roundRect">
            <a:avLst>
              <a:gd name="adj" fmla="val 8000"/>
            </a:avLst>
          </a:prstGeom>
          <a:solidFill>
            <a:srgbClr val="00796B"/>
          </a:solidFill>
          <a:ln w="0">
            <a:noFill/>
          </a:ln>
        </p:spPr>
        <p:txBody>
          <a:bodyPr wrap="square" lIns="91440" tIns="68580" rIns="91440" bIns="68580" anchor="ctr"/>
          <a:lstStyle/>
          <a:p>
            <a:pPr algn="ctr">
              <a:buNone/>
            </a:pPr>
            <a:r>
              <a:rPr lang="pt-BR" sz="1600" b="1" dirty="0" err="1">
                <a:solidFill>
                  <a:srgbClr val="FFFFFF"/>
                </a:solidFill>
                <a:latin typeface="Calibri" pitchFamily="34" charset="0"/>
              </a:rPr>
              <a:t>Scheduler</a:t>
            </a:r>
            <a:endParaRPr lang="pt-BR" sz="1400" dirty="0">
              <a:solidFill>
                <a:srgbClr val="B2DFDB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4400" b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Planta Técnica: YAML Comentado</a:t>
            </a:r>
            <a:endParaRPr lang="pt-BR" sz="4400"/>
          </a:p>
        </p:txBody>
      </p:sp>
      <p:sp>
        <p:nvSpPr>
          <p:cNvPr id="4" name="Text 2"/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320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O Blueprint da Empresa em Código</a:t>
            </a:r>
            <a:endParaRPr lang="pt-BR" sz="320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2793225"/>
            <a:ext cx="8641080" cy="9000000"/>
          </a:xfrm>
          <a:prstGeom prst="roundRect">
            <a:avLst>
              <a:gd name="adj" fmla="val 3000"/>
            </a:avLst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37160" tIns="137160" rIns="137160" bIns="137160" rtlCol="0" anchor="t"/>
          <a:lstStyle/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apiVersion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apps/v1</a:t>
            </a:r>
          </a:p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kind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Deployment</a:t>
            </a:r>
          </a:p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metadata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api-</a:t>
            </a:r>
            <a:r>
              <a:rPr lang="pt-BR" sz="1100" dirty="0" err="1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deploy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tipo de departamento</a:t>
            </a:r>
          </a:p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spec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replicas: 3    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abrir 3 salas para atender demanda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selector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matchLabels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app: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etiqueta para identificar colaboradores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template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metadata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labels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app: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api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spec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containers: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-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nome do colaborador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image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api:v1.2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crachá com foto e versão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imagePullPolicy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 err="1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IfNotPresent</a:t>
            </a:r>
            <a:endParaRPr lang="pt-BR" sz="1100" dirty="0">
              <a:solidFill>
                <a:srgbClr val="00B050"/>
              </a:solidFill>
              <a:latin typeface="Consolas"/>
              <a:ea typeface="Consolas"/>
              <a:cs typeface="Consolas"/>
            </a:endParaRP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ports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-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containerPort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8080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porta de atendimento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resources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requests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Tamanho mínimo da sala reservada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memory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"128Mi"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cpu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"250m"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limits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máximo que pode ocupar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memory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"256Mi"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cpu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"500m"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readinessProbe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pronto para atender?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httpGet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path: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/</a:t>
            </a:r>
            <a:r>
              <a:rPr lang="pt-BR" sz="1100" dirty="0" err="1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health</a:t>
            </a:r>
            <a:endParaRPr lang="pt-BR" sz="1100" dirty="0">
              <a:solidFill>
                <a:srgbClr val="00B050"/>
              </a:solidFill>
              <a:latin typeface="Consolas"/>
              <a:ea typeface="Consolas"/>
              <a:cs typeface="Consolas"/>
            </a:endParaRP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port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8080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initialDelaySeconds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5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timeoutSeconds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2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livenessProbe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ainda está vivo?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httpGet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path: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/</a:t>
            </a:r>
            <a:r>
              <a:rPr lang="pt-BR" sz="1100" dirty="0" err="1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health</a:t>
            </a:r>
            <a:endParaRPr lang="pt-BR" sz="1100" dirty="0">
              <a:solidFill>
                <a:srgbClr val="00B050"/>
              </a:solidFill>
              <a:latin typeface="Consolas"/>
              <a:ea typeface="Consolas"/>
              <a:cs typeface="Consolas"/>
            </a:endParaRP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port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8080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initialDelaySeconds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20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timeoutSeconds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2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---</a:t>
            </a:r>
          </a:p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apiVersion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v1</a:t>
            </a:r>
          </a:p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kind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Service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portaria do departamento</a:t>
            </a:r>
          </a:p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metadata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api-</a:t>
            </a:r>
            <a:r>
              <a:rPr lang="pt-BR" sz="1100" dirty="0" err="1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svc</a:t>
            </a:r>
            <a:endParaRPr lang="pt-BR" sz="1100" dirty="0">
              <a:solidFill>
                <a:srgbClr val="00B050"/>
              </a:solidFill>
              <a:latin typeface="Consolas"/>
              <a:ea typeface="Consolas"/>
              <a:cs typeface="Consolas"/>
            </a:endParaRPr>
          </a:p>
          <a:p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spec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selector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  app: </a:t>
            </a:r>
            <a:r>
              <a:rPr lang="pt-BR" sz="1100" dirty="0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direcionar para colaboradores com esta etiqueta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ports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  -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port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80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porta da portaria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targetPort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8080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porta real da sala do colaborador</a:t>
            </a:r>
          </a:p>
          <a:p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pt-BR" sz="1100" dirty="0" err="1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lang="pt-BR" sz="1100" dirty="0">
                <a:solidFill>
                  <a:srgbClr val="FF6F1E"/>
                </a:solidFill>
                <a:latin typeface="Consolas"/>
                <a:ea typeface="Consolas"/>
                <a:cs typeface="Consolas"/>
              </a:rPr>
              <a:t>: </a:t>
            </a:r>
            <a:r>
              <a:rPr lang="pt-BR" sz="1100" dirty="0" err="1">
                <a:solidFill>
                  <a:srgbClr val="00B050"/>
                </a:solidFill>
                <a:latin typeface="Consolas"/>
                <a:ea typeface="Consolas"/>
                <a:cs typeface="Consolas"/>
              </a:rPr>
              <a:t>ClusterIP</a:t>
            </a:r>
            <a:r>
              <a:rPr lang="pt-BR" sz="11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pt-BR" sz="1100" dirty="0">
                <a:solidFill>
                  <a:srgbClr val="3DF5FF"/>
                </a:solidFill>
                <a:latin typeface="Consolas"/>
                <a:ea typeface="Consolas"/>
                <a:cs typeface="Consolas"/>
              </a:rPr>
              <a:t># acesso interno ao prédio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B79952-9CC4-15FD-4E7C-F6D0A45E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817EDF48-5338-6424-E70E-BEBC3A10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27</a:t>
            </a:fld>
            <a:endParaRPr lang="pt-BR" dirty="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1EA3B-D696-E13A-D7B6-FCF22A7A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01751F-5DED-244F-1F80-180FC144F150}"/>
              </a:ext>
            </a:extLst>
          </p:cNvPr>
          <p:cNvSpPr/>
          <p:nvPr/>
        </p:nvSpPr>
        <p:spPr>
          <a:xfrm>
            <a:off x="475488" y="0"/>
            <a:ext cx="8641080" cy="6446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1300" b="1" dirty="0">
                <a:solidFill>
                  <a:srgbClr val="A7B0C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4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38641D-262B-4223-364E-747CAFA31321}"/>
              </a:ext>
            </a:extLst>
          </p:cNvPr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</a:rPr>
              <a:t>ESTE É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</a:rPr>
              <a:t>APENAS O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A7B0C0"/>
                </a:solidFill>
                <a:latin typeface="Arial Black" pitchFamily="34" charset="0"/>
              </a:rPr>
              <a:t>COMEÇO</a:t>
            </a:r>
            <a:endParaRPr lang="en-US" sz="6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A711C8-9E55-8B45-3DC5-24F283B38352}"/>
              </a:ext>
            </a:extLst>
          </p:cNvPr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CE201F-CC2B-0BE8-EE31-A0B18DE7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C7A25A-F0BF-F042-93BB-528AD22D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A7B0C0"/>
                </a:solidFill>
              </a:rPr>
              <a:t>28</a:t>
            </a:fld>
            <a:endParaRPr lang="pt-BR" dirty="0">
              <a:solidFill>
                <a:srgbClr val="A7B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32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5F619-2122-D49B-2CA3-52F871404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72B925-D494-2D73-3227-9492249AF576}"/>
              </a:ext>
            </a:extLst>
          </p:cNvPr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073E0F-8787-C3F6-5AA4-B268894F2CCD}"/>
              </a:ext>
            </a:extLst>
          </p:cNvPr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Este é </a:t>
            </a:r>
            <a:r>
              <a:rPr lang="en-US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Apenas</a:t>
            </a: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o </a:t>
            </a:r>
            <a:r>
              <a:rPr lang="en-US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Começo</a:t>
            </a:r>
            <a:endParaRPr lang="en-US" sz="4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98E1EA-90C1-CE39-4992-9FCB7DFF4D59}"/>
              </a:ext>
            </a:extLst>
          </p:cNvPr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 Deploys </a:t>
            </a:r>
            <a:r>
              <a:rPr lang="en-US" sz="3200" dirty="0" err="1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Infinitos</a:t>
            </a:r>
            <a:r>
              <a:rPr lang="en-US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200" dirty="0" err="1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ainda</a:t>
            </a:r>
            <a:r>
              <a:rPr lang="en-US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200" dirty="0" err="1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está</a:t>
            </a:r>
            <a:r>
              <a:rPr lang="en-US" sz="3200" dirty="0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 no </a:t>
            </a:r>
            <a:r>
              <a:rPr lang="en-US" sz="3200" dirty="0" err="1">
                <a:solidFill>
                  <a:srgbClr val="333333"/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papel</a:t>
            </a:r>
            <a:endParaRPr lang="en-US" sz="3200" dirty="0">
              <a:latin typeface="+mj-lt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E64B23-2871-34D1-E7DB-0E520D138D94}"/>
              </a:ext>
            </a:extLst>
          </p:cNvPr>
          <p:cNvSpPr/>
          <p:nvPr/>
        </p:nvSpPr>
        <p:spPr>
          <a:xfrm>
            <a:off x="475488" y="2880360"/>
            <a:ext cx="8641080" cy="471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2400" dirty="0"/>
              <a:t>Você conheceu a estrutura da nossa empresa imaginária: salas, andares, departamentos e colaboradores. Mas toda empresa real precisa de muito mais para funcionar. Ela precisa de portas de entrada, que representam o </a:t>
            </a:r>
            <a:r>
              <a:rPr lang="pt-BR" sz="2400" b="1" dirty="0" err="1"/>
              <a:t>Ingress</a:t>
            </a:r>
            <a:r>
              <a:rPr lang="pt-BR" sz="2400" dirty="0"/>
              <a:t>. Precisa de ramais internos, que fazem o papel dos </a:t>
            </a:r>
            <a:r>
              <a:rPr lang="pt-BR" sz="2400" b="1" dirty="0"/>
              <a:t>Services</a:t>
            </a:r>
            <a:r>
              <a:rPr lang="pt-BR" sz="2400" dirty="0"/>
              <a:t>. Precisa de documentos e políticas, que são os </a:t>
            </a:r>
            <a:r>
              <a:rPr lang="pt-BR" sz="2400" b="1" dirty="0" err="1"/>
              <a:t>ConfigMaps</a:t>
            </a:r>
            <a:r>
              <a:rPr lang="pt-BR" sz="2400" b="1" dirty="0"/>
              <a:t> e Secrets</a:t>
            </a:r>
            <a:r>
              <a:rPr lang="pt-BR" sz="2400" dirty="0"/>
              <a:t>. Precisa de arquivos guardados, que são os </a:t>
            </a:r>
            <a:r>
              <a:rPr lang="pt-BR" sz="2400" b="1" dirty="0"/>
              <a:t>Volumes</a:t>
            </a:r>
            <a:r>
              <a:rPr lang="pt-BR" sz="2400" dirty="0"/>
              <a:t>. E também precisa da diretoria que coordena tudo, formada pelo </a:t>
            </a:r>
            <a:r>
              <a:rPr lang="pt-BR" sz="2400" b="1" dirty="0" err="1"/>
              <a:t>Control</a:t>
            </a:r>
            <a:r>
              <a:rPr lang="pt-BR" sz="2400" b="1" dirty="0"/>
              <a:t> Plane, </a:t>
            </a:r>
            <a:r>
              <a:rPr lang="pt-BR" sz="2400" b="1" dirty="0" err="1"/>
              <a:t>Scheduler</a:t>
            </a:r>
            <a:r>
              <a:rPr lang="pt-BR" sz="2400" b="1" dirty="0"/>
              <a:t> e </a:t>
            </a:r>
            <a:r>
              <a:rPr lang="pt-BR" sz="2400" b="1" dirty="0" err="1"/>
              <a:t>Kubelet</a:t>
            </a:r>
            <a:r>
              <a:rPr lang="pt-BR" sz="2400" dirty="0"/>
              <a:t>.</a:t>
            </a:r>
          </a:p>
          <a:p>
            <a:r>
              <a:rPr lang="pt-BR" sz="2400" dirty="0"/>
              <a:t>Essas partes ainda não apareceram na história, e é exatamente por isso que esta jornada está só começando.</a:t>
            </a:r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85F77F73-23EA-F2D3-8E7C-F5380E83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2726ABC6-E569-A874-5A5B-533294D5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1CB04-2BE3-4164-84E0-A56E2E41F695}" type="slidenum">
              <a:rPr lang="pt-BR" smtClean="0">
                <a:solidFill>
                  <a:srgbClr val="1A73E8"/>
                </a:solidFill>
              </a:rPr>
              <a:t>29</a:t>
            </a:fld>
            <a:endParaRPr lang="pt-BR" dirty="0">
              <a:solidFill>
                <a:srgbClr val="1A73E8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004DECD-2184-4F97-E217-71155C7FF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8034"/>
          <a:stretch>
            <a:fillRect/>
          </a:stretch>
        </p:blipFill>
        <p:spPr>
          <a:xfrm>
            <a:off x="820826" y="7137400"/>
            <a:ext cx="7959547" cy="471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2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25283-C1AD-B23C-ADC1-AC544C3A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076BB8-8476-EA53-ECC6-85101F1F3512}"/>
              </a:ext>
            </a:extLst>
          </p:cNvPr>
          <p:cNvSpPr/>
          <p:nvPr/>
        </p:nvSpPr>
        <p:spPr>
          <a:xfrm>
            <a:off x="475488" y="6446520"/>
            <a:ext cx="8641080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A7B0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OBRIGADO POR LER!</a:t>
            </a:r>
            <a:endParaRPr lang="en-US" sz="8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E13B44-CD21-940B-2564-8CD1C0E86683}"/>
              </a:ext>
            </a:extLst>
          </p:cNvPr>
          <p:cNvSpPr/>
          <p:nvPr/>
        </p:nvSpPr>
        <p:spPr>
          <a:xfrm>
            <a:off x="731520" y="11475720"/>
            <a:ext cx="8129016" cy="18288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41B73F-4438-9910-4D3F-5155F89B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A7B0C0"/>
                </a:solidFill>
              </a:rPr>
              <a:t>A EMPRESA DOS DEPLOYS INFINITOS</a:t>
            </a:r>
          </a:p>
        </p:txBody>
      </p:sp>
    </p:spTree>
    <p:extLst>
      <p:ext uri="{BB962C8B-B14F-4D97-AF65-F5344CB8AC3E}">
        <p14:creationId xmlns:p14="http://schemas.microsoft.com/office/powerpoint/2010/main" val="1925620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3F41E-B854-1F2C-8B18-61AF2F5E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4E79EF-DB6D-0468-D54D-22419DB48510}"/>
              </a:ext>
            </a:extLst>
          </p:cNvPr>
          <p:cNvSpPr/>
          <p:nvPr/>
        </p:nvSpPr>
        <p:spPr>
          <a:xfrm>
            <a:off x="475488" y="0"/>
            <a:ext cx="73152" cy="1947672"/>
          </a:xfrm>
          <a:prstGeom prst="rect">
            <a:avLst/>
          </a:prstGeom>
          <a:solidFill>
            <a:srgbClr val="3DF5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09961E-E168-20E7-7F25-DFF7E34FD79E}"/>
              </a:ext>
            </a:extLst>
          </p:cNvPr>
          <p:cNvSpPr/>
          <p:nvPr/>
        </p:nvSpPr>
        <p:spPr>
          <a:xfrm>
            <a:off x="822960" y="621792"/>
            <a:ext cx="8183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Obrigado</a:t>
            </a: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4400" b="1" dirty="0" err="1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</a:t>
            </a:r>
            <a:r>
              <a:rPr lang="en-US" sz="44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Ler!</a:t>
            </a:r>
            <a:endParaRPr lang="en-US" sz="4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3E349C-A642-2B7F-C2E5-7B2DF75BA1FF}"/>
              </a:ext>
            </a:extLst>
          </p:cNvPr>
          <p:cNvSpPr/>
          <p:nvPr/>
        </p:nvSpPr>
        <p:spPr>
          <a:xfrm>
            <a:off x="475488" y="2121408"/>
            <a:ext cx="8641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3200" dirty="0">
                <a:solidFill>
                  <a:srgbClr val="333333"/>
                </a:solidFill>
                <a:latin typeface="+mj-lt"/>
                <a:ea typeface="Roboto" panose="02000000000000000000" pitchFamily="2" charset="0"/>
                <a:cs typeface="Calibri Light" panose="020F0302020204030204" pitchFamily="34" charset="0"/>
              </a:rPr>
              <a:t>Aguardo seu feedback!</a:t>
            </a:r>
            <a:endParaRPr lang="en-US" sz="3200" dirty="0">
              <a:latin typeface="+mj-lt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96A1B5-D533-1C6A-7371-9CA10430AA1E}"/>
              </a:ext>
            </a:extLst>
          </p:cNvPr>
          <p:cNvSpPr txBox="1"/>
          <p:nvPr/>
        </p:nvSpPr>
        <p:spPr>
          <a:xfrm>
            <a:off x="423618" y="2913150"/>
            <a:ext cx="8641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rgbClr val="333333"/>
                </a:solidFill>
                <a:latin typeface="Calibri Light" panose="020F0302020204030204" pitchFamily="34" charset="0"/>
                <a:ea typeface="Roboto" panose="02000000000000000000" pitchFamily="2" charset="0"/>
                <a:cs typeface="Calibri Light" panose="020F0302020204030204" pitchFamily="34" charset="0"/>
              </a:rPr>
              <a:t>O que achou da analogia do </a:t>
            </a:r>
            <a:r>
              <a:rPr lang="pt-BR" sz="2400" dirty="0" err="1">
                <a:solidFill>
                  <a:srgbClr val="333333"/>
                </a:solidFill>
                <a:latin typeface="Calibri Light" panose="020F0302020204030204" pitchFamily="34" charset="0"/>
                <a:ea typeface="Roboto" panose="02000000000000000000" pitchFamily="2" charset="0"/>
                <a:cs typeface="Calibri Light" panose="020F0302020204030204" pitchFamily="34" charset="0"/>
              </a:rPr>
              <a:t>Kubernetes</a:t>
            </a:r>
            <a:r>
              <a:rPr lang="pt-BR" sz="2400" dirty="0">
                <a:solidFill>
                  <a:srgbClr val="333333"/>
                </a:solidFill>
                <a:latin typeface="Calibri Light" panose="020F0302020204030204" pitchFamily="34" charset="0"/>
                <a:ea typeface="Roboto" panose="02000000000000000000" pitchFamily="2" charset="0"/>
                <a:cs typeface="Calibri Light" panose="020F0302020204030204" pitchFamily="34" charset="0"/>
              </a:rPr>
              <a:t> como uma Empresa?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FAFA06D-C278-3905-523C-18AE72B4EEC1}"/>
              </a:ext>
            </a:extLst>
          </p:cNvPr>
          <p:cNvSpPr txBox="1"/>
          <p:nvPr/>
        </p:nvSpPr>
        <p:spPr>
          <a:xfrm>
            <a:off x="423618" y="4000140"/>
            <a:ext cx="86350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333333"/>
                </a:solidFill>
                <a:latin typeface="+mj-lt"/>
                <a:ea typeface="Roboto" panose="02000000000000000000" pitchFamily="2" charset="0"/>
                <a:cs typeface="Calibri Light" panose="020F0302020204030204" pitchFamily="34" charset="0"/>
              </a:rPr>
              <a:t>Sobre o Autor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9C4661-27F4-8169-E51E-C627F678D98B}"/>
              </a:ext>
            </a:extLst>
          </p:cNvPr>
          <p:cNvSpPr txBox="1"/>
          <p:nvPr/>
        </p:nvSpPr>
        <p:spPr>
          <a:xfrm>
            <a:off x="462999" y="4791441"/>
            <a:ext cx="57465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333333"/>
                </a:solidFill>
                <a:effectLst/>
                <a:latin typeface="Calibri Light" panose="020F0302020204030204" pitchFamily="34" charset="0"/>
              </a:rPr>
              <a:t>Olá, meu nome é Luis Zancanela e sou apaixonado por tecnologia e desenvolvimento de sistemas. Atuo na área de TI há mais de 19 anos, sendo mais de 4 anos como desenvolvedor </a:t>
            </a:r>
            <a:r>
              <a:rPr lang="pt-BR" sz="240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</a:rPr>
              <a:t>backend</a:t>
            </a:r>
            <a:r>
              <a:rPr lang="pt-BR" sz="2400" dirty="0">
                <a:solidFill>
                  <a:srgbClr val="333333"/>
                </a:solidFill>
                <a:effectLst/>
                <a:latin typeface="Calibri Light" panose="020F0302020204030204" pitchFamily="34" charset="0"/>
              </a:rPr>
              <a:t> Java, </a:t>
            </a:r>
            <a:endParaRPr lang="pt-BR" sz="2400" dirty="0">
              <a:solidFill>
                <a:srgbClr val="333333"/>
              </a:solidFill>
              <a:latin typeface="Calibri Light" panose="020F0302020204030204" pitchFamily="34" charset="0"/>
              <a:ea typeface="Roboto" panose="02000000000000000000" pitchFamily="2" charset="0"/>
              <a:cs typeface="Calibri Light" panose="020F0302020204030204" pitchFamily="34" charset="0"/>
            </a:endParaRPr>
          </a:p>
        </p:txBody>
      </p:sp>
      <p:pic>
        <p:nvPicPr>
          <p:cNvPr id="20" name="Imagem 19" descr="Ícone  O conteúdo gerado por IA pode estar incorreto.">
            <a:extLst>
              <a:ext uri="{FF2B5EF4-FFF2-40B4-BE49-F238E27FC236}">
                <a16:creationId xmlns:a16="http://schemas.microsoft.com/office/drawing/2014/main" id="{DB73752B-4ECA-37F7-81DB-18217540B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8717199"/>
            <a:ext cx="957665" cy="95766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654F7E25-EC3B-B522-3803-C3317EF5D0F6}"/>
              </a:ext>
            </a:extLst>
          </p:cNvPr>
          <p:cNvSpPr txBox="1"/>
          <p:nvPr/>
        </p:nvSpPr>
        <p:spPr>
          <a:xfrm>
            <a:off x="1634491" y="8965121"/>
            <a:ext cx="7562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rgbClr val="333333"/>
                </a:solidFill>
                <a:latin typeface="Calibri Light" panose="020F0302020204030204" pitchFamily="34" charset="0"/>
                <a:ea typeface="Roboto" panose="02000000000000000000" pitchFamily="2" charset="0"/>
                <a:cs typeface="Calibri Light" panose="020F0302020204030204" pitchFamily="34" charset="0"/>
                <a:hlinkClick r:id="rId3"/>
              </a:rPr>
              <a:t>https://www.linkedin.com/in/luis-zancanela/</a:t>
            </a:r>
            <a:endParaRPr lang="pt-BR" sz="2400" dirty="0">
              <a:solidFill>
                <a:srgbClr val="333333"/>
              </a:solidFill>
              <a:latin typeface="Calibri Light" panose="020F0302020204030204" pitchFamily="34" charset="0"/>
              <a:ea typeface="Roboto" panose="02000000000000000000" pitchFamily="2" charset="0"/>
              <a:cs typeface="Calibri Light" panose="020F030202020403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8A0DD84-3C20-87E6-D370-C2D7B1F129F7}"/>
              </a:ext>
            </a:extLst>
          </p:cNvPr>
          <p:cNvSpPr txBox="1"/>
          <p:nvPr/>
        </p:nvSpPr>
        <p:spPr>
          <a:xfrm>
            <a:off x="462999" y="11034192"/>
            <a:ext cx="8635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rgbClr val="333333"/>
                </a:solidFill>
                <a:latin typeface="Calibri Light" panose="020F0302020204030204" pitchFamily="34" charset="0"/>
                <a:ea typeface="Roboto" panose="02000000000000000000" pitchFamily="2" charset="0"/>
                <a:cs typeface="Calibri Light" panose="020F0302020204030204" pitchFamily="34" charset="0"/>
              </a:rPr>
              <a:t>Criado com paixão, dedicação e o compromisso sincero de compartilhar conhecimento </a:t>
            </a:r>
            <a:r>
              <a:rPr lang="pt-BR" sz="2400" dirty="0"/>
              <a:t>🧑‍💻❤️🤝📚</a:t>
            </a:r>
            <a:endParaRPr lang="pt-BR" sz="2400" dirty="0">
              <a:solidFill>
                <a:srgbClr val="333333"/>
              </a:solidFill>
              <a:latin typeface="Calibri Light" panose="020F0302020204030204" pitchFamily="34" charset="0"/>
              <a:ea typeface="Roboto" panose="02000000000000000000" pitchFamily="2" charset="0"/>
              <a:cs typeface="Calibri Light" panose="020F0302020204030204" pitchFamily="34" charset="0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0E427816-6A43-202D-BB9C-5B937CEC9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1401" y="4113797"/>
            <a:ext cx="2373560" cy="2370836"/>
          </a:xfrm>
          <a:prstGeom prst="ellipse">
            <a:avLst/>
          </a:prstGeom>
          <a:ln w="63500" cap="rnd">
            <a:solidFill>
              <a:srgbClr val="0D1B2A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contourClr>
              <a:srgbClr val="333333"/>
            </a:contourClr>
          </a:sp3d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9E1AF4F6-983C-FE8D-B800-8AB07AB9FEF4}"/>
              </a:ext>
            </a:extLst>
          </p:cNvPr>
          <p:cNvSpPr txBox="1"/>
          <p:nvPr/>
        </p:nvSpPr>
        <p:spPr>
          <a:xfrm>
            <a:off x="475489" y="6635630"/>
            <a:ext cx="85313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333333"/>
                </a:solidFill>
                <a:effectLst/>
                <a:latin typeface="Calibri Light" panose="020F0302020204030204" pitchFamily="34" charset="0"/>
              </a:rPr>
              <a:t>inclusive trabalhando com aplicações em </a:t>
            </a:r>
            <a:r>
              <a:rPr lang="pt-BR" sz="240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</a:rPr>
              <a:t>Kubernetes</a:t>
            </a:r>
            <a:r>
              <a:rPr lang="pt-BR" sz="2400" dirty="0">
                <a:solidFill>
                  <a:srgbClr val="333333"/>
                </a:solidFill>
                <a:latin typeface="Calibri Light" panose="020F0302020204030204" pitchFamily="34" charset="0"/>
              </a:rPr>
              <a:t>. Ter o conhecimento da infraestrutura onde a aplicação está executando é muito importante principalmente quando tem algum “incêndio” em produção</a:t>
            </a:r>
            <a:r>
              <a:rPr lang="pt-BR" sz="2400" dirty="0">
                <a:solidFill>
                  <a:srgbClr val="333333"/>
                </a:solidFill>
                <a:effectLst/>
                <a:latin typeface="Calibri Light" panose="020F0302020204030204" pitchFamily="34" charset="0"/>
              </a:rPr>
              <a:t>. </a:t>
            </a:r>
          </a:p>
          <a:p>
            <a:r>
              <a:rPr lang="pt-BR" sz="2400" dirty="0">
                <a:solidFill>
                  <a:srgbClr val="333333"/>
                </a:solidFill>
                <a:effectLst/>
                <a:latin typeface="Calibri Light" panose="020F0302020204030204" pitchFamily="34" charset="0"/>
              </a:rPr>
              <a:t>Abaixo está meu perfil no Linkedin para nos conectarmos:</a:t>
            </a:r>
            <a:endParaRPr lang="pt-BR" sz="24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D780F4E-825A-BA07-F957-BF4E4FF639E6}"/>
              </a:ext>
            </a:extLst>
          </p:cNvPr>
          <p:cNvSpPr txBox="1"/>
          <p:nvPr/>
        </p:nvSpPr>
        <p:spPr>
          <a:xfrm>
            <a:off x="548640" y="9976859"/>
            <a:ext cx="7923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rgbClr val="333333"/>
                </a:solidFill>
                <a:latin typeface="Calibri Light" panose="020F0302020204030204" pitchFamily="34" charset="0"/>
                <a:ea typeface="Roboto" panose="02000000000000000000" pitchFamily="2" charset="0"/>
                <a:cs typeface="Calibri Light" panose="020F0302020204030204" pitchFamily="34" charset="0"/>
              </a:rPr>
              <a:t>Esse ebook foi gerado com base em conteúdo textual e visual gerado por IA e revisado por humano.</a:t>
            </a:r>
          </a:p>
        </p:txBody>
      </p:sp>
      <p:sp>
        <p:nvSpPr>
          <p:cNvPr id="29" name="Espaço Reservado para Rodapé 28">
            <a:extLst>
              <a:ext uri="{FF2B5EF4-FFF2-40B4-BE49-F238E27FC236}">
                <a16:creationId xmlns:a16="http://schemas.microsoft.com/office/drawing/2014/main" id="{8FC0A2FA-BAC5-A661-977F-CC2A4FBF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>
                <a:solidFill>
                  <a:srgbClr val="1A73E8"/>
                </a:solidFill>
              </a:rPr>
              <a:t>A EMPRESA DOS DEPLOYS INFINITOS</a:t>
            </a:r>
          </a:p>
        </p:txBody>
      </p:sp>
    </p:spTree>
    <p:extLst>
      <p:ext uri="{BB962C8B-B14F-4D97-AF65-F5344CB8AC3E}">
        <p14:creationId xmlns:p14="http://schemas.microsoft.com/office/powerpoint/2010/main" val="41308996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1817</TotalTime>
  <Words>3075</Words>
  <Application>Microsoft Office PowerPoint</Application>
  <PresentationFormat>Papel A3 (297 x 420 mm)</PresentationFormat>
  <Paragraphs>426</Paragraphs>
  <Slides>31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0" baseType="lpstr">
      <vt:lpstr>Aptos</vt:lpstr>
      <vt:lpstr>Aptos Display</vt:lpstr>
      <vt:lpstr>Arial</vt:lpstr>
      <vt:lpstr>Arial Black</vt:lpstr>
      <vt:lpstr>Calibri</vt:lpstr>
      <vt:lpstr>Calibri Light</vt:lpstr>
      <vt:lpstr>Consolas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Carlos Zancanela</dc:creator>
  <cp:lastModifiedBy>Luis Carlos Zancanela</cp:lastModifiedBy>
  <cp:revision>18</cp:revision>
  <dcterms:created xsi:type="dcterms:W3CDTF">2025-06-07T13:36:59Z</dcterms:created>
  <dcterms:modified xsi:type="dcterms:W3CDTF">2026-05-03T02:11:07Z</dcterms:modified>
</cp:coreProperties>
</file>