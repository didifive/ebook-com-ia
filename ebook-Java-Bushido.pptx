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36"/>
  </p:notesMasterIdLst>
  <p:sldIdLst>
    <p:sldId id="2561" r:id="rId2"/>
    <p:sldId id="2606" r:id="rId3"/>
    <p:sldId id="2586" r:id="rId4"/>
    <p:sldId id="2588" r:id="rId5"/>
    <p:sldId id="2590" r:id="rId6"/>
    <p:sldId id="2589" r:id="rId7"/>
    <p:sldId id="2591" r:id="rId8"/>
    <p:sldId id="2614" r:id="rId9"/>
    <p:sldId id="2592" r:id="rId10"/>
    <p:sldId id="2593" r:id="rId11"/>
    <p:sldId id="2607" r:id="rId12"/>
    <p:sldId id="2595" r:id="rId13"/>
    <p:sldId id="2615" r:id="rId14"/>
    <p:sldId id="2594" r:id="rId15"/>
    <p:sldId id="2597" r:id="rId16"/>
    <p:sldId id="2598" r:id="rId17"/>
    <p:sldId id="2596" r:id="rId18"/>
    <p:sldId id="2616" r:id="rId19"/>
    <p:sldId id="2600" r:id="rId20"/>
    <p:sldId id="2608" r:id="rId21"/>
    <p:sldId id="2609" r:id="rId22"/>
    <p:sldId id="2599" r:id="rId23"/>
    <p:sldId id="2617" r:id="rId24"/>
    <p:sldId id="2602" r:id="rId25"/>
    <p:sldId id="2610" r:id="rId26"/>
    <p:sldId id="2611" r:id="rId27"/>
    <p:sldId id="2605" r:id="rId28"/>
    <p:sldId id="2612" r:id="rId29"/>
    <p:sldId id="2620" r:id="rId30"/>
    <p:sldId id="2619" r:id="rId31"/>
    <p:sldId id="2618" r:id="rId32"/>
    <p:sldId id="2603" r:id="rId33"/>
    <p:sldId id="2613" r:id="rId34"/>
    <p:sldId id="2604" r:id="rId35"/>
  </p:sldIdLst>
  <p:sldSz cx="9601200" cy="12801600" type="A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032" userDrawn="1">
          <p15:clr>
            <a:srgbClr val="A4A3A4"/>
          </p15:clr>
        </p15:guide>
        <p15:guide id="2" pos="304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BE2E"/>
    <a:srgbClr val="BDBDBD"/>
    <a:srgbClr val="BE8158"/>
    <a:srgbClr val="CA87BA"/>
    <a:srgbClr val="60974A"/>
    <a:srgbClr val="346146"/>
    <a:srgbClr val="7D4628"/>
    <a:srgbClr val="78CFFC"/>
    <a:srgbClr val="27C93F"/>
    <a:srgbClr val="FF5F5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1A1D866-9945-4532-83AB-A5DAED726D2B}" v="408" dt="2025-06-09T11:25:00.03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34563" autoAdjust="0"/>
    <p:restoredTop sz="86405" autoAdjust="0"/>
  </p:normalViewPr>
  <p:slideViewPr>
    <p:cSldViewPr snapToGrid="0">
      <p:cViewPr varScale="1">
        <p:scale>
          <a:sx n="38" d="100"/>
          <a:sy n="38" d="100"/>
        </p:scale>
        <p:origin x="1195" y="91"/>
      </p:cViewPr>
      <p:guideLst>
        <p:guide orient="horz" pos="4032"/>
        <p:guide pos="3047"/>
      </p:guideLst>
    </p:cSldViewPr>
  </p:slideViewPr>
  <p:outlineViewPr>
    <p:cViewPr>
      <p:scale>
        <a:sx n="33" d="100"/>
        <a:sy n="33" d="100"/>
      </p:scale>
      <p:origin x="0" y="0"/>
    </p:cViewPr>
    <p:sldLst>
      <p:sld r:id="rId1" collapse="1"/>
    </p:sldLst>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s>
</file>

<file path=ppt/_rels/viewProps.xml.rels><?xml version="1.0" encoding="UTF-8" standalone="yes"?>
<Relationships xmlns="http://schemas.openxmlformats.org/package/2006/relationships"><Relationship Id="rId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997A49-3252-4501-B181-1EE9AE55AD81}" type="datetimeFigureOut">
              <a:rPr lang="pt-BR" smtClean="0"/>
              <a:t>13/05/2026</a:t>
            </a:fld>
            <a:endParaRPr lang="pt-BR"/>
          </a:p>
        </p:txBody>
      </p:sp>
      <p:sp>
        <p:nvSpPr>
          <p:cNvPr id="4" name="Espaço Reservado para Imagem de Slide 3"/>
          <p:cNvSpPr>
            <a:spLocks noGrp="1" noRot="1" noChangeAspect="1"/>
          </p:cNvSpPr>
          <p:nvPr>
            <p:ph type="sldImg" idx="2"/>
          </p:nvPr>
        </p:nvSpPr>
        <p:spPr>
          <a:xfrm>
            <a:off x="2271713" y="1143000"/>
            <a:ext cx="2314575"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D58AD3F-2BB8-435B-976B-E9298CFB6390}" type="slidenum">
              <a:rPr lang="pt-BR" smtClean="0"/>
              <a:t>‹nº›</a:t>
            </a:fld>
            <a:endParaRPr lang="pt-BR"/>
          </a:p>
        </p:txBody>
      </p:sp>
    </p:spTree>
    <p:extLst>
      <p:ext uri="{BB962C8B-B14F-4D97-AF65-F5344CB8AC3E}">
        <p14:creationId xmlns:p14="http://schemas.microsoft.com/office/powerpoint/2010/main" val="2028899277"/>
      </p:ext>
    </p:extLst>
  </p:cSld>
  <p:clrMap bg1="lt1" tx1="dk1" bg2="lt2" tx2="dk2" accent1="accent1" accent2="accent2" accent3="accent3" accent4="accent4" accent5="accent5" accent6="accent6" hlink="hlink" folHlink="folHlink"/>
  <p:notesStyle>
    <a:lvl1pPr marL="0" algn="l" defTabSz="1221913" rtl="0" eaLnBrk="1" latinLnBrk="0" hangingPunct="1">
      <a:defRPr sz="1604" kern="1200">
        <a:solidFill>
          <a:schemeClr val="tx1"/>
        </a:solidFill>
        <a:latin typeface="+mn-lt"/>
        <a:ea typeface="+mn-ea"/>
        <a:cs typeface="+mn-cs"/>
      </a:defRPr>
    </a:lvl1pPr>
    <a:lvl2pPr marL="610956" algn="l" defTabSz="1221913" rtl="0" eaLnBrk="1" latinLnBrk="0" hangingPunct="1">
      <a:defRPr sz="1604" kern="1200">
        <a:solidFill>
          <a:schemeClr val="tx1"/>
        </a:solidFill>
        <a:latin typeface="+mn-lt"/>
        <a:ea typeface="+mn-ea"/>
        <a:cs typeface="+mn-cs"/>
      </a:defRPr>
    </a:lvl2pPr>
    <a:lvl3pPr marL="1221913" algn="l" defTabSz="1221913" rtl="0" eaLnBrk="1" latinLnBrk="0" hangingPunct="1">
      <a:defRPr sz="1604" kern="1200">
        <a:solidFill>
          <a:schemeClr val="tx1"/>
        </a:solidFill>
        <a:latin typeface="+mn-lt"/>
        <a:ea typeface="+mn-ea"/>
        <a:cs typeface="+mn-cs"/>
      </a:defRPr>
    </a:lvl3pPr>
    <a:lvl4pPr marL="1832869" algn="l" defTabSz="1221913" rtl="0" eaLnBrk="1" latinLnBrk="0" hangingPunct="1">
      <a:defRPr sz="1604" kern="1200">
        <a:solidFill>
          <a:schemeClr val="tx1"/>
        </a:solidFill>
        <a:latin typeface="+mn-lt"/>
        <a:ea typeface="+mn-ea"/>
        <a:cs typeface="+mn-cs"/>
      </a:defRPr>
    </a:lvl4pPr>
    <a:lvl5pPr marL="2443825" algn="l" defTabSz="1221913" rtl="0" eaLnBrk="1" latinLnBrk="0" hangingPunct="1">
      <a:defRPr sz="1604" kern="1200">
        <a:solidFill>
          <a:schemeClr val="tx1"/>
        </a:solidFill>
        <a:latin typeface="+mn-lt"/>
        <a:ea typeface="+mn-ea"/>
        <a:cs typeface="+mn-cs"/>
      </a:defRPr>
    </a:lvl5pPr>
    <a:lvl6pPr marL="3054782" algn="l" defTabSz="1221913" rtl="0" eaLnBrk="1" latinLnBrk="0" hangingPunct="1">
      <a:defRPr sz="1604" kern="1200">
        <a:solidFill>
          <a:schemeClr val="tx1"/>
        </a:solidFill>
        <a:latin typeface="+mn-lt"/>
        <a:ea typeface="+mn-ea"/>
        <a:cs typeface="+mn-cs"/>
      </a:defRPr>
    </a:lvl6pPr>
    <a:lvl7pPr marL="3665738" algn="l" defTabSz="1221913" rtl="0" eaLnBrk="1" latinLnBrk="0" hangingPunct="1">
      <a:defRPr sz="1604" kern="1200">
        <a:solidFill>
          <a:schemeClr val="tx1"/>
        </a:solidFill>
        <a:latin typeface="+mn-lt"/>
        <a:ea typeface="+mn-ea"/>
        <a:cs typeface="+mn-cs"/>
      </a:defRPr>
    </a:lvl7pPr>
    <a:lvl8pPr marL="4276695" algn="l" defTabSz="1221913" rtl="0" eaLnBrk="1" latinLnBrk="0" hangingPunct="1">
      <a:defRPr sz="1604" kern="1200">
        <a:solidFill>
          <a:schemeClr val="tx1"/>
        </a:solidFill>
        <a:latin typeface="+mn-lt"/>
        <a:ea typeface="+mn-ea"/>
        <a:cs typeface="+mn-cs"/>
      </a:defRPr>
    </a:lvl8pPr>
    <a:lvl9pPr marL="4887651" algn="l" defTabSz="1221913" rtl="0" eaLnBrk="1" latinLnBrk="0" hangingPunct="1">
      <a:defRPr sz="1604"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pt-BR"/>
          </a:p>
        </p:txBody>
      </p:sp>
      <p:sp>
        <p:nvSpPr>
          <p:cNvPr id="3" name="Espaço Reservado para Anotações 2"/>
          <p:cNvSpPr>
            <a:spLocks noGrp="1"/>
          </p:cNvSpPr>
          <p:nvPr>
            <p:ph type="body" idx="1"/>
          </p:nvPr>
        </p:nvSpPr>
        <p:spPr/>
        <p:txBody>
          <a:bodyPr/>
          <a:lstStyle/>
          <a:p>
            <a:r>
              <a:rPr lang="pt-BR" dirty="0"/>
              <a:t>Java Bushidō</a:t>
            </a:r>
          </a:p>
        </p:txBody>
      </p:sp>
      <p:sp>
        <p:nvSpPr>
          <p:cNvPr id="4" name="Espaço Reservado para Número de Slide 3"/>
          <p:cNvSpPr>
            <a:spLocks noGrp="1"/>
          </p:cNvSpPr>
          <p:nvPr>
            <p:ph type="sldNum" sz="quarter" idx="5"/>
          </p:nvPr>
        </p:nvSpPr>
        <p:spPr/>
        <p:txBody>
          <a:bodyPr/>
          <a:lstStyle/>
          <a:p>
            <a:fld id="{7D58AD3F-2BB8-435B-976B-E9298CFB6390}" type="slidenum">
              <a:rPr lang="pt-BR" smtClean="0"/>
              <a:t>1</a:t>
            </a:fld>
            <a:endParaRPr lang="pt-BR"/>
          </a:p>
        </p:txBody>
      </p:sp>
    </p:spTree>
    <p:extLst>
      <p:ext uri="{BB962C8B-B14F-4D97-AF65-F5344CB8AC3E}">
        <p14:creationId xmlns:p14="http://schemas.microsoft.com/office/powerpoint/2010/main" val="17695644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720090" y="2095078"/>
            <a:ext cx="8161020" cy="4456853"/>
          </a:xfrm>
        </p:spPr>
        <p:txBody>
          <a:bodyPr anchor="b"/>
          <a:lstStyle>
            <a:lvl1pPr algn="ctr">
              <a:defRPr sz="6300"/>
            </a:lvl1pPr>
          </a:lstStyle>
          <a:p>
            <a:r>
              <a:rPr lang="pt-BR"/>
              <a:t>Clique para editar o título Mestre</a:t>
            </a:r>
            <a:endParaRPr lang="en-US" dirty="0"/>
          </a:p>
        </p:txBody>
      </p:sp>
      <p:sp>
        <p:nvSpPr>
          <p:cNvPr id="3" name="Subtitle 2"/>
          <p:cNvSpPr>
            <a:spLocks noGrp="1"/>
          </p:cNvSpPr>
          <p:nvPr>
            <p:ph type="subTitle" idx="1"/>
          </p:nvPr>
        </p:nvSpPr>
        <p:spPr>
          <a:xfrm>
            <a:off x="1200150" y="6723804"/>
            <a:ext cx="7200900" cy="3090756"/>
          </a:xfrm>
        </p:spPr>
        <p:txBody>
          <a:bodyPr/>
          <a:lstStyle>
            <a:lvl1pPr marL="0" indent="0" algn="ctr">
              <a:buNone/>
              <a:defRPr sz="2520"/>
            </a:lvl1pPr>
            <a:lvl2pPr marL="480060" indent="0" algn="ctr">
              <a:buNone/>
              <a:defRPr sz="2100"/>
            </a:lvl2pPr>
            <a:lvl3pPr marL="960120" indent="0" algn="ctr">
              <a:buNone/>
              <a:defRPr sz="1890"/>
            </a:lvl3pPr>
            <a:lvl4pPr marL="1440180" indent="0" algn="ctr">
              <a:buNone/>
              <a:defRPr sz="1680"/>
            </a:lvl4pPr>
            <a:lvl5pPr marL="1920240" indent="0" algn="ctr">
              <a:buNone/>
              <a:defRPr sz="1680"/>
            </a:lvl5pPr>
            <a:lvl6pPr marL="2400300" indent="0" algn="ctr">
              <a:buNone/>
              <a:defRPr sz="1680"/>
            </a:lvl6pPr>
            <a:lvl7pPr marL="2880360" indent="0" algn="ctr">
              <a:buNone/>
              <a:defRPr sz="1680"/>
            </a:lvl7pPr>
            <a:lvl8pPr marL="3360420" indent="0" algn="ctr">
              <a:buNone/>
              <a:defRPr sz="1680"/>
            </a:lvl8pPr>
            <a:lvl9pPr marL="3840480" indent="0" algn="ctr">
              <a:buNone/>
              <a:defRPr sz="1680"/>
            </a:lvl9pPr>
          </a:lstStyle>
          <a:p>
            <a:r>
              <a:rPr lang="pt-BR"/>
              <a:t>Clique para editar o estilo do subtítulo Mestre</a:t>
            </a:r>
            <a:endParaRPr lang="en-US" dirty="0"/>
          </a:p>
        </p:txBody>
      </p:sp>
      <p:sp>
        <p:nvSpPr>
          <p:cNvPr id="4" name="Date Placeholder 3"/>
          <p:cNvSpPr>
            <a:spLocks noGrp="1"/>
          </p:cNvSpPr>
          <p:nvPr>
            <p:ph type="dt" sz="half" idx="10"/>
          </p:nvPr>
        </p:nvSpPr>
        <p:spPr/>
        <p:txBody>
          <a:bodyPr/>
          <a:lstStyle/>
          <a:p>
            <a:fld id="{9128C15E-2543-41F5-89EA-34B9095B01BA}" type="datetime1">
              <a:rPr lang="pt-BR" smtClean="0"/>
              <a:t>13/05/2026</a:t>
            </a:fld>
            <a:endParaRPr lang="pt-BR"/>
          </a:p>
        </p:txBody>
      </p:sp>
      <p:sp>
        <p:nvSpPr>
          <p:cNvPr id="5" name="Footer Placeholder 4"/>
          <p:cNvSpPr>
            <a:spLocks noGrp="1"/>
          </p:cNvSpPr>
          <p:nvPr>
            <p:ph type="ftr" sz="quarter" idx="11"/>
          </p:nvPr>
        </p:nvSpPr>
        <p:spPr/>
        <p:txBody>
          <a:bodyPr/>
          <a:lstStyle/>
          <a:p>
            <a:r>
              <a:rPr lang="pt-BR"/>
              <a:t>O DESPERTAR DO GUERREIRO JAVA</a:t>
            </a:r>
          </a:p>
        </p:txBody>
      </p:sp>
      <p:sp>
        <p:nvSpPr>
          <p:cNvPr id="6" name="Slide Number Placeholder 5"/>
          <p:cNvSpPr>
            <a:spLocks noGrp="1"/>
          </p:cNvSpPr>
          <p:nvPr>
            <p:ph type="sldNum" sz="quarter" idx="12"/>
          </p:nvPr>
        </p:nvSpPr>
        <p:spPr/>
        <p:txBody>
          <a:bodyPr/>
          <a:lstStyle/>
          <a:p>
            <a:fld id="{50C1CB04-2BE3-4164-84E0-A56E2E41F695}" type="slidenum">
              <a:rPr lang="pt-BR" smtClean="0"/>
              <a:t>‹nº›</a:t>
            </a:fld>
            <a:endParaRPr lang="pt-BR"/>
          </a:p>
        </p:txBody>
      </p:sp>
    </p:spTree>
    <p:extLst>
      <p:ext uri="{BB962C8B-B14F-4D97-AF65-F5344CB8AC3E}">
        <p14:creationId xmlns:p14="http://schemas.microsoft.com/office/powerpoint/2010/main" val="21399974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35406FAF-F070-414B-8EBD-00F802EEACB6}" type="datetime1">
              <a:rPr lang="pt-BR" smtClean="0"/>
              <a:t>13/05/2026</a:t>
            </a:fld>
            <a:endParaRPr lang="pt-BR"/>
          </a:p>
        </p:txBody>
      </p:sp>
      <p:sp>
        <p:nvSpPr>
          <p:cNvPr id="5" name="Footer Placeholder 4"/>
          <p:cNvSpPr>
            <a:spLocks noGrp="1"/>
          </p:cNvSpPr>
          <p:nvPr>
            <p:ph type="ftr" sz="quarter" idx="11"/>
          </p:nvPr>
        </p:nvSpPr>
        <p:spPr/>
        <p:txBody>
          <a:bodyPr/>
          <a:lstStyle/>
          <a:p>
            <a:r>
              <a:rPr lang="pt-BR"/>
              <a:t>O DESPERTAR DO GUERREIRO JAVA</a:t>
            </a:r>
          </a:p>
        </p:txBody>
      </p:sp>
      <p:sp>
        <p:nvSpPr>
          <p:cNvPr id="6" name="Slide Number Placeholder 5"/>
          <p:cNvSpPr>
            <a:spLocks noGrp="1"/>
          </p:cNvSpPr>
          <p:nvPr>
            <p:ph type="sldNum" sz="quarter" idx="12"/>
          </p:nvPr>
        </p:nvSpPr>
        <p:spPr/>
        <p:txBody>
          <a:bodyPr/>
          <a:lstStyle/>
          <a:p>
            <a:fld id="{50C1CB04-2BE3-4164-84E0-A56E2E41F695}" type="slidenum">
              <a:rPr lang="pt-BR" smtClean="0"/>
              <a:t>‹nº›</a:t>
            </a:fld>
            <a:endParaRPr lang="pt-BR"/>
          </a:p>
        </p:txBody>
      </p:sp>
    </p:spTree>
    <p:extLst>
      <p:ext uri="{BB962C8B-B14F-4D97-AF65-F5344CB8AC3E}">
        <p14:creationId xmlns:p14="http://schemas.microsoft.com/office/powerpoint/2010/main" val="28163825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itle 1"/>
          <p:cNvSpPr>
            <a:spLocks noGrp="1"/>
          </p:cNvSpPr>
          <p:nvPr>
            <p:ph type="title"/>
          </p:nvPr>
        </p:nvSpPr>
        <p:spPr>
          <a:xfrm>
            <a:off x="655082" y="3191514"/>
            <a:ext cx="8281035" cy="5325109"/>
          </a:xfrm>
        </p:spPr>
        <p:txBody>
          <a:bodyPr anchor="b"/>
          <a:lstStyle>
            <a:lvl1pPr>
              <a:defRPr sz="6300"/>
            </a:lvl1pPr>
          </a:lstStyle>
          <a:p>
            <a:r>
              <a:rPr lang="pt-BR"/>
              <a:t>Clique para editar o título Mestre</a:t>
            </a:r>
            <a:endParaRPr lang="en-US" dirty="0"/>
          </a:p>
        </p:txBody>
      </p:sp>
      <p:sp>
        <p:nvSpPr>
          <p:cNvPr id="3" name="Text Placeholder 2"/>
          <p:cNvSpPr>
            <a:spLocks noGrp="1"/>
          </p:cNvSpPr>
          <p:nvPr>
            <p:ph type="body" idx="1"/>
          </p:nvPr>
        </p:nvSpPr>
        <p:spPr>
          <a:xfrm>
            <a:off x="655082" y="8567000"/>
            <a:ext cx="8281035" cy="2800349"/>
          </a:xfrm>
        </p:spPr>
        <p:txBody>
          <a:bodyPr/>
          <a:lstStyle>
            <a:lvl1pPr marL="0" indent="0">
              <a:buNone/>
              <a:defRPr sz="2520">
                <a:solidFill>
                  <a:schemeClr val="tx1">
                    <a:tint val="82000"/>
                  </a:schemeClr>
                </a:solidFill>
              </a:defRPr>
            </a:lvl1pPr>
            <a:lvl2pPr marL="480060" indent="0">
              <a:buNone/>
              <a:defRPr sz="2100">
                <a:solidFill>
                  <a:schemeClr val="tx1">
                    <a:tint val="82000"/>
                  </a:schemeClr>
                </a:solidFill>
              </a:defRPr>
            </a:lvl2pPr>
            <a:lvl3pPr marL="960120" indent="0">
              <a:buNone/>
              <a:defRPr sz="1890">
                <a:solidFill>
                  <a:schemeClr val="tx1">
                    <a:tint val="82000"/>
                  </a:schemeClr>
                </a:solidFill>
              </a:defRPr>
            </a:lvl3pPr>
            <a:lvl4pPr marL="1440180" indent="0">
              <a:buNone/>
              <a:defRPr sz="1680">
                <a:solidFill>
                  <a:schemeClr val="tx1">
                    <a:tint val="82000"/>
                  </a:schemeClr>
                </a:solidFill>
              </a:defRPr>
            </a:lvl4pPr>
            <a:lvl5pPr marL="1920240" indent="0">
              <a:buNone/>
              <a:defRPr sz="1680">
                <a:solidFill>
                  <a:schemeClr val="tx1">
                    <a:tint val="82000"/>
                  </a:schemeClr>
                </a:solidFill>
              </a:defRPr>
            </a:lvl5pPr>
            <a:lvl6pPr marL="2400300" indent="0">
              <a:buNone/>
              <a:defRPr sz="1680">
                <a:solidFill>
                  <a:schemeClr val="tx1">
                    <a:tint val="82000"/>
                  </a:schemeClr>
                </a:solidFill>
              </a:defRPr>
            </a:lvl6pPr>
            <a:lvl7pPr marL="2880360" indent="0">
              <a:buNone/>
              <a:defRPr sz="1680">
                <a:solidFill>
                  <a:schemeClr val="tx1">
                    <a:tint val="82000"/>
                  </a:schemeClr>
                </a:solidFill>
              </a:defRPr>
            </a:lvl7pPr>
            <a:lvl8pPr marL="3360420" indent="0">
              <a:buNone/>
              <a:defRPr sz="1680">
                <a:solidFill>
                  <a:schemeClr val="tx1">
                    <a:tint val="82000"/>
                  </a:schemeClr>
                </a:solidFill>
              </a:defRPr>
            </a:lvl8pPr>
            <a:lvl9pPr marL="3840480" indent="0">
              <a:buNone/>
              <a:defRPr sz="1680">
                <a:solidFill>
                  <a:schemeClr val="tx1">
                    <a:tint val="82000"/>
                  </a:schemeClr>
                </a:solidFill>
              </a:defRPr>
            </a:lvl9pPr>
          </a:lstStyle>
          <a:p>
            <a:pPr lvl="0"/>
            <a:r>
              <a:rPr lang="pt-BR"/>
              <a:t>Clique para editar os estilos de texto Mestres</a:t>
            </a:r>
          </a:p>
        </p:txBody>
      </p:sp>
      <p:sp>
        <p:nvSpPr>
          <p:cNvPr id="4" name="Date Placeholder 3"/>
          <p:cNvSpPr>
            <a:spLocks noGrp="1"/>
          </p:cNvSpPr>
          <p:nvPr>
            <p:ph type="dt" sz="half" idx="10"/>
          </p:nvPr>
        </p:nvSpPr>
        <p:spPr/>
        <p:txBody>
          <a:bodyPr/>
          <a:lstStyle/>
          <a:p>
            <a:fld id="{44641AF3-7D92-4E0C-B0B6-F0E78B509504}" type="datetime1">
              <a:rPr lang="pt-BR" smtClean="0"/>
              <a:t>13/05/2026</a:t>
            </a:fld>
            <a:endParaRPr lang="pt-BR"/>
          </a:p>
        </p:txBody>
      </p:sp>
      <p:sp>
        <p:nvSpPr>
          <p:cNvPr id="5" name="Footer Placeholder 4"/>
          <p:cNvSpPr>
            <a:spLocks noGrp="1"/>
          </p:cNvSpPr>
          <p:nvPr>
            <p:ph type="ftr" sz="quarter" idx="11"/>
          </p:nvPr>
        </p:nvSpPr>
        <p:spPr/>
        <p:txBody>
          <a:bodyPr/>
          <a:lstStyle/>
          <a:p>
            <a:r>
              <a:rPr lang="pt-BR"/>
              <a:t>O DESPERTAR DO GUERREIRO JAVA</a:t>
            </a:r>
          </a:p>
        </p:txBody>
      </p:sp>
      <p:sp>
        <p:nvSpPr>
          <p:cNvPr id="6" name="Slide Number Placeholder 5"/>
          <p:cNvSpPr>
            <a:spLocks noGrp="1"/>
          </p:cNvSpPr>
          <p:nvPr>
            <p:ph type="sldNum" sz="quarter" idx="12"/>
          </p:nvPr>
        </p:nvSpPr>
        <p:spPr/>
        <p:txBody>
          <a:bodyPr/>
          <a:lstStyle/>
          <a:p>
            <a:fld id="{50C1CB04-2BE3-4164-84E0-A56E2E41F695}" type="slidenum">
              <a:rPr lang="pt-BR" smtClean="0"/>
              <a:t>‹nº›</a:t>
            </a:fld>
            <a:endParaRPr lang="pt-BR"/>
          </a:p>
        </p:txBody>
      </p:sp>
    </p:spTree>
    <p:extLst>
      <p:ext uri="{BB962C8B-B14F-4D97-AF65-F5344CB8AC3E}">
        <p14:creationId xmlns:p14="http://schemas.microsoft.com/office/powerpoint/2010/main" val="6331054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sz="half" idx="1"/>
          </p:nvPr>
        </p:nvSpPr>
        <p:spPr>
          <a:xfrm>
            <a:off x="660083" y="3407833"/>
            <a:ext cx="4080510" cy="812249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Content Placeholder 3"/>
          <p:cNvSpPr>
            <a:spLocks noGrp="1"/>
          </p:cNvSpPr>
          <p:nvPr>
            <p:ph sz="half" idx="2"/>
          </p:nvPr>
        </p:nvSpPr>
        <p:spPr>
          <a:xfrm>
            <a:off x="4860608" y="3407833"/>
            <a:ext cx="4080510" cy="812249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Date Placeholder 4"/>
          <p:cNvSpPr>
            <a:spLocks noGrp="1"/>
          </p:cNvSpPr>
          <p:nvPr>
            <p:ph type="dt" sz="half" idx="10"/>
          </p:nvPr>
        </p:nvSpPr>
        <p:spPr/>
        <p:txBody>
          <a:bodyPr/>
          <a:lstStyle/>
          <a:p>
            <a:fld id="{C9DC600B-F37A-47A5-8444-B64035469443}" type="datetime1">
              <a:rPr lang="pt-BR" smtClean="0"/>
              <a:t>13/05/2026</a:t>
            </a:fld>
            <a:endParaRPr lang="pt-BR"/>
          </a:p>
        </p:txBody>
      </p:sp>
      <p:sp>
        <p:nvSpPr>
          <p:cNvPr id="6" name="Footer Placeholder 5"/>
          <p:cNvSpPr>
            <a:spLocks noGrp="1"/>
          </p:cNvSpPr>
          <p:nvPr>
            <p:ph type="ftr" sz="quarter" idx="11"/>
          </p:nvPr>
        </p:nvSpPr>
        <p:spPr/>
        <p:txBody>
          <a:bodyPr/>
          <a:lstStyle/>
          <a:p>
            <a:r>
              <a:rPr lang="pt-BR"/>
              <a:t>O DESPERTAR DO GUERREIRO JAVA</a:t>
            </a:r>
          </a:p>
        </p:txBody>
      </p:sp>
      <p:sp>
        <p:nvSpPr>
          <p:cNvPr id="7" name="Slide Number Placeholder 6"/>
          <p:cNvSpPr>
            <a:spLocks noGrp="1"/>
          </p:cNvSpPr>
          <p:nvPr>
            <p:ph type="sldNum" sz="quarter" idx="12"/>
          </p:nvPr>
        </p:nvSpPr>
        <p:spPr/>
        <p:txBody>
          <a:bodyPr/>
          <a:lstStyle/>
          <a:p>
            <a:fld id="{50C1CB04-2BE3-4164-84E0-A56E2E41F695}" type="slidenum">
              <a:rPr lang="pt-BR" smtClean="0"/>
              <a:t>‹nº›</a:t>
            </a:fld>
            <a:endParaRPr lang="pt-BR"/>
          </a:p>
        </p:txBody>
      </p:sp>
    </p:spTree>
    <p:extLst>
      <p:ext uri="{BB962C8B-B14F-4D97-AF65-F5344CB8AC3E}">
        <p14:creationId xmlns:p14="http://schemas.microsoft.com/office/powerpoint/2010/main" val="35732191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itle 1"/>
          <p:cNvSpPr>
            <a:spLocks noGrp="1"/>
          </p:cNvSpPr>
          <p:nvPr>
            <p:ph type="title"/>
          </p:nvPr>
        </p:nvSpPr>
        <p:spPr>
          <a:xfrm>
            <a:off x="661333" y="681570"/>
            <a:ext cx="8281035" cy="2474384"/>
          </a:xfrm>
        </p:spPr>
        <p:txBody>
          <a:bodyPr/>
          <a:lstStyle/>
          <a:p>
            <a:r>
              <a:rPr lang="pt-BR"/>
              <a:t>Clique para editar o título Mestre</a:t>
            </a:r>
            <a:endParaRPr lang="en-US" dirty="0"/>
          </a:p>
        </p:txBody>
      </p:sp>
      <p:sp>
        <p:nvSpPr>
          <p:cNvPr id="3" name="Text Placeholder 2"/>
          <p:cNvSpPr>
            <a:spLocks noGrp="1"/>
          </p:cNvSpPr>
          <p:nvPr>
            <p:ph type="body" idx="1"/>
          </p:nvPr>
        </p:nvSpPr>
        <p:spPr>
          <a:xfrm>
            <a:off x="661334" y="3138171"/>
            <a:ext cx="4061757" cy="1537969"/>
          </a:xfrm>
        </p:spPr>
        <p:txBody>
          <a:bodyPr anchor="b"/>
          <a:lstStyle>
            <a:lvl1pPr marL="0" indent="0">
              <a:buNone/>
              <a:defRPr sz="2520" b="1"/>
            </a:lvl1pPr>
            <a:lvl2pPr marL="480060" indent="0">
              <a:buNone/>
              <a:defRPr sz="2100" b="1"/>
            </a:lvl2pPr>
            <a:lvl3pPr marL="960120" indent="0">
              <a:buNone/>
              <a:defRPr sz="1890" b="1"/>
            </a:lvl3pPr>
            <a:lvl4pPr marL="1440180" indent="0">
              <a:buNone/>
              <a:defRPr sz="1680" b="1"/>
            </a:lvl4pPr>
            <a:lvl5pPr marL="1920240" indent="0">
              <a:buNone/>
              <a:defRPr sz="1680" b="1"/>
            </a:lvl5pPr>
            <a:lvl6pPr marL="2400300" indent="0">
              <a:buNone/>
              <a:defRPr sz="1680" b="1"/>
            </a:lvl6pPr>
            <a:lvl7pPr marL="2880360" indent="0">
              <a:buNone/>
              <a:defRPr sz="1680" b="1"/>
            </a:lvl7pPr>
            <a:lvl8pPr marL="3360420" indent="0">
              <a:buNone/>
              <a:defRPr sz="1680" b="1"/>
            </a:lvl8pPr>
            <a:lvl9pPr marL="3840480" indent="0">
              <a:buNone/>
              <a:defRPr sz="1680" b="1"/>
            </a:lvl9pPr>
          </a:lstStyle>
          <a:p>
            <a:pPr lvl="0"/>
            <a:r>
              <a:rPr lang="pt-BR"/>
              <a:t>Clique para editar os estilos de texto Mestres</a:t>
            </a:r>
          </a:p>
        </p:txBody>
      </p:sp>
      <p:sp>
        <p:nvSpPr>
          <p:cNvPr id="4" name="Content Placeholder 3"/>
          <p:cNvSpPr>
            <a:spLocks noGrp="1"/>
          </p:cNvSpPr>
          <p:nvPr>
            <p:ph sz="half" idx="2"/>
          </p:nvPr>
        </p:nvSpPr>
        <p:spPr>
          <a:xfrm>
            <a:off x="661334" y="4676140"/>
            <a:ext cx="4061757" cy="687789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Text Placeholder 4"/>
          <p:cNvSpPr>
            <a:spLocks noGrp="1"/>
          </p:cNvSpPr>
          <p:nvPr>
            <p:ph type="body" sz="quarter" idx="3"/>
          </p:nvPr>
        </p:nvSpPr>
        <p:spPr>
          <a:xfrm>
            <a:off x="4860608" y="3138171"/>
            <a:ext cx="4081761" cy="1537969"/>
          </a:xfrm>
        </p:spPr>
        <p:txBody>
          <a:bodyPr anchor="b"/>
          <a:lstStyle>
            <a:lvl1pPr marL="0" indent="0">
              <a:buNone/>
              <a:defRPr sz="2520" b="1"/>
            </a:lvl1pPr>
            <a:lvl2pPr marL="480060" indent="0">
              <a:buNone/>
              <a:defRPr sz="2100" b="1"/>
            </a:lvl2pPr>
            <a:lvl3pPr marL="960120" indent="0">
              <a:buNone/>
              <a:defRPr sz="1890" b="1"/>
            </a:lvl3pPr>
            <a:lvl4pPr marL="1440180" indent="0">
              <a:buNone/>
              <a:defRPr sz="1680" b="1"/>
            </a:lvl4pPr>
            <a:lvl5pPr marL="1920240" indent="0">
              <a:buNone/>
              <a:defRPr sz="1680" b="1"/>
            </a:lvl5pPr>
            <a:lvl6pPr marL="2400300" indent="0">
              <a:buNone/>
              <a:defRPr sz="1680" b="1"/>
            </a:lvl6pPr>
            <a:lvl7pPr marL="2880360" indent="0">
              <a:buNone/>
              <a:defRPr sz="1680" b="1"/>
            </a:lvl7pPr>
            <a:lvl8pPr marL="3360420" indent="0">
              <a:buNone/>
              <a:defRPr sz="1680" b="1"/>
            </a:lvl8pPr>
            <a:lvl9pPr marL="3840480" indent="0">
              <a:buNone/>
              <a:defRPr sz="1680" b="1"/>
            </a:lvl9pPr>
          </a:lstStyle>
          <a:p>
            <a:pPr lvl="0"/>
            <a:r>
              <a:rPr lang="pt-BR"/>
              <a:t>Clique para editar os estilos de texto Mestres</a:t>
            </a:r>
          </a:p>
        </p:txBody>
      </p:sp>
      <p:sp>
        <p:nvSpPr>
          <p:cNvPr id="6" name="Content Placeholder 5"/>
          <p:cNvSpPr>
            <a:spLocks noGrp="1"/>
          </p:cNvSpPr>
          <p:nvPr>
            <p:ph sz="quarter" idx="4"/>
          </p:nvPr>
        </p:nvSpPr>
        <p:spPr>
          <a:xfrm>
            <a:off x="4860608" y="4676140"/>
            <a:ext cx="4081761" cy="687789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7" name="Date Placeholder 6"/>
          <p:cNvSpPr>
            <a:spLocks noGrp="1"/>
          </p:cNvSpPr>
          <p:nvPr>
            <p:ph type="dt" sz="half" idx="10"/>
          </p:nvPr>
        </p:nvSpPr>
        <p:spPr/>
        <p:txBody>
          <a:bodyPr/>
          <a:lstStyle/>
          <a:p>
            <a:fld id="{83395CFB-070C-40E2-8B27-7829E3A0112A}" type="datetime1">
              <a:rPr lang="pt-BR" smtClean="0"/>
              <a:t>13/05/2026</a:t>
            </a:fld>
            <a:endParaRPr lang="pt-BR"/>
          </a:p>
        </p:txBody>
      </p:sp>
      <p:sp>
        <p:nvSpPr>
          <p:cNvPr id="8" name="Footer Placeholder 7"/>
          <p:cNvSpPr>
            <a:spLocks noGrp="1"/>
          </p:cNvSpPr>
          <p:nvPr>
            <p:ph type="ftr" sz="quarter" idx="11"/>
          </p:nvPr>
        </p:nvSpPr>
        <p:spPr/>
        <p:txBody>
          <a:bodyPr/>
          <a:lstStyle/>
          <a:p>
            <a:r>
              <a:rPr lang="pt-BR"/>
              <a:t>O DESPERTAR DO GUERREIRO JAVA</a:t>
            </a:r>
          </a:p>
        </p:txBody>
      </p:sp>
      <p:sp>
        <p:nvSpPr>
          <p:cNvPr id="9" name="Slide Number Placeholder 8"/>
          <p:cNvSpPr>
            <a:spLocks noGrp="1"/>
          </p:cNvSpPr>
          <p:nvPr>
            <p:ph type="sldNum" sz="quarter" idx="12"/>
          </p:nvPr>
        </p:nvSpPr>
        <p:spPr/>
        <p:txBody>
          <a:bodyPr/>
          <a:lstStyle/>
          <a:p>
            <a:fld id="{50C1CB04-2BE3-4164-84E0-A56E2E41F695}" type="slidenum">
              <a:rPr lang="pt-BR" smtClean="0"/>
              <a:t>‹nº›</a:t>
            </a:fld>
            <a:endParaRPr lang="pt-BR"/>
          </a:p>
        </p:txBody>
      </p:sp>
    </p:spTree>
    <p:extLst>
      <p:ext uri="{BB962C8B-B14F-4D97-AF65-F5344CB8AC3E}">
        <p14:creationId xmlns:p14="http://schemas.microsoft.com/office/powerpoint/2010/main" val="12349113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Date Placeholder 2"/>
          <p:cNvSpPr>
            <a:spLocks noGrp="1"/>
          </p:cNvSpPr>
          <p:nvPr>
            <p:ph type="dt" sz="half" idx="10"/>
          </p:nvPr>
        </p:nvSpPr>
        <p:spPr/>
        <p:txBody>
          <a:bodyPr/>
          <a:lstStyle/>
          <a:p>
            <a:fld id="{A6907A70-E129-4ADD-8065-0511F76B3236}" type="datetime1">
              <a:rPr lang="pt-BR" smtClean="0"/>
              <a:t>13/05/2026</a:t>
            </a:fld>
            <a:endParaRPr lang="pt-BR"/>
          </a:p>
        </p:txBody>
      </p:sp>
      <p:sp>
        <p:nvSpPr>
          <p:cNvPr id="4" name="Footer Placeholder 3"/>
          <p:cNvSpPr>
            <a:spLocks noGrp="1"/>
          </p:cNvSpPr>
          <p:nvPr>
            <p:ph type="ftr" sz="quarter" idx="11"/>
          </p:nvPr>
        </p:nvSpPr>
        <p:spPr/>
        <p:txBody>
          <a:bodyPr/>
          <a:lstStyle/>
          <a:p>
            <a:r>
              <a:rPr lang="pt-BR"/>
              <a:t>O DESPERTAR DO GUERREIRO JAVA</a:t>
            </a:r>
          </a:p>
        </p:txBody>
      </p:sp>
      <p:sp>
        <p:nvSpPr>
          <p:cNvPr id="5" name="Slide Number Placeholder 4"/>
          <p:cNvSpPr>
            <a:spLocks noGrp="1"/>
          </p:cNvSpPr>
          <p:nvPr>
            <p:ph type="sldNum" sz="quarter" idx="12"/>
          </p:nvPr>
        </p:nvSpPr>
        <p:spPr/>
        <p:txBody>
          <a:bodyPr/>
          <a:lstStyle/>
          <a:p>
            <a:fld id="{50C1CB04-2BE3-4164-84E0-A56E2E41F695}" type="slidenum">
              <a:rPr lang="pt-BR" smtClean="0"/>
              <a:t>‹nº›</a:t>
            </a:fld>
            <a:endParaRPr lang="pt-BR"/>
          </a:p>
        </p:txBody>
      </p:sp>
    </p:spTree>
    <p:extLst>
      <p:ext uri="{BB962C8B-B14F-4D97-AF65-F5344CB8AC3E}">
        <p14:creationId xmlns:p14="http://schemas.microsoft.com/office/powerpoint/2010/main" val="35161355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CDC9EDB-A8B1-47C1-894F-97B8125CE7BF}" type="datetime1">
              <a:rPr lang="pt-BR" smtClean="0"/>
              <a:t>13/05/2026</a:t>
            </a:fld>
            <a:endParaRPr lang="pt-BR"/>
          </a:p>
        </p:txBody>
      </p:sp>
      <p:sp>
        <p:nvSpPr>
          <p:cNvPr id="3" name="Footer Placeholder 2"/>
          <p:cNvSpPr>
            <a:spLocks noGrp="1"/>
          </p:cNvSpPr>
          <p:nvPr>
            <p:ph type="ftr" sz="quarter" idx="11"/>
          </p:nvPr>
        </p:nvSpPr>
        <p:spPr/>
        <p:txBody>
          <a:bodyPr/>
          <a:lstStyle/>
          <a:p>
            <a:r>
              <a:rPr lang="pt-BR"/>
              <a:t>O DESPERTAR DO GUERREIRO JAVA</a:t>
            </a:r>
          </a:p>
        </p:txBody>
      </p:sp>
      <p:sp>
        <p:nvSpPr>
          <p:cNvPr id="4" name="Slide Number Placeholder 3"/>
          <p:cNvSpPr>
            <a:spLocks noGrp="1"/>
          </p:cNvSpPr>
          <p:nvPr>
            <p:ph type="sldNum" sz="quarter" idx="12"/>
          </p:nvPr>
        </p:nvSpPr>
        <p:spPr/>
        <p:txBody>
          <a:bodyPr/>
          <a:lstStyle/>
          <a:p>
            <a:fld id="{50C1CB04-2BE3-4164-84E0-A56E2E41F695}" type="slidenum">
              <a:rPr lang="pt-BR" smtClean="0"/>
              <a:t>‹nº›</a:t>
            </a:fld>
            <a:endParaRPr lang="pt-BR"/>
          </a:p>
        </p:txBody>
      </p:sp>
    </p:spTree>
    <p:extLst>
      <p:ext uri="{BB962C8B-B14F-4D97-AF65-F5344CB8AC3E}">
        <p14:creationId xmlns:p14="http://schemas.microsoft.com/office/powerpoint/2010/main" val="18703560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661333" y="853440"/>
            <a:ext cx="3096637" cy="2987040"/>
          </a:xfrm>
        </p:spPr>
        <p:txBody>
          <a:bodyPr anchor="b"/>
          <a:lstStyle>
            <a:lvl1pPr>
              <a:defRPr sz="3360"/>
            </a:lvl1pPr>
          </a:lstStyle>
          <a:p>
            <a:r>
              <a:rPr lang="pt-BR"/>
              <a:t>Clique para editar o título Mestre</a:t>
            </a:r>
            <a:endParaRPr lang="en-US" dirty="0"/>
          </a:p>
        </p:txBody>
      </p:sp>
      <p:sp>
        <p:nvSpPr>
          <p:cNvPr id="3" name="Content Placeholder 2"/>
          <p:cNvSpPr>
            <a:spLocks noGrp="1"/>
          </p:cNvSpPr>
          <p:nvPr>
            <p:ph idx="1"/>
          </p:nvPr>
        </p:nvSpPr>
        <p:spPr>
          <a:xfrm>
            <a:off x="4081760" y="1843196"/>
            <a:ext cx="4860608" cy="9097433"/>
          </a:xfrm>
        </p:spPr>
        <p:txBody>
          <a:bodyPr/>
          <a:lstStyle>
            <a:lvl1pPr>
              <a:defRPr sz="3360"/>
            </a:lvl1pPr>
            <a:lvl2pPr>
              <a:defRPr sz="2940"/>
            </a:lvl2pPr>
            <a:lvl3pPr>
              <a:defRPr sz="2520"/>
            </a:lvl3pPr>
            <a:lvl4pPr>
              <a:defRPr sz="2100"/>
            </a:lvl4pPr>
            <a:lvl5pPr>
              <a:defRPr sz="2100"/>
            </a:lvl5pPr>
            <a:lvl6pPr>
              <a:defRPr sz="2100"/>
            </a:lvl6pPr>
            <a:lvl7pPr>
              <a:defRPr sz="2100"/>
            </a:lvl7pPr>
            <a:lvl8pPr>
              <a:defRPr sz="2100"/>
            </a:lvl8pPr>
            <a:lvl9pPr>
              <a:defRPr sz="21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Text Placeholder 3"/>
          <p:cNvSpPr>
            <a:spLocks noGrp="1"/>
          </p:cNvSpPr>
          <p:nvPr>
            <p:ph type="body" sz="half" idx="2"/>
          </p:nvPr>
        </p:nvSpPr>
        <p:spPr>
          <a:xfrm>
            <a:off x="661333" y="3840480"/>
            <a:ext cx="3096637" cy="7114964"/>
          </a:xfrm>
        </p:spPr>
        <p:txBody>
          <a:bodyPr/>
          <a:lstStyle>
            <a:lvl1pPr marL="0" indent="0">
              <a:buNone/>
              <a:defRPr sz="1680"/>
            </a:lvl1pPr>
            <a:lvl2pPr marL="480060" indent="0">
              <a:buNone/>
              <a:defRPr sz="1470"/>
            </a:lvl2pPr>
            <a:lvl3pPr marL="960120" indent="0">
              <a:buNone/>
              <a:defRPr sz="1260"/>
            </a:lvl3pPr>
            <a:lvl4pPr marL="1440180" indent="0">
              <a:buNone/>
              <a:defRPr sz="1050"/>
            </a:lvl4pPr>
            <a:lvl5pPr marL="1920240" indent="0">
              <a:buNone/>
              <a:defRPr sz="1050"/>
            </a:lvl5pPr>
            <a:lvl6pPr marL="2400300" indent="0">
              <a:buNone/>
              <a:defRPr sz="1050"/>
            </a:lvl6pPr>
            <a:lvl7pPr marL="2880360" indent="0">
              <a:buNone/>
              <a:defRPr sz="1050"/>
            </a:lvl7pPr>
            <a:lvl8pPr marL="3360420" indent="0">
              <a:buNone/>
              <a:defRPr sz="1050"/>
            </a:lvl8pPr>
            <a:lvl9pPr marL="3840480" indent="0">
              <a:buNone/>
              <a:defRPr sz="105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CF477067-DC1E-4FE8-B81E-D69D67BF34DF}" type="datetime1">
              <a:rPr lang="pt-BR" smtClean="0"/>
              <a:t>13/05/2026</a:t>
            </a:fld>
            <a:endParaRPr lang="pt-BR"/>
          </a:p>
        </p:txBody>
      </p:sp>
      <p:sp>
        <p:nvSpPr>
          <p:cNvPr id="6" name="Footer Placeholder 5"/>
          <p:cNvSpPr>
            <a:spLocks noGrp="1"/>
          </p:cNvSpPr>
          <p:nvPr>
            <p:ph type="ftr" sz="quarter" idx="11"/>
          </p:nvPr>
        </p:nvSpPr>
        <p:spPr/>
        <p:txBody>
          <a:bodyPr/>
          <a:lstStyle/>
          <a:p>
            <a:r>
              <a:rPr lang="pt-BR"/>
              <a:t>O DESPERTAR DO GUERREIRO JAVA</a:t>
            </a:r>
          </a:p>
        </p:txBody>
      </p:sp>
      <p:sp>
        <p:nvSpPr>
          <p:cNvPr id="7" name="Slide Number Placeholder 6"/>
          <p:cNvSpPr>
            <a:spLocks noGrp="1"/>
          </p:cNvSpPr>
          <p:nvPr>
            <p:ph type="sldNum" sz="quarter" idx="12"/>
          </p:nvPr>
        </p:nvSpPr>
        <p:spPr/>
        <p:txBody>
          <a:bodyPr/>
          <a:lstStyle/>
          <a:p>
            <a:fld id="{50C1CB04-2BE3-4164-84E0-A56E2E41F695}" type="slidenum">
              <a:rPr lang="pt-BR" smtClean="0"/>
              <a:t>‹nº›</a:t>
            </a:fld>
            <a:endParaRPr lang="pt-BR"/>
          </a:p>
        </p:txBody>
      </p:sp>
    </p:spTree>
    <p:extLst>
      <p:ext uri="{BB962C8B-B14F-4D97-AF65-F5344CB8AC3E}">
        <p14:creationId xmlns:p14="http://schemas.microsoft.com/office/powerpoint/2010/main" val="24517223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661333" y="853440"/>
            <a:ext cx="3096637" cy="2987040"/>
          </a:xfrm>
        </p:spPr>
        <p:txBody>
          <a:bodyPr anchor="b"/>
          <a:lstStyle>
            <a:lvl1pPr>
              <a:defRPr sz="3360"/>
            </a:lvl1pPr>
          </a:lstStyle>
          <a:p>
            <a:r>
              <a:rPr lang="pt-BR"/>
              <a:t>Clique para editar o título Mestre</a:t>
            </a:r>
            <a:endParaRPr lang="en-US" dirty="0"/>
          </a:p>
        </p:txBody>
      </p:sp>
      <p:sp>
        <p:nvSpPr>
          <p:cNvPr id="3" name="Picture Placeholder 2"/>
          <p:cNvSpPr>
            <a:spLocks noGrp="1" noChangeAspect="1"/>
          </p:cNvSpPr>
          <p:nvPr>
            <p:ph type="pic" idx="1"/>
          </p:nvPr>
        </p:nvSpPr>
        <p:spPr>
          <a:xfrm>
            <a:off x="4081760" y="1843196"/>
            <a:ext cx="4860608" cy="9097433"/>
          </a:xfrm>
        </p:spPr>
        <p:txBody>
          <a:bodyPr anchor="t"/>
          <a:lstStyle>
            <a:lvl1pPr marL="0" indent="0">
              <a:buNone/>
              <a:defRPr sz="3360"/>
            </a:lvl1pPr>
            <a:lvl2pPr marL="480060" indent="0">
              <a:buNone/>
              <a:defRPr sz="2940"/>
            </a:lvl2pPr>
            <a:lvl3pPr marL="960120" indent="0">
              <a:buNone/>
              <a:defRPr sz="2520"/>
            </a:lvl3pPr>
            <a:lvl4pPr marL="1440180" indent="0">
              <a:buNone/>
              <a:defRPr sz="2100"/>
            </a:lvl4pPr>
            <a:lvl5pPr marL="1920240" indent="0">
              <a:buNone/>
              <a:defRPr sz="2100"/>
            </a:lvl5pPr>
            <a:lvl6pPr marL="2400300" indent="0">
              <a:buNone/>
              <a:defRPr sz="2100"/>
            </a:lvl6pPr>
            <a:lvl7pPr marL="2880360" indent="0">
              <a:buNone/>
              <a:defRPr sz="2100"/>
            </a:lvl7pPr>
            <a:lvl8pPr marL="3360420" indent="0">
              <a:buNone/>
              <a:defRPr sz="2100"/>
            </a:lvl8pPr>
            <a:lvl9pPr marL="3840480" indent="0">
              <a:buNone/>
              <a:defRPr sz="2100"/>
            </a:lvl9pPr>
          </a:lstStyle>
          <a:p>
            <a:r>
              <a:rPr lang="pt-BR"/>
              <a:t>Clique no ícone para adicionar uma imagem</a:t>
            </a:r>
            <a:endParaRPr lang="en-US" dirty="0"/>
          </a:p>
        </p:txBody>
      </p:sp>
      <p:sp>
        <p:nvSpPr>
          <p:cNvPr id="4" name="Text Placeholder 3"/>
          <p:cNvSpPr>
            <a:spLocks noGrp="1"/>
          </p:cNvSpPr>
          <p:nvPr>
            <p:ph type="body" sz="half" idx="2"/>
          </p:nvPr>
        </p:nvSpPr>
        <p:spPr>
          <a:xfrm>
            <a:off x="661333" y="3840480"/>
            <a:ext cx="3096637" cy="7114964"/>
          </a:xfrm>
        </p:spPr>
        <p:txBody>
          <a:bodyPr/>
          <a:lstStyle>
            <a:lvl1pPr marL="0" indent="0">
              <a:buNone/>
              <a:defRPr sz="1680"/>
            </a:lvl1pPr>
            <a:lvl2pPr marL="480060" indent="0">
              <a:buNone/>
              <a:defRPr sz="1470"/>
            </a:lvl2pPr>
            <a:lvl3pPr marL="960120" indent="0">
              <a:buNone/>
              <a:defRPr sz="1260"/>
            </a:lvl3pPr>
            <a:lvl4pPr marL="1440180" indent="0">
              <a:buNone/>
              <a:defRPr sz="1050"/>
            </a:lvl4pPr>
            <a:lvl5pPr marL="1920240" indent="0">
              <a:buNone/>
              <a:defRPr sz="1050"/>
            </a:lvl5pPr>
            <a:lvl6pPr marL="2400300" indent="0">
              <a:buNone/>
              <a:defRPr sz="1050"/>
            </a:lvl6pPr>
            <a:lvl7pPr marL="2880360" indent="0">
              <a:buNone/>
              <a:defRPr sz="1050"/>
            </a:lvl7pPr>
            <a:lvl8pPr marL="3360420" indent="0">
              <a:buNone/>
              <a:defRPr sz="1050"/>
            </a:lvl8pPr>
            <a:lvl9pPr marL="3840480" indent="0">
              <a:buNone/>
              <a:defRPr sz="105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60B59DFE-1D89-43F6-94E3-45852985E924}" type="datetime1">
              <a:rPr lang="pt-BR" smtClean="0"/>
              <a:t>13/05/2026</a:t>
            </a:fld>
            <a:endParaRPr lang="pt-BR"/>
          </a:p>
        </p:txBody>
      </p:sp>
      <p:sp>
        <p:nvSpPr>
          <p:cNvPr id="6" name="Footer Placeholder 5"/>
          <p:cNvSpPr>
            <a:spLocks noGrp="1"/>
          </p:cNvSpPr>
          <p:nvPr>
            <p:ph type="ftr" sz="quarter" idx="11"/>
          </p:nvPr>
        </p:nvSpPr>
        <p:spPr/>
        <p:txBody>
          <a:bodyPr/>
          <a:lstStyle/>
          <a:p>
            <a:r>
              <a:rPr lang="pt-BR"/>
              <a:t>O DESPERTAR DO GUERREIRO JAVA</a:t>
            </a:r>
          </a:p>
        </p:txBody>
      </p:sp>
      <p:sp>
        <p:nvSpPr>
          <p:cNvPr id="7" name="Slide Number Placeholder 6"/>
          <p:cNvSpPr>
            <a:spLocks noGrp="1"/>
          </p:cNvSpPr>
          <p:nvPr>
            <p:ph type="sldNum" sz="quarter" idx="12"/>
          </p:nvPr>
        </p:nvSpPr>
        <p:spPr/>
        <p:txBody>
          <a:bodyPr/>
          <a:lstStyle/>
          <a:p>
            <a:fld id="{50C1CB04-2BE3-4164-84E0-A56E2E41F695}" type="slidenum">
              <a:rPr lang="pt-BR" smtClean="0"/>
              <a:t>‹nº›</a:t>
            </a:fld>
            <a:endParaRPr lang="pt-BR"/>
          </a:p>
        </p:txBody>
      </p:sp>
    </p:spTree>
    <p:extLst>
      <p:ext uri="{BB962C8B-B14F-4D97-AF65-F5344CB8AC3E}">
        <p14:creationId xmlns:p14="http://schemas.microsoft.com/office/powerpoint/2010/main" val="16717021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Vertical Text Placeholder 2"/>
          <p:cNvSpPr>
            <a:spLocks noGrp="1"/>
          </p:cNvSpPr>
          <p:nvPr>
            <p:ph type="body" orient="vert" idx="1"/>
          </p:nvPr>
        </p:nvSpPr>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0EE5FCB6-076C-4359-94D3-32DF2EFC15EB}" type="datetime1">
              <a:rPr lang="pt-BR" smtClean="0"/>
              <a:t>13/05/2026</a:t>
            </a:fld>
            <a:endParaRPr lang="pt-BR"/>
          </a:p>
        </p:txBody>
      </p:sp>
      <p:sp>
        <p:nvSpPr>
          <p:cNvPr id="5" name="Footer Placeholder 4"/>
          <p:cNvSpPr>
            <a:spLocks noGrp="1"/>
          </p:cNvSpPr>
          <p:nvPr>
            <p:ph type="ftr" sz="quarter" idx="11"/>
          </p:nvPr>
        </p:nvSpPr>
        <p:spPr/>
        <p:txBody>
          <a:bodyPr/>
          <a:lstStyle/>
          <a:p>
            <a:r>
              <a:rPr lang="pt-BR"/>
              <a:t>O DESPERTAR DO GUERREIRO JAVA</a:t>
            </a:r>
          </a:p>
        </p:txBody>
      </p:sp>
      <p:sp>
        <p:nvSpPr>
          <p:cNvPr id="6" name="Slide Number Placeholder 5"/>
          <p:cNvSpPr>
            <a:spLocks noGrp="1"/>
          </p:cNvSpPr>
          <p:nvPr>
            <p:ph type="sldNum" sz="quarter" idx="12"/>
          </p:nvPr>
        </p:nvSpPr>
        <p:spPr/>
        <p:txBody>
          <a:bodyPr/>
          <a:lstStyle/>
          <a:p>
            <a:fld id="{50C1CB04-2BE3-4164-84E0-A56E2E41F695}" type="slidenum">
              <a:rPr lang="pt-BR" smtClean="0"/>
              <a:t>‹nº›</a:t>
            </a:fld>
            <a:endParaRPr lang="pt-BR"/>
          </a:p>
        </p:txBody>
      </p:sp>
    </p:spTree>
    <p:extLst>
      <p:ext uri="{BB962C8B-B14F-4D97-AF65-F5344CB8AC3E}">
        <p14:creationId xmlns:p14="http://schemas.microsoft.com/office/powerpoint/2010/main" val="5372341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70859" y="681567"/>
            <a:ext cx="2070259" cy="10848764"/>
          </a:xfrm>
        </p:spPr>
        <p:txBody>
          <a:bodyPr vert="eaVert"/>
          <a:lstStyle/>
          <a:p>
            <a:r>
              <a:rPr lang="pt-BR"/>
              <a:t>Clique para editar o título Mestre</a:t>
            </a:r>
            <a:endParaRPr lang="en-US" dirty="0"/>
          </a:p>
        </p:txBody>
      </p:sp>
      <p:sp>
        <p:nvSpPr>
          <p:cNvPr id="3" name="Vertical Text Placeholder 2"/>
          <p:cNvSpPr>
            <a:spLocks noGrp="1"/>
          </p:cNvSpPr>
          <p:nvPr>
            <p:ph type="body" orient="vert" idx="1"/>
          </p:nvPr>
        </p:nvSpPr>
        <p:spPr>
          <a:xfrm>
            <a:off x="660083" y="681567"/>
            <a:ext cx="6090761" cy="10848764"/>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64C7A52C-EFBD-4091-8364-2EA806E7B9BB}" type="datetime1">
              <a:rPr lang="pt-BR" smtClean="0"/>
              <a:t>13/05/2026</a:t>
            </a:fld>
            <a:endParaRPr lang="pt-BR"/>
          </a:p>
        </p:txBody>
      </p:sp>
      <p:sp>
        <p:nvSpPr>
          <p:cNvPr id="5" name="Footer Placeholder 4"/>
          <p:cNvSpPr>
            <a:spLocks noGrp="1"/>
          </p:cNvSpPr>
          <p:nvPr>
            <p:ph type="ftr" sz="quarter" idx="11"/>
          </p:nvPr>
        </p:nvSpPr>
        <p:spPr/>
        <p:txBody>
          <a:bodyPr/>
          <a:lstStyle/>
          <a:p>
            <a:r>
              <a:rPr lang="pt-BR"/>
              <a:t>O DESPERTAR DO GUERREIRO JAVA</a:t>
            </a:r>
          </a:p>
        </p:txBody>
      </p:sp>
      <p:sp>
        <p:nvSpPr>
          <p:cNvPr id="6" name="Slide Number Placeholder 5"/>
          <p:cNvSpPr>
            <a:spLocks noGrp="1"/>
          </p:cNvSpPr>
          <p:nvPr>
            <p:ph type="sldNum" sz="quarter" idx="12"/>
          </p:nvPr>
        </p:nvSpPr>
        <p:spPr/>
        <p:txBody>
          <a:bodyPr/>
          <a:lstStyle/>
          <a:p>
            <a:fld id="{50C1CB04-2BE3-4164-84E0-A56E2E41F695}" type="slidenum">
              <a:rPr lang="pt-BR" smtClean="0"/>
              <a:t>‹nº›</a:t>
            </a:fld>
            <a:endParaRPr lang="pt-BR"/>
          </a:p>
        </p:txBody>
      </p:sp>
    </p:spTree>
    <p:extLst>
      <p:ext uri="{BB962C8B-B14F-4D97-AF65-F5344CB8AC3E}">
        <p14:creationId xmlns:p14="http://schemas.microsoft.com/office/powerpoint/2010/main" val="26887600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60083" y="681570"/>
            <a:ext cx="8281035" cy="2474384"/>
          </a:xfrm>
          <a:prstGeom prst="rect">
            <a:avLst/>
          </a:prstGeom>
        </p:spPr>
        <p:txBody>
          <a:bodyPr vert="horz" lIns="91440" tIns="45720" rIns="91440" bIns="45720" rtlCol="0" anchor="ctr">
            <a:normAutofit/>
          </a:bodyPr>
          <a:lstStyle/>
          <a:p>
            <a:r>
              <a:rPr lang="pt-BR"/>
              <a:t>Clique para editar o título Mestre</a:t>
            </a:r>
            <a:endParaRPr lang="en-US" dirty="0"/>
          </a:p>
        </p:txBody>
      </p:sp>
      <p:sp>
        <p:nvSpPr>
          <p:cNvPr id="3" name="Text Placeholder 2"/>
          <p:cNvSpPr>
            <a:spLocks noGrp="1"/>
          </p:cNvSpPr>
          <p:nvPr>
            <p:ph type="body" idx="1"/>
          </p:nvPr>
        </p:nvSpPr>
        <p:spPr>
          <a:xfrm>
            <a:off x="660083" y="3407833"/>
            <a:ext cx="8281035" cy="8122498"/>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2"/>
          </p:nvPr>
        </p:nvSpPr>
        <p:spPr>
          <a:xfrm>
            <a:off x="660083" y="11865189"/>
            <a:ext cx="2160270" cy="681567"/>
          </a:xfrm>
          <a:prstGeom prst="rect">
            <a:avLst/>
          </a:prstGeom>
        </p:spPr>
        <p:txBody>
          <a:bodyPr vert="horz" lIns="91440" tIns="45720" rIns="91440" bIns="45720" rtlCol="0" anchor="ctr"/>
          <a:lstStyle>
            <a:lvl1pPr algn="l">
              <a:defRPr sz="1260">
                <a:solidFill>
                  <a:schemeClr val="tx1">
                    <a:tint val="82000"/>
                  </a:schemeClr>
                </a:solidFill>
              </a:defRPr>
            </a:lvl1pPr>
          </a:lstStyle>
          <a:p>
            <a:fld id="{7C692F2C-456D-448C-81C9-99C5FF5E4B91}" type="datetime1">
              <a:rPr lang="pt-BR" smtClean="0"/>
              <a:t>13/05/2026</a:t>
            </a:fld>
            <a:endParaRPr lang="pt-BR"/>
          </a:p>
        </p:txBody>
      </p:sp>
      <p:sp>
        <p:nvSpPr>
          <p:cNvPr id="5" name="Footer Placeholder 4"/>
          <p:cNvSpPr>
            <a:spLocks noGrp="1"/>
          </p:cNvSpPr>
          <p:nvPr>
            <p:ph type="ftr" sz="quarter" idx="3"/>
          </p:nvPr>
        </p:nvSpPr>
        <p:spPr>
          <a:xfrm>
            <a:off x="3180398" y="11865189"/>
            <a:ext cx="3240405" cy="681567"/>
          </a:xfrm>
          <a:prstGeom prst="rect">
            <a:avLst/>
          </a:prstGeom>
        </p:spPr>
        <p:txBody>
          <a:bodyPr vert="horz" lIns="91440" tIns="45720" rIns="91440" bIns="45720" rtlCol="0" anchor="ctr"/>
          <a:lstStyle>
            <a:lvl1pPr algn="ctr">
              <a:defRPr sz="1260">
                <a:solidFill>
                  <a:schemeClr val="tx1">
                    <a:tint val="82000"/>
                  </a:schemeClr>
                </a:solidFill>
              </a:defRPr>
            </a:lvl1pPr>
          </a:lstStyle>
          <a:p>
            <a:r>
              <a:rPr lang="pt-BR"/>
              <a:t>O DESPERTAR DO GUERREIRO JAVA</a:t>
            </a:r>
          </a:p>
        </p:txBody>
      </p:sp>
      <p:sp>
        <p:nvSpPr>
          <p:cNvPr id="6" name="Slide Number Placeholder 5"/>
          <p:cNvSpPr>
            <a:spLocks noGrp="1"/>
          </p:cNvSpPr>
          <p:nvPr>
            <p:ph type="sldNum" sz="quarter" idx="4"/>
          </p:nvPr>
        </p:nvSpPr>
        <p:spPr>
          <a:xfrm>
            <a:off x="6780848" y="11865189"/>
            <a:ext cx="2160270" cy="681567"/>
          </a:xfrm>
          <a:prstGeom prst="rect">
            <a:avLst/>
          </a:prstGeom>
        </p:spPr>
        <p:txBody>
          <a:bodyPr vert="horz" lIns="91440" tIns="45720" rIns="91440" bIns="45720" rtlCol="0" anchor="ctr"/>
          <a:lstStyle>
            <a:lvl1pPr algn="r">
              <a:defRPr sz="1260">
                <a:solidFill>
                  <a:schemeClr val="tx1">
                    <a:tint val="82000"/>
                  </a:schemeClr>
                </a:solidFill>
              </a:defRPr>
            </a:lvl1pPr>
          </a:lstStyle>
          <a:p>
            <a:fld id="{50C1CB04-2BE3-4164-84E0-A56E2E41F695}" type="slidenum">
              <a:rPr lang="pt-BR" smtClean="0"/>
              <a:t>‹nº›</a:t>
            </a:fld>
            <a:endParaRPr lang="pt-BR"/>
          </a:p>
        </p:txBody>
      </p:sp>
    </p:spTree>
    <p:extLst>
      <p:ext uri="{BB962C8B-B14F-4D97-AF65-F5344CB8AC3E}">
        <p14:creationId xmlns:p14="http://schemas.microsoft.com/office/powerpoint/2010/main" val="69193870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dt="0"/>
  <p:txStyles>
    <p:titleStyle>
      <a:lvl1pPr algn="l" defTabSz="960120" rtl="0" eaLnBrk="1" latinLnBrk="0" hangingPunct="1">
        <a:lnSpc>
          <a:spcPct val="90000"/>
        </a:lnSpc>
        <a:spcBef>
          <a:spcPct val="0"/>
        </a:spcBef>
        <a:buNone/>
        <a:defRPr sz="4620" kern="1200">
          <a:solidFill>
            <a:schemeClr val="tx1"/>
          </a:solidFill>
          <a:latin typeface="+mj-lt"/>
          <a:ea typeface="+mj-ea"/>
          <a:cs typeface="+mj-cs"/>
        </a:defRPr>
      </a:lvl1pPr>
    </p:titleStyle>
    <p:bodyStyle>
      <a:lvl1pPr marL="240030" indent="-240030" algn="l" defTabSz="960120" rtl="0" eaLnBrk="1" latinLnBrk="0" hangingPunct="1">
        <a:lnSpc>
          <a:spcPct val="90000"/>
        </a:lnSpc>
        <a:spcBef>
          <a:spcPts val="1050"/>
        </a:spcBef>
        <a:buFont typeface="Arial" panose="020B0604020202020204" pitchFamily="34" charset="0"/>
        <a:buChar char="•"/>
        <a:defRPr sz="2940" kern="1200">
          <a:solidFill>
            <a:schemeClr val="tx1"/>
          </a:solidFill>
          <a:latin typeface="+mn-lt"/>
          <a:ea typeface="+mn-ea"/>
          <a:cs typeface="+mn-cs"/>
        </a:defRPr>
      </a:lvl1pPr>
      <a:lvl2pPr marL="720090" indent="-240030" algn="l" defTabSz="960120" rtl="0" eaLnBrk="1" latinLnBrk="0" hangingPunct="1">
        <a:lnSpc>
          <a:spcPct val="90000"/>
        </a:lnSpc>
        <a:spcBef>
          <a:spcPts val="525"/>
        </a:spcBef>
        <a:buFont typeface="Arial" panose="020B0604020202020204" pitchFamily="34" charset="0"/>
        <a:buChar char="•"/>
        <a:defRPr sz="2520" kern="1200">
          <a:solidFill>
            <a:schemeClr val="tx1"/>
          </a:solidFill>
          <a:latin typeface="+mn-lt"/>
          <a:ea typeface="+mn-ea"/>
          <a:cs typeface="+mn-cs"/>
        </a:defRPr>
      </a:lvl2pPr>
      <a:lvl3pPr marL="1200150" indent="-240030" algn="l" defTabSz="960120" rtl="0" eaLnBrk="1" latinLnBrk="0" hangingPunct="1">
        <a:lnSpc>
          <a:spcPct val="90000"/>
        </a:lnSpc>
        <a:spcBef>
          <a:spcPts val="525"/>
        </a:spcBef>
        <a:buFont typeface="Arial" panose="020B0604020202020204" pitchFamily="34" charset="0"/>
        <a:buChar char="•"/>
        <a:defRPr sz="2100" kern="1200">
          <a:solidFill>
            <a:schemeClr val="tx1"/>
          </a:solidFill>
          <a:latin typeface="+mn-lt"/>
          <a:ea typeface="+mn-ea"/>
          <a:cs typeface="+mn-cs"/>
        </a:defRPr>
      </a:lvl3pPr>
      <a:lvl4pPr marL="168021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4pPr>
      <a:lvl5pPr marL="216027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5pPr>
      <a:lvl6pPr marL="264033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6pPr>
      <a:lvl7pPr marL="312039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7pPr>
      <a:lvl8pPr marL="360045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8pPr>
      <a:lvl9pPr marL="408051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9pPr>
    </p:bodyStyle>
    <p:otherStyle>
      <a:defPPr>
        <a:defRPr lang="en-US"/>
      </a:defPPr>
      <a:lvl1pPr marL="0" algn="l" defTabSz="960120" rtl="0" eaLnBrk="1" latinLnBrk="0" hangingPunct="1">
        <a:defRPr sz="1890" kern="1200">
          <a:solidFill>
            <a:schemeClr val="tx1"/>
          </a:solidFill>
          <a:latin typeface="+mn-lt"/>
          <a:ea typeface="+mn-ea"/>
          <a:cs typeface="+mn-cs"/>
        </a:defRPr>
      </a:lvl1pPr>
      <a:lvl2pPr marL="480060" algn="l" defTabSz="960120" rtl="0" eaLnBrk="1" latinLnBrk="0" hangingPunct="1">
        <a:defRPr sz="1890" kern="1200">
          <a:solidFill>
            <a:schemeClr val="tx1"/>
          </a:solidFill>
          <a:latin typeface="+mn-lt"/>
          <a:ea typeface="+mn-ea"/>
          <a:cs typeface="+mn-cs"/>
        </a:defRPr>
      </a:lvl2pPr>
      <a:lvl3pPr marL="960120" algn="l" defTabSz="960120" rtl="0" eaLnBrk="1" latinLnBrk="0" hangingPunct="1">
        <a:defRPr sz="1890" kern="1200">
          <a:solidFill>
            <a:schemeClr val="tx1"/>
          </a:solidFill>
          <a:latin typeface="+mn-lt"/>
          <a:ea typeface="+mn-ea"/>
          <a:cs typeface="+mn-cs"/>
        </a:defRPr>
      </a:lvl3pPr>
      <a:lvl4pPr marL="1440180" algn="l" defTabSz="960120" rtl="0" eaLnBrk="1" latinLnBrk="0" hangingPunct="1">
        <a:defRPr sz="1890" kern="1200">
          <a:solidFill>
            <a:schemeClr val="tx1"/>
          </a:solidFill>
          <a:latin typeface="+mn-lt"/>
          <a:ea typeface="+mn-ea"/>
          <a:cs typeface="+mn-cs"/>
        </a:defRPr>
      </a:lvl4pPr>
      <a:lvl5pPr marL="1920240" algn="l" defTabSz="960120" rtl="0" eaLnBrk="1" latinLnBrk="0" hangingPunct="1">
        <a:defRPr sz="1890" kern="1200">
          <a:solidFill>
            <a:schemeClr val="tx1"/>
          </a:solidFill>
          <a:latin typeface="+mn-lt"/>
          <a:ea typeface="+mn-ea"/>
          <a:cs typeface="+mn-cs"/>
        </a:defRPr>
      </a:lvl5pPr>
      <a:lvl6pPr marL="2400300" algn="l" defTabSz="960120" rtl="0" eaLnBrk="1" latinLnBrk="0" hangingPunct="1">
        <a:defRPr sz="1890" kern="1200">
          <a:solidFill>
            <a:schemeClr val="tx1"/>
          </a:solidFill>
          <a:latin typeface="+mn-lt"/>
          <a:ea typeface="+mn-ea"/>
          <a:cs typeface="+mn-cs"/>
        </a:defRPr>
      </a:lvl6pPr>
      <a:lvl7pPr marL="2880360" algn="l" defTabSz="960120" rtl="0" eaLnBrk="1" latinLnBrk="0" hangingPunct="1">
        <a:defRPr sz="1890" kern="1200">
          <a:solidFill>
            <a:schemeClr val="tx1"/>
          </a:solidFill>
          <a:latin typeface="+mn-lt"/>
          <a:ea typeface="+mn-ea"/>
          <a:cs typeface="+mn-cs"/>
        </a:defRPr>
      </a:lvl7pPr>
      <a:lvl8pPr marL="3360420" algn="l" defTabSz="960120" rtl="0" eaLnBrk="1" latinLnBrk="0" hangingPunct="1">
        <a:defRPr sz="1890" kern="1200">
          <a:solidFill>
            <a:schemeClr val="tx1"/>
          </a:solidFill>
          <a:latin typeface="+mn-lt"/>
          <a:ea typeface="+mn-ea"/>
          <a:cs typeface="+mn-cs"/>
        </a:defRPr>
      </a:lvl8pPr>
      <a:lvl9pPr marL="3840480" algn="l" defTabSz="960120" rtl="0" eaLnBrk="1" latinLnBrk="0" hangingPunct="1">
        <a:defRPr sz="189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8" Type="http://schemas.openxmlformats.org/officeDocument/2006/relationships/slide" Target="slide28.xml"/><Relationship Id="rId3" Type="http://schemas.openxmlformats.org/officeDocument/2006/relationships/slide" Target="slide6.xml"/><Relationship Id="rId7" Type="http://schemas.openxmlformats.org/officeDocument/2006/relationships/slide" Target="slide23.xml"/><Relationship Id="rId2" Type="http://schemas.openxmlformats.org/officeDocument/2006/relationships/slide" Target="slide4.xml"/><Relationship Id="rId1" Type="http://schemas.openxmlformats.org/officeDocument/2006/relationships/slideLayout" Target="../slideLayouts/slideLayout7.xml"/><Relationship Id="rId6" Type="http://schemas.openxmlformats.org/officeDocument/2006/relationships/slide" Target="slide18.xml"/><Relationship Id="rId11" Type="http://schemas.openxmlformats.org/officeDocument/2006/relationships/hyperlink" Target="https://github.com/didifive/ebook-com-ia/tree/feature/java-versions/code/JavaVersions" TargetMode="External"/><Relationship Id="rId5" Type="http://schemas.openxmlformats.org/officeDocument/2006/relationships/slide" Target="slide13.xml"/><Relationship Id="rId10" Type="http://schemas.openxmlformats.org/officeDocument/2006/relationships/slide" Target="slide34.xml"/><Relationship Id="rId4" Type="http://schemas.openxmlformats.org/officeDocument/2006/relationships/slide" Target="slide8.xml"/><Relationship Id="rId9" Type="http://schemas.openxmlformats.org/officeDocument/2006/relationships/slide" Target="slide3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D4AD667-8C4A-E334-9862-1C1876A77199}"/>
              </a:ext>
            </a:extLst>
          </p:cNvPr>
          <p:cNvSpPr>
            <a:spLocks noGrp="1"/>
          </p:cNvSpPr>
          <p:nvPr>
            <p:ph type="title"/>
          </p:nvPr>
        </p:nvSpPr>
        <p:spPr>
          <a:xfrm>
            <a:off x="661333" y="-2987040"/>
            <a:ext cx="3096637" cy="2987040"/>
          </a:xfrm>
        </p:spPr>
        <p:txBody>
          <a:bodyPr vert="horz" lIns="91440" tIns="45720" rIns="91440" bIns="45720" rtlCol="0" anchor="b">
            <a:normAutofit/>
          </a:bodyPr>
          <a:lstStyle/>
          <a:p>
            <a:r>
              <a:rPr lang="pt-BR" dirty="0"/>
              <a:t>Java Bushidō – Do Java 8 ao 25: cortes precisos na evolução.</a:t>
            </a:r>
          </a:p>
        </p:txBody>
      </p:sp>
      <p:pic>
        <p:nvPicPr>
          <p:cNvPr id="3" name="Imagem 2" descr="Ilustração de um samurai visto de costas segurando uma katana com brilho azul, com trechos de código Java integrados à roupa e à lâmina. O cenário ao fundo mostra uma pagoda japonesa em tons escuros, cercada por vegetação. Na parte superior, o cartaz exibe o título “Java Bushidō” em branco e vermelho e o subtítulo “Do Java 8 ao 25: cortes precisos na evolução”.">
            <a:extLst>
              <a:ext uri="{FF2B5EF4-FFF2-40B4-BE49-F238E27FC236}">
                <a16:creationId xmlns:a16="http://schemas.microsoft.com/office/drawing/2014/main" id="{81DF6A4A-FF9E-3349-D03D-4E5FD905D90D}"/>
              </a:ext>
            </a:extLst>
          </p:cNvPr>
          <p:cNvPicPr>
            <a:picLocks noChangeAspect="1"/>
          </p:cNvPicPr>
          <p:nvPr/>
        </p:nvPicPr>
        <p:blipFill>
          <a:blip r:embed="rId3">
            <a:extLst>
              <a:ext uri="{28A0092B-C50C-407E-A947-70E740481C1C}">
                <a14:useLocalDpi xmlns:a14="http://schemas.microsoft.com/office/drawing/2010/main" val="0"/>
              </a:ext>
            </a:extLst>
          </a:blip>
          <a:srcRect b="25521"/>
          <a:stretch>
            <a:fillRect/>
          </a:stretch>
        </p:blipFill>
        <p:spPr>
          <a:xfrm>
            <a:off x="0" y="0"/>
            <a:ext cx="9601200" cy="12801600"/>
          </a:xfrm>
          <a:prstGeom prst="rect">
            <a:avLst/>
          </a:prstGeom>
        </p:spPr>
      </p:pic>
      <p:sp>
        <p:nvSpPr>
          <p:cNvPr id="13" name="Retângulo 12" descr="Autor: Luis Zancanela">
            <a:extLst>
              <a:ext uri="{FF2B5EF4-FFF2-40B4-BE49-F238E27FC236}">
                <a16:creationId xmlns:a16="http://schemas.microsoft.com/office/drawing/2014/main" id="{60A2DF7E-EE0D-7FBC-7EFE-7B60828B35F7}"/>
              </a:ext>
              <a:ext uri="{C183D7F6-B498-43B3-948B-1728B52AA6E4}">
                <adec:decorative xmlns:adec="http://schemas.microsoft.com/office/drawing/2017/decorative" val="0"/>
              </a:ext>
            </a:extLst>
          </p:cNvPr>
          <p:cNvSpPr/>
          <p:nvPr/>
        </p:nvSpPr>
        <p:spPr>
          <a:xfrm>
            <a:off x="0" y="11203106"/>
            <a:ext cx="9601200" cy="847051"/>
          </a:xfrm>
          <a:prstGeom prst="rect">
            <a:avLst/>
          </a:prstGeom>
          <a:gradFill flip="none" rotWithShape="1">
            <a:gsLst>
              <a:gs pos="100000">
                <a:srgbClr val="FF0000">
                  <a:alpha val="0"/>
                </a:srgbClr>
              </a:gs>
              <a:gs pos="41000">
                <a:srgbClr val="B71C1C"/>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4000" b="1" dirty="0">
                <a:ln w="12700">
                  <a:noFill/>
                </a:ln>
                <a:solidFill>
                  <a:schemeClr val="bg1"/>
                </a:solidFill>
                <a:effectLst>
                  <a:glow rad="101600">
                    <a:srgbClr val="B71C1C">
                      <a:alpha val="60000"/>
                    </a:srgbClr>
                  </a:glow>
                </a:effectLst>
                <a:latin typeface="Helvetica" panose="020B0604020202020204" pitchFamily="34" charset="0"/>
                <a:ea typeface="Roboto" panose="02000000000000000000" pitchFamily="2" charset="0"/>
                <a:cs typeface="Helvetica" panose="020B0604020202020204" pitchFamily="34" charset="0"/>
              </a:rPr>
              <a:t>Luis Zancanela</a:t>
            </a:r>
          </a:p>
        </p:txBody>
      </p:sp>
    </p:spTree>
    <p:extLst>
      <p:ext uri="{BB962C8B-B14F-4D97-AF65-F5344CB8AC3E}">
        <p14:creationId xmlns:p14="http://schemas.microsoft.com/office/powerpoint/2010/main" val="20731403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F66CFA2-02DD-1334-E3D0-7DE61363F45A}"/>
              </a:ext>
              <a:ext uri="{C183D7F6-B498-43B3-948B-1728B52AA6E4}">
                <adec:decorative xmlns:adec="http://schemas.microsoft.com/office/drawing/2017/decorative" val="1"/>
              </a:ext>
            </a:extLst>
          </p:cNvPr>
          <p:cNvSpPr>
            <a:spLocks noGrp="1"/>
          </p:cNvSpPr>
          <p:nvPr>
            <p:ph type="title" idx="4294967295"/>
          </p:nvPr>
        </p:nvSpPr>
        <p:spPr>
          <a:xfrm>
            <a:off x="660083" y="-2474384"/>
            <a:ext cx="8281035" cy="2474384"/>
          </a:xfrm>
        </p:spPr>
        <p:txBody>
          <a:bodyPr vert="horz" lIns="91440" tIns="45720" rIns="91440" bIns="45720" rtlCol="0" anchor="b">
            <a:normAutofit/>
          </a:bodyPr>
          <a:lstStyle/>
          <a:p>
            <a:r>
              <a:rPr lang="pt-BR" dirty="0"/>
              <a:t>Sumário</a:t>
            </a:r>
          </a:p>
        </p:txBody>
      </p:sp>
      <p:sp>
        <p:nvSpPr>
          <p:cNvPr id="9" name="AccentBar">
            <a:extLst>
              <a:ext uri="{C183D7F6-B498-43B3-948B-1728B52AA6E4}">
                <adec:decorative xmlns:adec="http://schemas.microsoft.com/office/drawing/2017/decorative" val="1"/>
              </a:ext>
            </a:extLst>
          </p:cNvPr>
          <p:cNvSpPr/>
          <p:nvPr/>
        </p:nvSpPr>
        <p:spPr>
          <a:xfrm>
            <a:off x="476249" y="0"/>
            <a:ext cx="72000" cy="1946064"/>
          </a:xfrm>
          <a:prstGeom prst="rect">
            <a:avLst/>
          </a:prstGeom>
          <a:gradFill flip="none" rotWithShape="1">
            <a:gsLst>
              <a:gs pos="0">
                <a:srgbClr val="E2AE4E"/>
              </a:gs>
              <a:gs pos="60000">
                <a:srgbClr val="B71C1C"/>
              </a:gs>
              <a:gs pos="100000">
                <a:srgbClr val="121212"/>
              </a:gs>
            </a:gsLst>
            <a:lin ang="5400000" scaled="1"/>
            <a:tileRect/>
          </a:gradFill>
          <a:ln>
            <a:noFill/>
          </a:ln>
        </p:spPr>
        <p:txBody>
          <a:bodyPr rtlCol="0" anchor="ctr"/>
          <a:lstStyle/>
          <a:p>
            <a:pPr algn="ctr"/>
            <a:endParaRPr lang="pt-BR"/>
          </a:p>
        </p:txBody>
      </p:sp>
      <p:sp>
        <p:nvSpPr>
          <p:cNvPr id="6" name="Title"/>
          <p:cNvSpPr txBox="1"/>
          <p:nvPr/>
        </p:nvSpPr>
        <p:spPr>
          <a:xfrm>
            <a:off x="819150" y="524114"/>
            <a:ext cx="8292192" cy="646331"/>
          </a:xfrm>
          <a:prstGeom prst="rect">
            <a:avLst/>
          </a:prstGeom>
          <a:noFill/>
        </p:spPr>
        <p:txBody>
          <a:bodyPr wrap="square" rtlCol="0">
            <a:spAutoFit/>
          </a:bodyPr>
          <a:lstStyle/>
          <a:p>
            <a:r>
              <a:rPr lang="pt-BR" sz="3600" b="1" dirty="0">
                <a:solidFill>
                  <a:srgbClr val="B71C1C"/>
                </a:solidFill>
                <a:latin typeface="Arial Black" panose="020B0A04020102020204" pitchFamily="34" charset="0"/>
              </a:rPr>
              <a:t>Sumário</a:t>
            </a:r>
          </a:p>
        </p:txBody>
      </p:sp>
      <p:sp>
        <p:nvSpPr>
          <p:cNvPr id="7" name="Subtitle"/>
          <p:cNvSpPr txBox="1"/>
          <p:nvPr/>
        </p:nvSpPr>
        <p:spPr>
          <a:xfrm>
            <a:off x="476249" y="2024555"/>
            <a:ext cx="8635093" cy="523220"/>
          </a:xfrm>
          <a:prstGeom prst="rect">
            <a:avLst/>
          </a:prstGeom>
          <a:noFill/>
        </p:spPr>
        <p:txBody>
          <a:bodyPr wrap="square" rtlCol="0">
            <a:spAutoFit/>
          </a:bodyPr>
          <a:lstStyle/>
          <a:p>
            <a:r>
              <a:rPr lang="pt-BR" sz="2800" dirty="0">
                <a:solidFill>
                  <a:srgbClr val="E2AE4E"/>
                </a:solidFill>
                <a:latin typeface="Calibri Light" panose="020F0302020204030204" pitchFamily="34" charset="0"/>
              </a:rPr>
              <a:t>Java Bushidō — Do Java 8 ao 25</a:t>
            </a:r>
          </a:p>
        </p:txBody>
      </p:sp>
      <p:sp>
        <p:nvSpPr>
          <p:cNvPr id="8" name="Body"/>
          <p:cNvSpPr txBox="1"/>
          <p:nvPr/>
        </p:nvSpPr>
        <p:spPr>
          <a:xfrm>
            <a:off x="476249" y="2800000"/>
            <a:ext cx="8635092" cy="7194662"/>
          </a:xfrm>
          <a:prstGeom prst="rect">
            <a:avLst/>
          </a:prstGeom>
          <a:noFill/>
        </p:spPr>
        <p:txBody>
          <a:bodyPr wrap="square" rtlCol="0">
            <a:spAutoFit/>
          </a:bodyPr>
          <a:lstStyle/>
          <a:p>
            <a:pPr>
              <a:lnSpc>
                <a:spcPct val="130000"/>
              </a:lnSpc>
              <a:spcAft>
                <a:spcPts val="1000"/>
              </a:spcAft>
            </a:pPr>
            <a:r>
              <a:rPr lang="pt-BR" sz="1800" dirty="0">
                <a:solidFill>
                  <a:srgbClr val="121212"/>
                </a:solidFill>
                <a:latin typeface="Calibri Light" panose="020F0302020204030204" pitchFamily="34" charset="0"/>
              </a:rPr>
              <a:t>Este ebook é um guia prático e acessível sobre a evolução do Java, pensado especialmente para quem está começando na carreira de desenvolvimento. Cada capítulo acompanha uma versão importante da linguagem, destacando os recursos que mais impactam o dia a dia de quem programa.</a:t>
            </a:r>
          </a:p>
          <a:p>
            <a:pPr>
              <a:lnSpc>
                <a:spcPct val="150000"/>
              </a:lnSpc>
            </a:pPr>
            <a:r>
              <a:rPr lang="pt-BR" sz="2200" b="1" dirty="0">
                <a:solidFill>
                  <a:srgbClr val="B71C1C"/>
                </a:solidFill>
                <a:latin typeface="Calibri Light" panose="020F0302020204030204" pitchFamily="34" charset="0"/>
                <a:hlinkClick r:id="rId2" action="ppaction://hlinksldjump"/>
              </a:rPr>
              <a:t>Prefácio:</a:t>
            </a:r>
            <a:r>
              <a:rPr lang="pt-BR" sz="2200" dirty="0">
                <a:solidFill>
                  <a:srgbClr val="121212"/>
                </a:solidFill>
                <a:latin typeface="Calibri Light" panose="020F0302020204030204" pitchFamily="34" charset="0"/>
                <a:hlinkClick r:id="rId2" action="ppaction://hlinksldjump"/>
              </a:rPr>
              <a:t> O Código como Caminho</a:t>
            </a:r>
            <a:endParaRPr lang="pt-BR" sz="2200" dirty="0">
              <a:solidFill>
                <a:srgbClr val="121212"/>
              </a:solidFill>
              <a:latin typeface="Calibri Light" panose="020F0302020204030204" pitchFamily="34" charset="0"/>
            </a:endParaRPr>
          </a:p>
          <a:p>
            <a:pPr>
              <a:lnSpc>
                <a:spcPct val="150000"/>
              </a:lnSpc>
            </a:pPr>
            <a:r>
              <a:rPr lang="pt-BR" sz="2200" b="1" dirty="0">
                <a:solidFill>
                  <a:srgbClr val="B71C1C"/>
                </a:solidFill>
                <a:latin typeface="Calibri Light" panose="020F0302020204030204" pitchFamily="34" charset="0"/>
                <a:hlinkClick r:id="rId3" action="ppaction://hlinksldjump"/>
              </a:rPr>
              <a:t>Arco I:</a:t>
            </a:r>
            <a:r>
              <a:rPr lang="pt-BR" sz="2200" dirty="0">
                <a:solidFill>
                  <a:srgbClr val="121212"/>
                </a:solidFill>
                <a:latin typeface="Calibri Light" panose="020F0302020204030204" pitchFamily="34" charset="0"/>
                <a:hlinkClick r:id="rId3" action="ppaction://hlinksldjump"/>
              </a:rPr>
              <a:t> Antes da Katana</a:t>
            </a:r>
            <a:endParaRPr lang="pt-BR" sz="2200" dirty="0">
              <a:solidFill>
                <a:srgbClr val="121212"/>
              </a:solidFill>
              <a:latin typeface="Calibri Light" panose="020F0302020204030204" pitchFamily="34" charset="0"/>
            </a:endParaRPr>
          </a:p>
          <a:p>
            <a:pPr>
              <a:lnSpc>
                <a:spcPct val="150000"/>
              </a:lnSpc>
            </a:pPr>
            <a:r>
              <a:rPr lang="pt-BR" sz="2200" b="1" dirty="0">
                <a:solidFill>
                  <a:srgbClr val="B71C1C"/>
                </a:solidFill>
                <a:latin typeface="Calibri Light" panose="020F0302020204030204" pitchFamily="34" charset="0"/>
                <a:hlinkClick r:id="rId4" action="ppaction://hlinksldjump"/>
              </a:rPr>
              <a:t>Arco II:</a:t>
            </a:r>
            <a:r>
              <a:rPr lang="pt-BR" sz="2200" dirty="0">
                <a:solidFill>
                  <a:srgbClr val="121212"/>
                </a:solidFill>
                <a:latin typeface="Calibri Light" panose="020F0302020204030204" pitchFamily="34" charset="0"/>
                <a:hlinkClick r:id="rId4" action="ppaction://hlinksldjump"/>
              </a:rPr>
              <a:t> O Corte Inicial (Java 8)</a:t>
            </a:r>
            <a:endParaRPr lang="pt-BR" sz="2200" dirty="0">
              <a:solidFill>
                <a:srgbClr val="121212"/>
              </a:solidFill>
              <a:latin typeface="Calibri Light" panose="020F0302020204030204" pitchFamily="34" charset="0"/>
            </a:endParaRPr>
          </a:p>
          <a:p>
            <a:pPr>
              <a:lnSpc>
                <a:spcPct val="150000"/>
              </a:lnSpc>
            </a:pPr>
            <a:r>
              <a:rPr lang="pt-BR" sz="2200" b="1" dirty="0">
                <a:solidFill>
                  <a:srgbClr val="B71C1C"/>
                </a:solidFill>
                <a:latin typeface="Calibri Light" panose="020F0302020204030204" pitchFamily="34" charset="0"/>
                <a:hlinkClick r:id="rId5" action="ppaction://hlinksldjump"/>
              </a:rPr>
              <a:t>Arco III:</a:t>
            </a:r>
            <a:r>
              <a:rPr lang="pt-BR" sz="2200" dirty="0">
                <a:solidFill>
                  <a:srgbClr val="121212"/>
                </a:solidFill>
                <a:latin typeface="Calibri Light" panose="020F0302020204030204" pitchFamily="34" charset="0"/>
                <a:hlinkClick r:id="rId5" action="ppaction://hlinksldjump"/>
              </a:rPr>
              <a:t> Disciplina e Leveza (Java 11)</a:t>
            </a:r>
            <a:endParaRPr lang="pt-BR" sz="2200" dirty="0">
              <a:solidFill>
                <a:srgbClr val="121212"/>
              </a:solidFill>
              <a:latin typeface="Calibri Light" panose="020F0302020204030204" pitchFamily="34" charset="0"/>
            </a:endParaRPr>
          </a:p>
          <a:p>
            <a:pPr>
              <a:lnSpc>
                <a:spcPct val="150000"/>
              </a:lnSpc>
            </a:pPr>
            <a:r>
              <a:rPr lang="pt-BR" sz="2200" b="1" dirty="0">
                <a:solidFill>
                  <a:srgbClr val="B71C1C"/>
                </a:solidFill>
                <a:latin typeface="Calibri Light" panose="020F0302020204030204" pitchFamily="34" charset="0"/>
                <a:hlinkClick r:id="rId6" action="ppaction://hlinksldjump"/>
              </a:rPr>
              <a:t>Arco IV:</a:t>
            </a:r>
            <a:r>
              <a:rPr lang="pt-BR" sz="2200" dirty="0">
                <a:solidFill>
                  <a:srgbClr val="121212"/>
                </a:solidFill>
                <a:latin typeface="Calibri Light" panose="020F0302020204030204" pitchFamily="34" charset="0"/>
                <a:hlinkClick r:id="rId6" action="ppaction://hlinksldjump"/>
              </a:rPr>
              <a:t> O Código do Mestre (Java 17)</a:t>
            </a:r>
            <a:endParaRPr lang="pt-BR" sz="2200" dirty="0">
              <a:solidFill>
                <a:srgbClr val="121212"/>
              </a:solidFill>
              <a:latin typeface="Calibri Light" panose="020F0302020204030204" pitchFamily="34" charset="0"/>
            </a:endParaRPr>
          </a:p>
          <a:p>
            <a:pPr>
              <a:lnSpc>
                <a:spcPct val="150000"/>
              </a:lnSpc>
            </a:pPr>
            <a:r>
              <a:rPr lang="pt-BR" sz="2200" b="1" dirty="0">
                <a:solidFill>
                  <a:srgbClr val="B71C1C"/>
                </a:solidFill>
                <a:latin typeface="Calibri Light" panose="020F0302020204030204" pitchFamily="34" charset="0"/>
                <a:hlinkClick r:id="rId7" action="ppaction://hlinksldjump"/>
              </a:rPr>
              <a:t>Arco V:</a:t>
            </a:r>
            <a:r>
              <a:rPr lang="pt-BR" sz="2200" dirty="0">
                <a:solidFill>
                  <a:srgbClr val="121212"/>
                </a:solidFill>
                <a:latin typeface="Calibri Light" panose="020F0302020204030204" pitchFamily="34" charset="0"/>
                <a:hlinkClick r:id="rId7" action="ppaction://hlinksldjump"/>
              </a:rPr>
              <a:t> A Fluidez do Aço (Java 21)</a:t>
            </a:r>
            <a:endParaRPr lang="pt-BR" sz="2200" dirty="0">
              <a:solidFill>
                <a:srgbClr val="121212"/>
              </a:solidFill>
              <a:latin typeface="Calibri Light" panose="020F0302020204030204" pitchFamily="34" charset="0"/>
            </a:endParaRPr>
          </a:p>
          <a:p>
            <a:pPr>
              <a:lnSpc>
                <a:spcPct val="150000"/>
              </a:lnSpc>
            </a:pPr>
            <a:r>
              <a:rPr lang="pt-BR" sz="2200" b="1" dirty="0">
                <a:solidFill>
                  <a:srgbClr val="B71C1C"/>
                </a:solidFill>
                <a:latin typeface="Calibri Light" panose="020F0302020204030204" pitchFamily="34" charset="0"/>
                <a:hlinkClick r:id="rId8" action="ppaction://hlinksldjump"/>
              </a:rPr>
              <a:t>Arco VI:</a:t>
            </a:r>
            <a:r>
              <a:rPr lang="pt-BR" sz="2200" dirty="0">
                <a:solidFill>
                  <a:srgbClr val="121212"/>
                </a:solidFill>
                <a:latin typeface="Calibri Light" panose="020F0302020204030204" pitchFamily="34" charset="0"/>
                <a:hlinkClick r:id="rId8" action="ppaction://hlinksldjump"/>
              </a:rPr>
              <a:t> A Lamina Afiada (Java 25)</a:t>
            </a:r>
            <a:endParaRPr lang="pt-BR" sz="2200" dirty="0">
              <a:solidFill>
                <a:srgbClr val="121212"/>
              </a:solidFill>
              <a:latin typeface="Calibri Light" panose="020F0302020204030204" pitchFamily="34" charset="0"/>
            </a:endParaRPr>
          </a:p>
          <a:p>
            <a:pPr>
              <a:lnSpc>
                <a:spcPct val="150000"/>
              </a:lnSpc>
            </a:pPr>
            <a:r>
              <a:rPr lang="pt-BR" sz="2200" b="1" dirty="0">
                <a:solidFill>
                  <a:srgbClr val="B71C1C"/>
                </a:solidFill>
                <a:latin typeface="Calibri Light" panose="020F0302020204030204" pitchFamily="34" charset="0"/>
                <a:hlinkClick r:id="rId9" action="ppaction://hlinksldjump"/>
              </a:rPr>
              <a:t>Arco Final:</a:t>
            </a:r>
            <a:r>
              <a:rPr lang="pt-BR" sz="2200" dirty="0">
                <a:solidFill>
                  <a:srgbClr val="121212"/>
                </a:solidFill>
                <a:latin typeface="Calibri Light" panose="020F0302020204030204" pitchFamily="34" charset="0"/>
                <a:hlinkClick r:id="rId9" action="ppaction://hlinksldjump"/>
              </a:rPr>
              <a:t> O Caminho do Java Bushidō</a:t>
            </a:r>
            <a:endParaRPr lang="pt-BR" sz="2200" dirty="0">
              <a:solidFill>
                <a:srgbClr val="121212"/>
              </a:solidFill>
              <a:latin typeface="Calibri Light" panose="020F0302020204030204" pitchFamily="34" charset="0"/>
            </a:endParaRPr>
          </a:p>
          <a:p>
            <a:pPr>
              <a:lnSpc>
                <a:spcPct val="150000"/>
              </a:lnSpc>
            </a:pPr>
            <a:r>
              <a:rPr lang="pt-BR" sz="2200" b="1" dirty="0">
                <a:solidFill>
                  <a:srgbClr val="B71C1C"/>
                </a:solidFill>
                <a:latin typeface="Calibri Light" panose="020F0302020204030204" pitchFamily="34" charset="0"/>
                <a:hlinkClick r:id="rId10" action="ppaction://hlinksldjump"/>
              </a:rPr>
              <a:t>Epílogo:</a:t>
            </a:r>
            <a:r>
              <a:rPr lang="pt-BR" sz="2200" dirty="0">
                <a:solidFill>
                  <a:srgbClr val="121212"/>
                </a:solidFill>
                <a:latin typeface="Calibri Light" panose="020F0302020204030204" pitchFamily="34" charset="0"/>
                <a:hlinkClick r:id="rId10" action="ppaction://hlinksldjump"/>
              </a:rPr>
              <a:t> Honra no Código</a:t>
            </a:r>
            <a:endParaRPr lang="pt-BR" sz="2200" dirty="0">
              <a:solidFill>
                <a:srgbClr val="121212"/>
              </a:solidFill>
              <a:latin typeface="Calibri Light" panose="020F0302020204030204" pitchFamily="34" charset="0"/>
            </a:endParaRPr>
          </a:p>
          <a:p>
            <a:pPr>
              <a:lnSpc>
                <a:spcPct val="150000"/>
              </a:lnSpc>
            </a:pPr>
            <a:endParaRPr lang="pt-BR" sz="2200" dirty="0">
              <a:solidFill>
                <a:srgbClr val="121212"/>
              </a:solidFill>
              <a:latin typeface="Calibri Light" panose="020F0302020204030204" pitchFamily="34" charset="0"/>
            </a:endParaRPr>
          </a:p>
          <a:p>
            <a:pPr>
              <a:lnSpc>
                <a:spcPct val="150000"/>
              </a:lnSpc>
            </a:pPr>
            <a:r>
              <a:rPr lang="pt-BR" sz="2200" b="1" dirty="0">
                <a:solidFill>
                  <a:srgbClr val="121212"/>
                </a:solidFill>
                <a:latin typeface="Calibri Light" panose="020F0302020204030204" pitchFamily="34" charset="0"/>
                <a:hlinkClick r:id="rId11"/>
              </a:rPr>
              <a:t>Códigos de exemplo no GitHub</a:t>
            </a:r>
            <a:endParaRPr lang="pt-BR" sz="2200" b="1" dirty="0">
              <a:solidFill>
                <a:srgbClr val="121212"/>
              </a:solidFill>
              <a:latin typeface="Calibri Light" panose="020F0302020204030204" pitchFamily="34" charset="0"/>
            </a:endParaRPr>
          </a:p>
        </p:txBody>
      </p:sp>
      <p:sp>
        <p:nvSpPr>
          <p:cNvPr id="5" name="Footer">
            <a:extLst>
              <a:ext uri="{C183D7F6-B498-43B3-948B-1728B52AA6E4}">
                <adec:decorative xmlns:adec="http://schemas.microsoft.com/office/drawing/2017/decorative" val="1"/>
              </a:ext>
            </a:extLst>
          </p:cNvPr>
          <p:cNvSpPr>
            <a:spLocks noGrp="1"/>
          </p:cNvSpPr>
          <p:nvPr>
            <p:ph type="ftr" sz="quarter" idx="11"/>
          </p:nvPr>
        </p:nvSpPr>
        <p:spPr/>
        <p:txBody>
          <a:bodyPr/>
          <a:lstStyle/>
          <a:p>
            <a:r>
              <a:rPr lang="pt-BR" dirty="0">
                <a:solidFill>
                  <a:srgbClr val="BDBDBD"/>
                </a:solidFill>
              </a:rPr>
              <a:t>JAVA BUSHIDŌ</a:t>
            </a:r>
          </a:p>
        </p:txBody>
      </p:sp>
      <p:sp>
        <p:nvSpPr>
          <p:cNvPr id="10" name="SlideNum">
            <a:extLst>
              <a:ext uri="{C183D7F6-B498-43B3-948B-1728B52AA6E4}">
                <adec:decorative xmlns:adec="http://schemas.microsoft.com/office/drawing/2017/decorative" val="1"/>
              </a:ext>
            </a:extLst>
          </p:cNvPr>
          <p:cNvSpPr>
            <a:spLocks noGrp="1"/>
          </p:cNvSpPr>
          <p:nvPr>
            <p:ph type="sldNum" sz="quarter" idx="12"/>
          </p:nvPr>
        </p:nvSpPr>
        <p:spPr/>
        <p:txBody>
          <a:bodyPr/>
          <a:lstStyle/>
          <a:p>
            <a:fld id="{50C1CB04-2BE3-4164-84E0-A56E2E41F695}" type="slidenum">
              <a:rPr lang="pt-BR" smtClean="0"/>
              <a:t>2</a:t>
            </a:fld>
            <a:endParaRPr lang="pt-B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gRect">
            <a:extLst>
              <a:ext uri="{C183D7F6-B498-43B3-948B-1728B52AA6E4}">
                <adec:decorative xmlns:adec="http://schemas.microsoft.com/office/drawing/2017/decorative" val="1"/>
              </a:ext>
            </a:extLst>
          </p:cNvPr>
          <p:cNvSpPr/>
          <p:nvPr/>
        </p:nvSpPr>
        <p:spPr>
          <a:xfrm>
            <a:off x="0" y="0"/>
            <a:ext cx="9601200" cy="12801600"/>
          </a:xfrm>
          <a:prstGeom prst="rect">
            <a:avLst/>
          </a:prstGeom>
          <a:solidFill>
            <a:srgbClr val="121212"/>
          </a:solidFill>
          <a:ln>
            <a:noFill/>
          </a:ln>
        </p:spPr>
        <p:txBody>
          <a:bodyPr rtlCol="0" anchor="ctr"/>
          <a:lstStyle/>
          <a:p>
            <a:pPr algn="ctr"/>
            <a:endParaRPr lang="pt-BR" dirty="0"/>
          </a:p>
        </p:txBody>
      </p:sp>
      <p:sp>
        <p:nvSpPr>
          <p:cNvPr id="3" name="Title"/>
          <p:cNvSpPr txBox="1">
            <a:spLocks noGrp="1"/>
          </p:cNvSpPr>
          <p:nvPr>
            <p:ph type="title" idx="4294967295"/>
          </p:nvPr>
        </p:nvSpPr>
        <p:spPr>
          <a:xfrm>
            <a:off x="489857" y="4500000"/>
            <a:ext cx="8621485" cy="341632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pt-BR" sz="5400" b="0" i="0" u="none" strike="noStrike" kern="1200" cap="none" spc="0" normalizeH="0" baseline="0" noProof="0" dirty="0">
                <a:ln>
                  <a:noFill/>
                </a:ln>
                <a:solidFill>
                  <a:srgbClr val="FFFFFF"/>
                </a:solidFill>
                <a:effectLst/>
                <a:uLnTx/>
                <a:uFillTx/>
                <a:latin typeface="Arial Black" panose="020B0A04020102020204" pitchFamily="34" charset="0"/>
                <a:ea typeface="+mn-ea"/>
                <a:cs typeface="+mn-cs"/>
              </a:rPr>
              <a:t>PREFÁCIO</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pt-BR" sz="5400" b="0" i="0" u="none" strike="noStrike" kern="1200" cap="none" spc="0" normalizeH="0" baseline="0" noProof="0" dirty="0">
                <a:ln>
                  <a:noFill/>
                </a:ln>
                <a:solidFill>
                  <a:srgbClr val="FFFFFF"/>
                </a:solidFill>
                <a:effectLst/>
                <a:uLnTx/>
                <a:uFillTx/>
                <a:latin typeface="Arial Black" panose="020B0A04020102020204" pitchFamily="34" charset="0"/>
                <a:ea typeface="+mn-ea"/>
                <a:cs typeface="+mn-cs"/>
              </a:rPr>
              <a:t>
O CÓDIGO COMO CAMINHO</a:t>
            </a:r>
          </a:p>
        </p:txBody>
      </p:sp>
      <p:sp>
        <p:nvSpPr>
          <p:cNvPr id="4" name="GradLine">
            <a:extLst>
              <a:ext uri="{C183D7F6-B498-43B3-948B-1728B52AA6E4}">
                <adec:decorative xmlns:adec="http://schemas.microsoft.com/office/drawing/2017/decorative" val="1"/>
              </a:ext>
            </a:extLst>
          </p:cNvPr>
          <p:cNvSpPr/>
          <p:nvPr/>
        </p:nvSpPr>
        <p:spPr>
          <a:xfrm rot="5400000">
            <a:off x="4757736" y="5600700"/>
            <a:ext cx="182880" cy="7200900"/>
          </a:xfrm>
          <a:prstGeom prst="rect">
            <a:avLst/>
          </a:prstGeom>
          <a:gradFill flip="none" rotWithShape="1">
            <a:gsLst>
              <a:gs pos="0">
                <a:srgbClr val="E2AE4E"/>
              </a:gs>
              <a:gs pos="60000">
                <a:srgbClr val="B71C1C"/>
              </a:gs>
              <a:gs pos="100000">
                <a:srgbClr val="121212"/>
              </a:gs>
            </a:gsLst>
            <a:lin ang="5400000" scaled="1"/>
            <a:tileRect/>
          </a:gradFill>
          <a:ln>
            <a:noFill/>
          </a:ln>
        </p:spPr>
        <p:txBody>
          <a:bodyPr rtlCol="0" anchor="ctr"/>
          <a:lstStyle/>
          <a:p>
            <a:pPr algn="ctr"/>
            <a:endParaRPr lang="pt-BR"/>
          </a:p>
        </p:txBody>
      </p:sp>
      <p:sp>
        <p:nvSpPr>
          <p:cNvPr id="8" name="Footer">
            <a:extLst>
              <a:ext uri="{C183D7F6-B498-43B3-948B-1728B52AA6E4}">
                <adec:decorative xmlns:adec="http://schemas.microsoft.com/office/drawing/2017/decorative" val="1"/>
              </a:ext>
            </a:extLst>
          </p:cNvPr>
          <p:cNvSpPr>
            <a:spLocks noGrp="1"/>
          </p:cNvSpPr>
          <p:nvPr>
            <p:ph type="ftr" sz="quarter" idx="11"/>
          </p:nvPr>
        </p:nvSpPr>
        <p:spPr/>
        <p:txBody>
          <a:bodyPr/>
          <a:lstStyle/>
          <a:p>
            <a:r>
              <a:rPr lang="pt-BR" dirty="0">
                <a:solidFill>
                  <a:srgbClr val="BDBDBD"/>
                </a:solidFill>
              </a:rPr>
              <a:t>JAVA BUSHIDŌ</a:t>
            </a:r>
          </a:p>
        </p:txBody>
      </p:sp>
      <p:sp>
        <p:nvSpPr>
          <p:cNvPr id="7" name="SlideNum">
            <a:extLst>
              <a:ext uri="{C183D7F6-B498-43B3-948B-1728B52AA6E4}">
                <adec:decorative xmlns:adec="http://schemas.microsoft.com/office/drawing/2017/decorative" val="1"/>
              </a:ext>
            </a:extLst>
          </p:cNvPr>
          <p:cNvSpPr>
            <a:spLocks noGrp="1"/>
          </p:cNvSpPr>
          <p:nvPr>
            <p:ph type="sldNum" sz="quarter" idx="12"/>
          </p:nvPr>
        </p:nvSpPr>
        <p:spPr/>
        <p:txBody>
          <a:bodyPr/>
          <a:lstStyle/>
          <a:p>
            <a:fld id="{50C1CB04-2BE3-4164-84E0-A56E2E41F695}" type="slidenum">
              <a:rPr lang="pt-BR" smtClean="0">
                <a:solidFill>
                  <a:srgbClr val="BDBDBD"/>
                </a:solidFill>
              </a:rPr>
              <a:t>3</a:t>
            </a:fld>
            <a:endParaRPr lang="pt-BR" dirty="0">
              <a:solidFill>
                <a:srgbClr val="BDBDBD"/>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p:cNvSpPr txBox="1">
            <a:spLocks noGrp="1"/>
          </p:cNvSpPr>
          <p:nvPr>
            <p:ph type="title" idx="4294967295"/>
          </p:nvPr>
        </p:nvSpPr>
        <p:spPr>
          <a:xfrm>
            <a:off x="819150" y="524114"/>
            <a:ext cx="8292192" cy="646331"/>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pt-BR" sz="3600" b="1" i="0" u="none" strike="noStrike" kern="1200" cap="none" spc="0" normalizeH="0" baseline="0" noProof="0" dirty="0">
                <a:ln>
                  <a:noFill/>
                </a:ln>
                <a:solidFill>
                  <a:srgbClr val="B71C1C"/>
                </a:solidFill>
                <a:effectLst/>
                <a:uLnTx/>
                <a:uFillTx/>
                <a:latin typeface="Arial Black" panose="020B0A04020102020204" pitchFamily="34" charset="0"/>
                <a:ea typeface="+mn-ea"/>
                <a:cs typeface="+mn-cs"/>
              </a:rPr>
              <a:t>O Código como Caminho</a:t>
            </a:r>
          </a:p>
        </p:txBody>
      </p:sp>
      <p:sp>
        <p:nvSpPr>
          <p:cNvPr id="7" name="Subtitle"/>
          <p:cNvSpPr txBox="1"/>
          <p:nvPr/>
        </p:nvSpPr>
        <p:spPr>
          <a:xfrm>
            <a:off x="476249" y="2024555"/>
            <a:ext cx="8635093" cy="523220"/>
          </a:xfrm>
          <a:prstGeom prst="rect">
            <a:avLst/>
          </a:prstGeom>
          <a:noFill/>
        </p:spPr>
        <p:txBody>
          <a:bodyPr wrap="square" rtlCol="0">
            <a:spAutoFit/>
          </a:bodyPr>
          <a:lstStyle/>
          <a:p>
            <a:r>
              <a:rPr lang="pt-BR" sz="2800" dirty="0">
                <a:solidFill>
                  <a:srgbClr val="E2AE4E"/>
                </a:solidFill>
                <a:latin typeface="Calibri Light" panose="020F0302020204030204" pitchFamily="34" charset="0"/>
              </a:rPr>
              <a:t>O caminho do código</a:t>
            </a:r>
          </a:p>
        </p:txBody>
      </p:sp>
      <p:sp>
        <p:nvSpPr>
          <p:cNvPr id="8" name="Body"/>
          <p:cNvSpPr txBox="1"/>
          <p:nvPr/>
        </p:nvSpPr>
        <p:spPr>
          <a:xfrm>
            <a:off x="476249" y="2800000"/>
            <a:ext cx="8635092" cy="5466625"/>
          </a:xfrm>
          <a:prstGeom prst="rect">
            <a:avLst/>
          </a:prstGeom>
          <a:noFill/>
        </p:spPr>
        <p:txBody>
          <a:bodyPr wrap="square" rtlCol="0">
            <a:spAutoFit/>
          </a:bodyPr>
          <a:lstStyle/>
          <a:p>
            <a:pPr>
              <a:lnSpc>
                <a:spcPct val="130000"/>
              </a:lnSpc>
              <a:spcAft>
                <a:spcPts val="800"/>
              </a:spcAft>
            </a:pPr>
            <a:r>
              <a:rPr lang="pt-BR" sz="2000" dirty="0">
                <a:solidFill>
                  <a:srgbClr val="121212"/>
                </a:solidFill>
                <a:latin typeface="Calibri Light" panose="020F0302020204030204" pitchFamily="34" charset="0"/>
              </a:rPr>
              <a:t>Programar não é apenas escrever instruções para uma máquina. É um processo contínuo de aprendizado, em que cada linha de código reflete uma decisão, uma intenção e um nível de maturidade técnica. Assim como um samurai que treina diariamente, lapidando sua técnica e sua postura, o desenvolvedor evolui junto com as tecnologias que domina.</a:t>
            </a:r>
          </a:p>
          <a:p>
            <a:pPr>
              <a:lnSpc>
                <a:spcPct val="130000"/>
              </a:lnSpc>
              <a:spcAft>
                <a:spcPts val="800"/>
              </a:spcAft>
            </a:pPr>
            <a:r>
              <a:rPr lang="pt-BR" sz="2000" dirty="0">
                <a:solidFill>
                  <a:srgbClr val="121212"/>
                </a:solidFill>
                <a:latin typeface="Calibri Light" panose="020F0302020204030204" pitchFamily="34" charset="0"/>
              </a:rPr>
              <a:t>Java é um exemplo notável dessa jornada. Desde sua criação, a linguagem seguiu um princípio que poucos ecossistemas conseguem manter: evoluir sem quebrar o que já funciona. Isso significa que o código que você escreveu ontem continua válido amanhã, mesmo com as novidades que cada versão traz (salvo ajustes e depreciações naturais da evolução).</a:t>
            </a:r>
          </a:p>
          <a:p>
            <a:pPr>
              <a:lnSpc>
                <a:spcPct val="130000"/>
              </a:lnSpc>
              <a:spcAft>
                <a:spcPts val="800"/>
              </a:spcAft>
            </a:pPr>
            <a:r>
              <a:rPr lang="pt-BR" sz="2000" dirty="0">
                <a:solidFill>
                  <a:srgbClr val="121212"/>
                </a:solidFill>
                <a:latin typeface="Calibri Light" panose="020F0302020204030204" pitchFamily="34" charset="0"/>
              </a:rPr>
              <a:t>Disciplina técnica é o que separa um código que apenas funciona de outro que é confiável, legível e fácil de manter. Não se trata de seguir regras rígidas, mas de construir hábitos que tornam o desenvolvimento mais previsível e colaborativo.</a:t>
            </a:r>
          </a:p>
        </p:txBody>
      </p:sp>
      <p:sp>
        <p:nvSpPr>
          <p:cNvPr id="4" name="CaixaDeTexto 3">
            <a:extLst>
              <a:ext uri="{FF2B5EF4-FFF2-40B4-BE49-F238E27FC236}">
                <a16:creationId xmlns:a16="http://schemas.microsoft.com/office/drawing/2014/main" id="{98C39361-92E3-308D-899C-4A5856319942}"/>
              </a:ext>
            </a:extLst>
          </p:cNvPr>
          <p:cNvSpPr txBox="1"/>
          <p:nvPr/>
        </p:nvSpPr>
        <p:spPr>
          <a:xfrm>
            <a:off x="1556978" y="9374448"/>
            <a:ext cx="7384140" cy="369332"/>
          </a:xfrm>
          <a:prstGeom prst="rect">
            <a:avLst/>
          </a:prstGeom>
          <a:noFill/>
        </p:spPr>
        <p:txBody>
          <a:bodyPr wrap="square">
            <a:spAutoFit/>
          </a:bodyPr>
          <a:lstStyle/>
          <a:p>
            <a:pPr>
              <a:spcBef>
                <a:spcPts val="1200"/>
              </a:spcBef>
            </a:pPr>
            <a:r>
              <a:rPr lang="pt-BR" sz="1800" i="1" dirty="0">
                <a:solidFill>
                  <a:srgbClr val="E2AE4E"/>
                </a:solidFill>
                <a:latin typeface="Calibri Light" panose="020F0302020204030204" pitchFamily="34" charset="0"/>
              </a:rPr>
              <a:t>“Evoluir com constância é mais valioso do que mudar por impulso.”</a:t>
            </a:r>
          </a:p>
        </p:txBody>
      </p:sp>
      <p:sp>
        <p:nvSpPr>
          <p:cNvPr id="9" name="AccentBar">
            <a:extLst>
              <a:ext uri="{C183D7F6-B498-43B3-948B-1728B52AA6E4}">
                <adec:decorative xmlns:adec="http://schemas.microsoft.com/office/drawing/2017/decorative" val="1"/>
              </a:ext>
            </a:extLst>
          </p:cNvPr>
          <p:cNvSpPr/>
          <p:nvPr/>
        </p:nvSpPr>
        <p:spPr>
          <a:xfrm>
            <a:off x="476249" y="0"/>
            <a:ext cx="72000" cy="1946064"/>
          </a:xfrm>
          <a:prstGeom prst="rect">
            <a:avLst/>
          </a:prstGeom>
          <a:gradFill flip="none" rotWithShape="1">
            <a:gsLst>
              <a:gs pos="0">
                <a:srgbClr val="E2AE4E"/>
              </a:gs>
              <a:gs pos="60000">
                <a:srgbClr val="B71C1C"/>
              </a:gs>
              <a:gs pos="100000">
                <a:srgbClr val="121212"/>
              </a:gs>
            </a:gsLst>
            <a:lin ang="5400000" scaled="1"/>
            <a:tileRect/>
          </a:gradFill>
          <a:ln>
            <a:noFill/>
          </a:ln>
        </p:spPr>
        <p:txBody>
          <a:bodyPr rtlCol="0" anchor="ctr"/>
          <a:lstStyle/>
          <a:p>
            <a:pPr algn="ctr"/>
            <a:endParaRPr lang="pt-BR"/>
          </a:p>
        </p:txBody>
      </p:sp>
      <p:pic>
        <p:nvPicPr>
          <p:cNvPr id="1026" name="Picture 2">
            <a:extLst>
              <a:ext uri="{FF2B5EF4-FFF2-40B4-BE49-F238E27FC236}">
                <a16:creationId xmlns:a16="http://schemas.microsoft.com/office/drawing/2014/main" id="{6773FFAB-EFB9-EA49-014C-809BF6D51C8E}"/>
              </a:ext>
              <a:ext uri="{C183D7F6-B498-43B3-948B-1728B52AA6E4}">
                <adec:decorative xmlns:adec="http://schemas.microsoft.com/office/drawing/2017/decorative" val="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2781" b="12889"/>
          <a:stretch>
            <a:fillRect/>
          </a:stretch>
        </p:blipFill>
        <p:spPr bwMode="auto">
          <a:xfrm>
            <a:off x="0" y="8518849"/>
            <a:ext cx="9601200" cy="4282751"/>
          </a:xfrm>
          <a:prstGeom prst="rect">
            <a:avLst/>
          </a:prstGeom>
          <a:noFill/>
          <a:extLst>
            <a:ext uri="{909E8E84-426E-40DD-AFC4-6F175D3DCCD1}">
              <a14:hiddenFill xmlns:a14="http://schemas.microsoft.com/office/drawing/2010/main">
                <a:solidFill>
                  <a:srgbClr val="FFFFFF"/>
                </a:solidFill>
              </a14:hiddenFill>
            </a:ext>
          </a:extLst>
        </p:spPr>
      </p:pic>
      <p:sp>
        <p:nvSpPr>
          <p:cNvPr id="5" name="Footer">
            <a:extLst>
              <a:ext uri="{C183D7F6-B498-43B3-948B-1728B52AA6E4}">
                <adec:decorative xmlns:adec="http://schemas.microsoft.com/office/drawing/2017/decorative" val="1"/>
              </a:ext>
            </a:extLst>
          </p:cNvPr>
          <p:cNvSpPr>
            <a:spLocks noGrp="1"/>
          </p:cNvSpPr>
          <p:nvPr>
            <p:ph type="ftr" sz="quarter" idx="11"/>
          </p:nvPr>
        </p:nvSpPr>
        <p:spPr/>
        <p:txBody>
          <a:bodyPr/>
          <a:lstStyle/>
          <a:p>
            <a:r>
              <a:rPr lang="pt-BR" dirty="0">
                <a:solidFill>
                  <a:srgbClr val="BDBDBD"/>
                </a:solidFill>
              </a:rPr>
              <a:t>JAVA BUSHIDŌ</a:t>
            </a:r>
          </a:p>
        </p:txBody>
      </p:sp>
      <p:sp>
        <p:nvSpPr>
          <p:cNvPr id="10" name="SlideNum">
            <a:extLst>
              <a:ext uri="{C183D7F6-B498-43B3-948B-1728B52AA6E4}">
                <adec:decorative xmlns:adec="http://schemas.microsoft.com/office/drawing/2017/decorative" val="1"/>
              </a:ext>
            </a:extLst>
          </p:cNvPr>
          <p:cNvSpPr>
            <a:spLocks noGrp="1"/>
          </p:cNvSpPr>
          <p:nvPr>
            <p:ph type="sldNum" sz="quarter" idx="12"/>
          </p:nvPr>
        </p:nvSpPr>
        <p:spPr/>
        <p:txBody>
          <a:bodyPr/>
          <a:lstStyle/>
          <a:p>
            <a:fld id="{50C1CB04-2BE3-4164-84E0-A56E2E41F695}" type="slidenum">
              <a:rPr lang="pt-BR" smtClean="0"/>
              <a:t>4</a:t>
            </a:fld>
            <a:endParaRPr lang="pt-B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gRect">
            <a:extLst>
              <a:ext uri="{C183D7F6-B498-43B3-948B-1728B52AA6E4}">
                <adec:decorative xmlns:adec="http://schemas.microsoft.com/office/drawing/2017/decorative" val="1"/>
              </a:ext>
            </a:extLst>
          </p:cNvPr>
          <p:cNvSpPr/>
          <p:nvPr/>
        </p:nvSpPr>
        <p:spPr>
          <a:xfrm>
            <a:off x="0" y="0"/>
            <a:ext cx="9601200" cy="12801600"/>
          </a:xfrm>
          <a:prstGeom prst="rect">
            <a:avLst/>
          </a:prstGeom>
          <a:solidFill>
            <a:srgbClr val="121212"/>
          </a:solidFill>
          <a:ln>
            <a:noFill/>
          </a:ln>
        </p:spPr>
        <p:txBody>
          <a:bodyPr rtlCol="0" anchor="ctr"/>
          <a:lstStyle/>
          <a:p>
            <a:pPr algn="ctr"/>
            <a:endParaRPr lang="pt-BR"/>
          </a:p>
        </p:txBody>
      </p:sp>
      <p:sp>
        <p:nvSpPr>
          <p:cNvPr id="5" name="Number" descr="Arco I"/>
          <p:cNvSpPr txBox="1"/>
          <p:nvPr/>
        </p:nvSpPr>
        <p:spPr>
          <a:xfrm>
            <a:off x="700000" y="200000"/>
            <a:ext cx="8200000" cy="6447919"/>
          </a:xfrm>
          <a:prstGeom prst="rect">
            <a:avLst/>
          </a:prstGeom>
          <a:noFill/>
        </p:spPr>
        <p:txBody>
          <a:bodyPr wrap="square" rtlCol="0">
            <a:spAutoFit/>
          </a:bodyPr>
          <a:lstStyle/>
          <a:p>
            <a:pPr algn="ctr"/>
            <a:r>
              <a:rPr lang="pt-BR" sz="41300" dirty="0">
                <a:ln w="12700">
                  <a:solidFill>
                    <a:srgbClr val="B71C1C"/>
                  </a:solidFill>
                </a:ln>
                <a:noFill/>
                <a:latin typeface="Arial Black" panose="020B0A04020102020204" pitchFamily="34" charset="0"/>
              </a:rPr>
              <a:t>I</a:t>
            </a:r>
          </a:p>
        </p:txBody>
      </p:sp>
      <p:sp>
        <p:nvSpPr>
          <p:cNvPr id="3" name="Title"/>
          <p:cNvSpPr txBox="1">
            <a:spLocks noGrp="1"/>
          </p:cNvSpPr>
          <p:nvPr>
            <p:ph type="title" idx="4294967295"/>
          </p:nvPr>
        </p:nvSpPr>
        <p:spPr>
          <a:xfrm>
            <a:off x="489857" y="6000000"/>
            <a:ext cx="8621485" cy="263149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pt-BR" sz="5500" b="0" i="0" u="none" strike="noStrike" kern="1200" cap="none" spc="0" normalizeH="0" baseline="0" noProof="0" dirty="0">
                <a:ln>
                  <a:noFill/>
                </a:ln>
                <a:solidFill>
                  <a:srgbClr val="FFFFFF"/>
                </a:solidFill>
                <a:effectLst/>
                <a:uLnTx/>
                <a:uFillTx/>
                <a:latin typeface="Arial Black" panose="020B0A04020102020204" pitchFamily="34" charset="0"/>
                <a:ea typeface="+mn-ea"/>
                <a:cs typeface="+mn-cs"/>
              </a:rPr>
              <a:t>ANTES</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pt-BR" sz="5500" b="0" i="0" u="none" strike="noStrike" kern="1200" cap="none" spc="0" normalizeH="0" baseline="0" noProof="0" dirty="0">
                <a:ln>
                  <a:noFill/>
                </a:ln>
                <a:solidFill>
                  <a:srgbClr val="FFFFFF"/>
                </a:solidFill>
                <a:effectLst/>
                <a:uLnTx/>
                <a:uFillTx/>
                <a:latin typeface="Arial Black" panose="020B0A04020102020204" pitchFamily="34" charset="0"/>
                <a:ea typeface="+mn-ea"/>
                <a:cs typeface="+mn-cs"/>
              </a:rPr>
              <a:t>DA</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pt-BR" sz="5500" b="0" i="0" u="none" strike="noStrike" kern="1200" cap="none" spc="0" normalizeH="0" baseline="0" noProof="0" dirty="0">
                <a:ln>
                  <a:noFill/>
                </a:ln>
                <a:solidFill>
                  <a:srgbClr val="FFFFFF"/>
                </a:solidFill>
                <a:effectLst/>
                <a:uLnTx/>
                <a:uFillTx/>
                <a:latin typeface="Arial Black" panose="020B0A04020102020204" pitchFamily="34" charset="0"/>
                <a:ea typeface="+mn-ea"/>
                <a:cs typeface="+mn-cs"/>
              </a:rPr>
              <a:t>KATANA</a:t>
            </a:r>
          </a:p>
        </p:txBody>
      </p:sp>
      <p:sp>
        <p:nvSpPr>
          <p:cNvPr id="4" name="GradLine">
            <a:extLst>
              <a:ext uri="{C183D7F6-B498-43B3-948B-1728B52AA6E4}">
                <adec:decorative xmlns:adec="http://schemas.microsoft.com/office/drawing/2017/decorative" val="1"/>
              </a:ext>
            </a:extLst>
          </p:cNvPr>
          <p:cNvSpPr/>
          <p:nvPr/>
        </p:nvSpPr>
        <p:spPr>
          <a:xfrm rot="5400000">
            <a:off x="4757736" y="5600700"/>
            <a:ext cx="182880" cy="7200900"/>
          </a:xfrm>
          <a:prstGeom prst="rect">
            <a:avLst/>
          </a:prstGeom>
          <a:gradFill flip="none" rotWithShape="1">
            <a:gsLst>
              <a:gs pos="0">
                <a:srgbClr val="E2AE4E"/>
              </a:gs>
              <a:gs pos="60000">
                <a:srgbClr val="B71C1C"/>
              </a:gs>
              <a:gs pos="100000">
                <a:srgbClr val="121212"/>
              </a:gs>
            </a:gsLst>
            <a:lin ang="5400000" scaled="1"/>
            <a:tileRect/>
          </a:gradFill>
          <a:ln>
            <a:noFill/>
          </a:ln>
        </p:spPr>
        <p:txBody>
          <a:bodyPr rtlCol="0" anchor="ctr"/>
          <a:lstStyle/>
          <a:p>
            <a:pPr algn="ctr"/>
            <a:endParaRPr lang="pt-BR"/>
          </a:p>
        </p:txBody>
      </p:sp>
      <p:sp>
        <p:nvSpPr>
          <p:cNvPr id="7" name="SlideNum">
            <a:extLst>
              <a:ext uri="{C183D7F6-B498-43B3-948B-1728B52AA6E4}">
                <adec:decorative xmlns:adec="http://schemas.microsoft.com/office/drawing/2017/decorative" val="1"/>
              </a:ext>
            </a:extLst>
          </p:cNvPr>
          <p:cNvSpPr>
            <a:spLocks noGrp="1"/>
          </p:cNvSpPr>
          <p:nvPr>
            <p:ph type="sldNum" sz="quarter" idx="12"/>
          </p:nvPr>
        </p:nvSpPr>
        <p:spPr/>
        <p:txBody>
          <a:bodyPr/>
          <a:lstStyle/>
          <a:p>
            <a:fld id="{50C1CB04-2BE3-4164-84E0-A56E2E41F695}" type="slidenum">
              <a:rPr lang="pt-BR" smtClean="0">
                <a:solidFill>
                  <a:srgbClr val="BDBDBD"/>
                </a:solidFill>
              </a:rPr>
              <a:t>5</a:t>
            </a:fld>
            <a:endParaRPr lang="pt-BR" dirty="0">
              <a:solidFill>
                <a:srgbClr val="BDBDBD"/>
              </a:solidFill>
            </a:endParaRPr>
          </a:p>
        </p:txBody>
      </p:sp>
      <p:sp>
        <p:nvSpPr>
          <p:cNvPr id="8" name="Footer">
            <a:extLst>
              <a:ext uri="{C183D7F6-B498-43B3-948B-1728B52AA6E4}">
                <adec:decorative xmlns:adec="http://schemas.microsoft.com/office/drawing/2017/decorative" val="1"/>
              </a:ext>
            </a:extLst>
          </p:cNvPr>
          <p:cNvSpPr>
            <a:spLocks noGrp="1"/>
          </p:cNvSpPr>
          <p:nvPr>
            <p:ph type="ftr" sz="quarter" idx="11"/>
          </p:nvPr>
        </p:nvSpPr>
        <p:spPr/>
        <p:txBody>
          <a:bodyPr/>
          <a:lstStyle/>
          <a:p>
            <a:r>
              <a:rPr lang="pt-BR" dirty="0">
                <a:solidFill>
                  <a:srgbClr val="BDBDBD"/>
                </a:solidFill>
              </a:rPr>
              <a:t>JAVA BUSHIDŌ</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p:cNvSpPr txBox="1">
            <a:spLocks noGrp="1"/>
          </p:cNvSpPr>
          <p:nvPr>
            <p:ph type="title" idx="4294967295"/>
          </p:nvPr>
        </p:nvSpPr>
        <p:spPr>
          <a:xfrm>
            <a:off x="819150" y="524114"/>
            <a:ext cx="8292192" cy="646331"/>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pt-BR" sz="3600" b="1" i="0" u="none" strike="noStrike" kern="1200" cap="none" spc="0" normalizeH="0" baseline="0" noProof="0" dirty="0">
                <a:ln>
                  <a:noFill/>
                </a:ln>
                <a:solidFill>
                  <a:srgbClr val="B71C1C"/>
                </a:solidFill>
                <a:effectLst/>
                <a:uLnTx/>
                <a:uFillTx/>
                <a:latin typeface="Arial Black" panose="020B0A04020102020204" pitchFamily="34" charset="0"/>
                <a:ea typeface="+mn-ea"/>
                <a:cs typeface="+mn-cs"/>
              </a:rPr>
              <a:t>O Java Antes da Versão 8</a:t>
            </a:r>
          </a:p>
        </p:txBody>
      </p:sp>
      <p:sp>
        <p:nvSpPr>
          <p:cNvPr id="7" name="Subtitle"/>
          <p:cNvSpPr txBox="1"/>
          <p:nvPr/>
        </p:nvSpPr>
        <p:spPr>
          <a:xfrm>
            <a:off x="476249" y="2024555"/>
            <a:ext cx="8635093" cy="523220"/>
          </a:xfrm>
          <a:prstGeom prst="rect">
            <a:avLst/>
          </a:prstGeom>
          <a:noFill/>
        </p:spPr>
        <p:txBody>
          <a:bodyPr wrap="square" rtlCol="0">
            <a:spAutoFit/>
          </a:bodyPr>
          <a:lstStyle/>
          <a:p>
            <a:r>
              <a:rPr lang="pt-BR" sz="2800" dirty="0">
                <a:solidFill>
                  <a:srgbClr val="FFBE2E"/>
                </a:solidFill>
                <a:latin typeface="Calibri Light" panose="020F0302020204030204" pitchFamily="34" charset="0"/>
              </a:rPr>
              <a:t>Arco I — Antes da Katana</a:t>
            </a:r>
          </a:p>
        </p:txBody>
      </p:sp>
      <p:sp>
        <p:nvSpPr>
          <p:cNvPr id="8" name="Body"/>
          <p:cNvSpPr txBox="1"/>
          <p:nvPr/>
        </p:nvSpPr>
        <p:spPr>
          <a:xfrm>
            <a:off x="476249" y="2800000"/>
            <a:ext cx="8635092" cy="5066515"/>
          </a:xfrm>
          <a:prstGeom prst="rect">
            <a:avLst/>
          </a:prstGeom>
          <a:noFill/>
        </p:spPr>
        <p:txBody>
          <a:bodyPr wrap="square" rtlCol="0">
            <a:spAutoFit/>
          </a:bodyPr>
          <a:lstStyle/>
          <a:p>
            <a:pPr>
              <a:lnSpc>
                <a:spcPct val="130000"/>
              </a:lnSpc>
              <a:spcAft>
                <a:spcPts val="800"/>
              </a:spcAft>
            </a:pPr>
            <a:r>
              <a:rPr lang="pt-BR" sz="2000" dirty="0">
                <a:solidFill>
                  <a:srgbClr val="121212"/>
                </a:solidFill>
                <a:latin typeface="Calibri Light" panose="020F0302020204030204" pitchFamily="34" charset="0"/>
              </a:rPr>
              <a:t>Antes do Java 8, a linguagem era predominantemente imperativa. Isso significa que o programador precisava detalhar cada passo: criar variáveis auxiliares, iterar com loops tradicionais e escrever blocos de código extensos para tarefas relativamente simples. Não era raro encontrar classes extensas para representar objetos simples.</a:t>
            </a:r>
          </a:p>
          <a:p>
            <a:pPr>
              <a:lnSpc>
                <a:spcPct val="130000"/>
              </a:lnSpc>
              <a:spcAft>
                <a:spcPts val="800"/>
              </a:spcAft>
            </a:pPr>
            <a:r>
              <a:rPr lang="pt-BR" sz="2000" dirty="0">
                <a:solidFill>
                  <a:srgbClr val="121212"/>
                </a:solidFill>
                <a:latin typeface="Calibri Light" panose="020F0302020204030204" pitchFamily="34" charset="0"/>
              </a:rPr>
              <a:t>Esse estilo verboso tinha suas vantagens, pois era explícito e previsível, mas também gerava repetição. Padrões como classes anônimas internas para tratar eventos ou </a:t>
            </a:r>
            <a:r>
              <a:rPr lang="pt-BR" sz="2000" i="1" dirty="0">
                <a:solidFill>
                  <a:srgbClr val="121212"/>
                </a:solidFill>
                <a:latin typeface="Calibri Light" panose="020F0302020204030204" pitchFamily="34" charset="0"/>
              </a:rPr>
              <a:t>callbacks</a:t>
            </a:r>
            <a:r>
              <a:rPr lang="pt-BR" sz="2000" dirty="0">
                <a:solidFill>
                  <a:srgbClr val="121212"/>
                </a:solidFill>
                <a:latin typeface="Calibri Light" panose="020F0302020204030204" pitchFamily="34" charset="0"/>
              </a:rPr>
              <a:t> tornavam o código denso e difícil de ler, especialmente para quem estava aprendendo.</a:t>
            </a:r>
          </a:p>
          <a:p>
            <a:pPr>
              <a:lnSpc>
                <a:spcPct val="130000"/>
              </a:lnSpc>
              <a:spcAft>
                <a:spcPts val="800"/>
              </a:spcAft>
            </a:pPr>
            <a:r>
              <a:rPr lang="pt-BR" sz="2000" dirty="0">
                <a:solidFill>
                  <a:srgbClr val="121212"/>
                </a:solidFill>
                <a:latin typeface="Calibri Light" panose="020F0302020204030204" pitchFamily="34" charset="0"/>
              </a:rPr>
              <a:t>A programação funcional, tão presente em linguagens como Python e </a:t>
            </a:r>
            <a:r>
              <a:rPr lang="pt-BR" sz="2000" dirty="0" err="1">
                <a:solidFill>
                  <a:srgbClr val="121212"/>
                </a:solidFill>
                <a:latin typeface="Calibri Light" panose="020F0302020204030204" pitchFamily="34" charset="0"/>
              </a:rPr>
              <a:t>JavaScript</a:t>
            </a:r>
            <a:r>
              <a:rPr lang="pt-BR" sz="2000" dirty="0">
                <a:solidFill>
                  <a:srgbClr val="121212"/>
                </a:solidFill>
                <a:latin typeface="Calibri Light" panose="020F0302020204030204" pitchFamily="34" charset="0"/>
              </a:rPr>
              <a:t>, praticamente não existia no Java dessa época. Não havia </a:t>
            </a:r>
            <a:r>
              <a:rPr lang="pt-BR" sz="2000" i="1" dirty="0">
                <a:solidFill>
                  <a:srgbClr val="121212"/>
                </a:solidFill>
                <a:latin typeface="Calibri Light" panose="020F0302020204030204" pitchFamily="34" charset="0"/>
              </a:rPr>
              <a:t>lambdas</a:t>
            </a:r>
            <a:r>
              <a:rPr lang="pt-BR" sz="2000" dirty="0">
                <a:solidFill>
                  <a:srgbClr val="121212"/>
                </a:solidFill>
                <a:latin typeface="Calibri Light" panose="020F0302020204030204" pitchFamily="34" charset="0"/>
              </a:rPr>
              <a:t>, não havia </a:t>
            </a:r>
            <a:r>
              <a:rPr lang="pt-BR" sz="2000" i="1" dirty="0">
                <a:solidFill>
                  <a:srgbClr val="121212"/>
                </a:solidFill>
                <a:latin typeface="Calibri Light" panose="020F0302020204030204" pitchFamily="34" charset="0"/>
              </a:rPr>
              <a:t>streams</a:t>
            </a:r>
            <a:r>
              <a:rPr lang="pt-BR" sz="2000" dirty="0">
                <a:solidFill>
                  <a:srgbClr val="121212"/>
                </a:solidFill>
                <a:latin typeface="Calibri Light" panose="020F0302020204030204" pitchFamily="34" charset="0"/>
              </a:rPr>
              <a:t>, e manipular coleções exigia loops manuais. A evolução era lenta, e essa estabilidade acabou se tornando sua maior virtude nos ambientes corporativos.</a:t>
            </a:r>
          </a:p>
        </p:txBody>
      </p:sp>
      <p:sp>
        <p:nvSpPr>
          <p:cNvPr id="3" name="CaixaDeTexto 2">
            <a:extLst>
              <a:ext uri="{FF2B5EF4-FFF2-40B4-BE49-F238E27FC236}">
                <a16:creationId xmlns:a16="http://schemas.microsoft.com/office/drawing/2014/main" id="{2250B8C9-CF8C-5776-79DC-A9471CD89393}"/>
              </a:ext>
            </a:extLst>
          </p:cNvPr>
          <p:cNvSpPr txBox="1"/>
          <p:nvPr/>
        </p:nvSpPr>
        <p:spPr>
          <a:xfrm>
            <a:off x="1556978" y="9374448"/>
            <a:ext cx="7384140" cy="369332"/>
          </a:xfrm>
          <a:prstGeom prst="rect">
            <a:avLst/>
          </a:prstGeom>
          <a:noFill/>
        </p:spPr>
        <p:txBody>
          <a:bodyPr wrap="square">
            <a:spAutoFit/>
          </a:bodyPr>
          <a:lstStyle/>
          <a:p>
            <a:pPr algn="just">
              <a:spcBef>
                <a:spcPts val="1200"/>
              </a:spcBef>
            </a:pPr>
            <a:r>
              <a:rPr lang="pt-BR" i="1" dirty="0">
                <a:solidFill>
                  <a:srgbClr val="E2AE4E"/>
                </a:solidFill>
                <a:latin typeface="Calibri Light" panose="020F0302020204030204" pitchFamily="34" charset="0"/>
              </a:rPr>
              <a:t>“Antes de empunhar a katana, o guerreiro fortalece a base.”</a:t>
            </a:r>
          </a:p>
        </p:txBody>
      </p:sp>
      <p:sp>
        <p:nvSpPr>
          <p:cNvPr id="9" name="AccentBar">
            <a:extLst>
              <a:ext uri="{C183D7F6-B498-43B3-948B-1728B52AA6E4}">
                <adec:decorative xmlns:adec="http://schemas.microsoft.com/office/drawing/2017/decorative" val="1"/>
              </a:ext>
            </a:extLst>
          </p:cNvPr>
          <p:cNvSpPr/>
          <p:nvPr/>
        </p:nvSpPr>
        <p:spPr>
          <a:xfrm>
            <a:off x="476249" y="0"/>
            <a:ext cx="72000" cy="1946064"/>
          </a:xfrm>
          <a:prstGeom prst="rect">
            <a:avLst/>
          </a:prstGeom>
          <a:gradFill flip="none" rotWithShape="1">
            <a:gsLst>
              <a:gs pos="0">
                <a:srgbClr val="E2AE4E"/>
              </a:gs>
              <a:gs pos="60000">
                <a:srgbClr val="B71C1C"/>
              </a:gs>
              <a:gs pos="100000">
                <a:srgbClr val="121212"/>
              </a:gs>
            </a:gsLst>
            <a:lin ang="5400000" scaled="1"/>
            <a:tileRect/>
          </a:gradFill>
          <a:ln>
            <a:noFill/>
          </a:ln>
        </p:spPr>
        <p:txBody>
          <a:bodyPr rtlCol="0" anchor="ctr"/>
          <a:lstStyle/>
          <a:p>
            <a:pPr algn="ctr"/>
            <a:endParaRPr lang="pt-BR"/>
          </a:p>
        </p:txBody>
      </p:sp>
      <p:pic>
        <p:nvPicPr>
          <p:cNvPr id="2" name="Picture 2">
            <a:extLst>
              <a:ext uri="{FF2B5EF4-FFF2-40B4-BE49-F238E27FC236}">
                <a16:creationId xmlns:a16="http://schemas.microsoft.com/office/drawing/2014/main" id="{7EADC63A-EE0A-3361-2330-122F421C8513}"/>
              </a:ext>
              <a:ext uri="{C183D7F6-B498-43B3-948B-1728B52AA6E4}">
                <adec:decorative xmlns:adec="http://schemas.microsoft.com/office/drawing/2017/decorative" val="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2781" b="12889"/>
          <a:stretch>
            <a:fillRect/>
          </a:stretch>
        </p:blipFill>
        <p:spPr bwMode="auto">
          <a:xfrm>
            <a:off x="0" y="8518849"/>
            <a:ext cx="9601200" cy="4282751"/>
          </a:xfrm>
          <a:prstGeom prst="rect">
            <a:avLst/>
          </a:prstGeom>
          <a:noFill/>
          <a:extLst>
            <a:ext uri="{909E8E84-426E-40DD-AFC4-6F175D3DCCD1}">
              <a14:hiddenFill xmlns:a14="http://schemas.microsoft.com/office/drawing/2010/main">
                <a:solidFill>
                  <a:srgbClr val="FFFFFF"/>
                </a:solidFill>
              </a14:hiddenFill>
            </a:ext>
          </a:extLst>
        </p:spPr>
      </p:pic>
      <p:sp>
        <p:nvSpPr>
          <p:cNvPr id="5" name="Footer">
            <a:extLst>
              <a:ext uri="{C183D7F6-B498-43B3-948B-1728B52AA6E4}">
                <adec:decorative xmlns:adec="http://schemas.microsoft.com/office/drawing/2017/decorative" val="1"/>
              </a:ext>
            </a:extLst>
          </p:cNvPr>
          <p:cNvSpPr>
            <a:spLocks noGrp="1"/>
          </p:cNvSpPr>
          <p:nvPr>
            <p:ph type="ftr" sz="quarter" idx="11"/>
          </p:nvPr>
        </p:nvSpPr>
        <p:spPr/>
        <p:txBody>
          <a:bodyPr/>
          <a:lstStyle/>
          <a:p>
            <a:r>
              <a:rPr lang="pt-BR" dirty="0">
                <a:solidFill>
                  <a:srgbClr val="BDBDBD"/>
                </a:solidFill>
              </a:rPr>
              <a:t>JAVA BUSHIDŌ</a:t>
            </a:r>
          </a:p>
        </p:txBody>
      </p:sp>
      <p:sp>
        <p:nvSpPr>
          <p:cNvPr id="10" name="SlideNum">
            <a:extLst>
              <a:ext uri="{C183D7F6-B498-43B3-948B-1728B52AA6E4}">
                <adec:decorative xmlns:adec="http://schemas.microsoft.com/office/drawing/2017/decorative" val="1"/>
              </a:ext>
            </a:extLst>
          </p:cNvPr>
          <p:cNvSpPr>
            <a:spLocks noGrp="1"/>
          </p:cNvSpPr>
          <p:nvPr>
            <p:ph type="sldNum" sz="quarter" idx="12"/>
          </p:nvPr>
        </p:nvSpPr>
        <p:spPr/>
        <p:txBody>
          <a:bodyPr/>
          <a:lstStyle/>
          <a:p>
            <a:fld id="{50C1CB04-2BE3-4164-84E0-A56E2E41F695}" type="slidenum">
              <a:rPr lang="pt-BR" smtClean="0"/>
              <a:t>6</a:t>
            </a:fld>
            <a:endParaRPr lang="pt-B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gRect">
            <a:extLst>
              <a:ext uri="{C183D7F6-B498-43B3-948B-1728B52AA6E4}">
                <adec:decorative xmlns:adec="http://schemas.microsoft.com/office/drawing/2017/decorative" val="1"/>
              </a:ext>
            </a:extLst>
          </p:cNvPr>
          <p:cNvSpPr/>
          <p:nvPr/>
        </p:nvSpPr>
        <p:spPr>
          <a:xfrm>
            <a:off x="0" y="0"/>
            <a:ext cx="9601200" cy="12801600"/>
          </a:xfrm>
          <a:prstGeom prst="rect">
            <a:avLst/>
          </a:prstGeom>
          <a:solidFill>
            <a:srgbClr val="121212"/>
          </a:solidFill>
          <a:ln>
            <a:noFill/>
          </a:ln>
        </p:spPr>
        <p:txBody>
          <a:bodyPr rtlCol="0" anchor="ctr"/>
          <a:lstStyle/>
          <a:p>
            <a:pPr algn="ctr"/>
            <a:endParaRPr lang="pt-BR"/>
          </a:p>
        </p:txBody>
      </p:sp>
      <p:sp>
        <p:nvSpPr>
          <p:cNvPr id="5" name="Number" descr="Arco II"/>
          <p:cNvSpPr txBox="1"/>
          <p:nvPr/>
        </p:nvSpPr>
        <p:spPr>
          <a:xfrm>
            <a:off x="700000" y="200000"/>
            <a:ext cx="8200000" cy="6447919"/>
          </a:xfrm>
          <a:prstGeom prst="rect">
            <a:avLst/>
          </a:prstGeom>
          <a:noFill/>
        </p:spPr>
        <p:txBody>
          <a:bodyPr wrap="square" rtlCol="0">
            <a:spAutoFit/>
          </a:bodyPr>
          <a:lstStyle/>
          <a:p>
            <a:pPr algn="ctr"/>
            <a:r>
              <a:rPr lang="pt-BR" sz="41300" dirty="0">
                <a:ln w="12700">
                  <a:solidFill>
                    <a:srgbClr val="B71C1C"/>
                  </a:solidFill>
                </a:ln>
                <a:noFill/>
                <a:latin typeface="Arial Black" panose="020B0A04020102020204" pitchFamily="34" charset="0"/>
              </a:rPr>
              <a:t>II</a:t>
            </a:r>
          </a:p>
        </p:txBody>
      </p:sp>
      <p:sp>
        <p:nvSpPr>
          <p:cNvPr id="9" name="Title">
            <a:extLst>
              <a:ext uri="{FF2B5EF4-FFF2-40B4-BE49-F238E27FC236}">
                <a16:creationId xmlns:a16="http://schemas.microsoft.com/office/drawing/2014/main" id="{74D00052-5F7A-9745-173B-8F8F4A1231AA}"/>
              </a:ext>
            </a:extLst>
          </p:cNvPr>
          <p:cNvSpPr txBox="1">
            <a:spLocks noGrp="1"/>
          </p:cNvSpPr>
          <p:nvPr>
            <p:ph type="title" idx="4294967295"/>
          </p:nvPr>
        </p:nvSpPr>
        <p:spPr>
          <a:xfrm>
            <a:off x="489857" y="6000000"/>
            <a:ext cx="8621485" cy="263149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pt-BR" sz="5500" b="0" i="0" u="none" strike="noStrike" kern="1200" cap="none" spc="0" normalizeH="0" baseline="0" noProof="0" dirty="0">
                <a:ln>
                  <a:noFill/>
                </a:ln>
                <a:solidFill>
                  <a:srgbClr val="FFFFFF"/>
                </a:solidFill>
                <a:effectLst/>
                <a:uLnTx/>
                <a:uFillTx/>
                <a:latin typeface="Arial Black" panose="020B0A04020102020204" pitchFamily="34" charset="0"/>
                <a:ea typeface="+mn-ea"/>
                <a:cs typeface="+mn-cs"/>
              </a:rPr>
              <a:t>O CORTE INICIAL</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pt-BR" sz="5500" b="0" i="0" u="none" strike="noStrike" kern="1200" cap="none" spc="0" normalizeH="0" baseline="0" noProof="0" dirty="0">
              <a:ln>
                <a:noFill/>
              </a:ln>
              <a:solidFill>
                <a:srgbClr val="FFFFFF"/>
              </a:solidFill>
              <a:effectLst/>
              <a:uLnTx/>
              <a:uFillTx/>
              <a:latin typeface="Arial Black" panose="020B0A04020102020204" pitchFamily="34" charset="0"/>
              <a:ea typeface="+mn-e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pt-BR" sz="5500" b="0" i="0" u="none" strike="noStrike" kern="1200" cap="none" spc="0" normalizeH="0" baseline="0" noProof="0" dirty="0">
                <a:ln>
                  <a:noFill/>
                </a:ln>
                <a:solidFill>
                  <a:srgbClr val="FFFFFF"/>
                </a:solidFill>
                <a:effectLst/>
                <a:uLnTx/>
                <a:uFillTx/>
                <a:latin typeface="Arial Black" panose="020B0A04020102020204" pitchFamily="34" charset="0"/>
                <a:ea typeface="+mn-ea"/>
                <a:cs typeface="+mn-cs"/>
              </a:rPr>
              <a:t>JAVA 8</a:t>
            </a:r>
          </a:p>
        </p:txBody>
      </p:sp>
      <p:sp>
        <p:nvSpPr>
          <p:cNvPr id="4" name="GradLine">
            <a:extLst>
              <a:ext uri="{C183D7F6-B498-43B3-948B-1728B52AA6E4}">
                <adec:decorative xmlns:adec="http://schemas.microsoft.com/office/drawing/2017/decorative" val="1"/>
              </a:ext>
            </a:extLst>
          </p:cNvPr>
          <p:cNvSpPr/>
          <p:nvPr/>
        </p:nvSpPr>
        <p:spPr>
          <a:xfrm rot="5400000">
            <a:off x="4757736" y="5600700"/>
            <a:ext cx="182880" cy="7200900"/>
          </a:xfrm>
          <a:prstGeom prst="rect">
            <a:avLst/>
          </a:prstGeom>
          <a:gradFill flip="none" rotWithShape="1">
            <a:gsLst>
              <a:gs pos="0">
                <a:srgbClr val="E2AE4E"/>
              </a:gs>
              <a:gs pos="60000">
                <a:srgbClr val="B71C1C"/>
              </a:gs>
              <a:gs pos="100000">
                <a:srgbClr val="121212"/>
              </a:gs>
            </a:gsLst>
            <a:lin ang="5400000" scaled="1"/>
            <a:tileRect/>
          </a:gradFill>
          <a:ln>
            <a:noFill/>
          </a:ln>
        </p:spPr>
        <p:txBody>
          <a:bodyPr rtlCol="0" anchor="ctr"/>
          <a:lstStyle/>
          <a:p>
            <a:pPr algn="ctr"/>
            <a:endParaRPr lang="pt-BR"/>
          </a:p>
        </p:txBody>
      </p:sp>
      <p:sp>
        <p:nvSpPr>
          <p:cNvPr id="7" name="SlideNum">
            <a:extLst>
              <a:ext uri="{C183D7F6-B498-43B3-948B-1728B52AA6E4}">
                <adec:decorative xmlns:adec="http://schemas.microsoft.com/office/drawing/2017/decorative" val="1"/>
              </a:ext>
            </a:extLst>
          </p:cNvPr>
          <p:cNvSpPr>
            <a:spLocks noGrp="1"/>
          </p:cNvSpPr>
          <p:nvPr>
            <p:ph type="sldNum" sz="quarter" idx="12"/>
          </p:nvPr>
        </p:nvSpPr>
        <p:spPr/>
        <p:txBody>
          <a:bodyPr/>
          <a:lstStyle/>
          <a:p>
            <a:fld id="{50C1CB04-2BE3-4164-84E0-A56E2E41F695}" type="slidenum">
              <a:rPr lang="pt-BR" smtClean="0">
                <a:solidFill>
                  <a:srgbClr val="BDBDBD"/>
                </a:solidFill>
              </a:rPr>
              <a:t>7</a:t>
            </a:fld>
            <a:endParaRPr lang="pt-BR" dirty="0">
              <a:solidFill>
                <a:srgbClr val="BDBDBD"/>
              </a:solidFill>
            </a:endParaRPr>
          </a:p>
        </p:txBody>
      </p:sp>
      <p:sp>
        <p:nvSpPr>
          <p:cNvPr id="8" name="Footer">
            <a:extLst>
              <a:ext uri="{C183D7F6-B498-43B3-948B-1728B52AA6E4}">
                <adec:decorative xmlns:adec="http://schemas.microsoft.com/office/drawing/2017/decorative" val="1"/>
              </a:ext>
            </a:extLst>
          </p:cNvPr>
          <p:cNvSpPr>
            <a:spLocks noGrp="1"/>
          </p:cNvSpPr>
          <p:nvPr>
            <p:ph type="ftr" sz="quarter" idx="11"/>
          </p:nvPr>
        </p:nvSpPr>
        <p:spPr/>
        <p:txBody>
          <a:bodyPr/>
          <a:lstStyle/>
          <a:p>
            <a:r>
              <a:rPr lang="pt-BR" dirty="0">
                <a:solidFill>
                  <a:srgbClr val="BDBDBD"/>
                </a:solidFill>
              </a:rPr>
              <a:t>JAVA BUSHIDŌ</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65EFD6C4-90EA-7EA8-56ED-329BA49B6BB1}"/>
              </a:ext>
              <a:ext uri="{C183D7F6-B498-43B3-948B-1728B52AA6E4}">
                <adec:decorative xmlns:adec="http://schemas.microsoft.com/office/drawing/2017/decorative" val="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2781" b="12889"/>
          <a:stretch>
            <a:fillRect/>
          </a:stretch>
        </p:blipFill>
        <p:spPr bwMode="auto">
          <a:xfrm>
            <a:off x="0" y="8518849"/>
            <a:ext cx="9601200" cy="4282751"/>
          </a:xfrm>
          <a:prstGeom prst="rect">
            <a:avLst/>
          </a:prstGeom>
          <a:noFill/>
          <a:extLst>
            <a:ext uri="{909E8E84-426E-40DD-AFC4-6F175D3DCCD1}">
              <a14:hiddenFill xmlns:a14="http://schemas.microsoft.com/office/drawing/2010/main">
                <a:solidFill>
                  <a:srgbClr val="FFFFFF"/>
                </a:solidFill>
              </a14:hiddenFill>
            </a:ext>
          </a:extLst>
        </p:spPr>
      </p:pic>
      <p:sp>
        <p:nvSpPr>
          <p:cNvPr id="6" name="Title"/>
          <p:cNvSpPr txBox="1">
            <a:spLocks noGrp="1"/>
          </p:cNvSpPr>
          <p:nvPr>
            <p:ph type="title" idx="4294967295"/>
          </p:nvPr>
        </p:nvSpPr>
        <p:spPr>
          <a:xfrm>
            <a:off x="819150" y="524114"/>
            <a:ext cx="8292192" cy="646331"/>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pt-BR" sz="3600" b="1" i="0" u="none" strike="noStrike" kern="1200" cap="none" spc="0" normalizeH="0" baseline="0" noProof="0" dirty="0">
                <a:ln>
                  <a:noFill/>
                </a:ln>
                <a:solidFill>
                  <a:srgbClr val="B71C1C"/>
                </a:solidFill>
                <a:effectLst/>
                <a:uLnTx/>
                <a:uFillTx/>
                <a:latin typeface="Arial Black" panose="020B0A04020102020204" pitchFamily="34" charset="0"/>
                <a:ea typeface="+mn-ea"/>
                <a:cs typeface="+mn-cs"/>
              </a:rPr>
              <a:t>Java 8 | Visão Geral</a:t>
            </a:r>
          </a:p>
        </p:txBody>
      </p:sp>
      <p:sp>
        <p:nvSpPr>
          <p:cNvPr id="7" name="Subtitle"/>
          <p:cNvSpPr txBox="1"/>
          <p:nvPr/>
        </p:nvSpPr>
        <p:spPr>
          <a:xfrm>
            <a:off x="476249" y="2024555"/>
            <a:ext cx="8635093" cy="584775"/>
          </a:xfrm>
          <a:prstGeom prst="rect">
            <a:avLst/>
          </a:prstGeom>
          <a:noFill/>
        </p:spPr>
        <p:txBody>
          <a:bodyPr wrap="square" rtlCol="0">
            <a:spAutoFit/>
          </a:bodyPr>
          <a:lstStyle/>
          <a:p>
            <a:r>
              <a:rPr lang="pt-BR" sz="2800" dirty="0">
                <a:solidFill>
                  <a:srgbClr val="E2AE4E"/>
                </a:solidFill>
                <a:latin typeface="Calibri Light" panose="020F0302020204030204" pitchFamily="34" charset="0"/>
              </a:rPr>
              <a:t>Arco II — O Corte Inicial</a:t>
            </a:r>
          </a:p>
        </p:txBody>
      </p:sp>
      <p:sp>
        <p:nvSpPr>
          <p:cNvPr id="8" name="Body"/>
          <p:cNvSpPr txBox="1"/>
          <p:nvPr/>
        </p:nvSpPr>
        <p:spPr>
          <a:xfrm>
            <a:off x="476249" y="2800000"/>
            <a:ext cx="8635092" cy="5066515"/>
          </a:xfrm>
          <a:prstGeom prst="rect">
            <a:avLst/>
          </a:prstGeom>
          <a:noFill/>
        </p:spPr>
        <p:txBody>
          <a:bodyPr wrap="square" rtlCol="0">
            <a:spAutoFit/>
          </a:bodyPr>
          <a:lstStyle/>
          <a:p>
            <a:pPr>
              <a:lnSpc>
                <a:spcPct val="130000"/>
              </a:lnSpc>
              <a:spcAft>
                <a:spcPts val="800"/>
              </a:spcAft>
            </a:pPr>
            <a:r>
              <a:rPr lang="pt-BR" sz="2000" dirty="0">
                <a:solidFill>
                  <a:srgbClr val="121212"/>
                </a:solidFill>
                <a:latin typeface="Calibri Light" panose="020F0302020204030204" pitchFamily="34" charset="0"/>
              </a:rPr>
              <a:t>O Java 8, lançado em março de 2014, foi a maior revolução da linguagem. Pela primeira vez, o Java ganhou suporte a programação funcional com a introdução de expressões </a:t>
            </a:r>
            <a:r>
              <a:rPr lang="pt-BR" sz="2000" i="1" dirty="0">
                <a:solidFill>
                  <a:srgbClr val="121212"/>
                </a:solidFill>
                <a:latin typeface="Calibri Light" panose="020F0302020204030204" pitchFamily="34" charset="0"/>
              </a:rPr>
              <a:t>lambda</a:t>
            </a:r>
            <a:r>
              <a:rPr lang="pt-BR" sz="2000" dirty="0">
                <a:solidFill>
                  <a:srgbClr val="121212"/>
                </a:solidFill>
                <a:latin typeface="Calibri Light" panose="020F0302020204030204" pitchFamily="34" charset="0"/>
              </a:rPr>
              <a:t> e a </a:t>
            </a:r>
            <a:r>
              <a:rPr lang="pt-BR" sz="2000" i="1" dirty="0">
                <a:solidFill>
                  <a:srgbClr val="121212"/>
                </a:solidFill>
                <a:latin typeface="Calibri Light" panose="020F0302020204030204" pitchFamily="34" charset="0"/>
              </a:rPr>
              <a:t>Stream API</a:t>
            </a:r>
            <a:r>
              <a:rPr lang="pt-BR" sz="2000" dirty="0">
                <a:solidFill>
                  <a:srgbClr val="121212"/>
                </a:solidFill>
                <a:latin typeface="Calibri Light" panose="020F0302020204030204" pitchFamily="34" charset="0"/>
              </a:rPr>
              <a:t>. Essas mudanças transformaram a forma como os desenvolvedores escrevem código, permitindo soluções mais concisas e expressivas.</a:t>
            </a:r>
          </a:p>
          <a:p>
            <a:pPr>
              <a:lnSpc>
                <a:spcPct val="130000"/>
              </a:lnSpc>
              <a:spcAft>
                <a:spcPts val="800"/>
              </a:spcAft>
            </a:pPr>
            <a:r>
              <a:rPr lang="pt-BR" sz="2000" dirty="0">
                <a:solidFill>
                  <a:srgbClr val="121212"/>
                </a:solidFill>
                <a:latin typeface="Calibri Light" panose="020F0302020204030204" pitchFamily="34" charset="0"/>
              </a:rPr>
              <a:t>Além das </a:t>
            </a:r>
            <a:r>
              <a:rPr lang="pt-BR" sz="2000" i="1" dirty="0">
                <a:solidFill>
                  <a:srgbClr val="121212"/>
                </a:solidFill>
                <a:latin typeface="Calibri Light" panose="020F0302020204030204" pitchFamily="34" charset="0"/>
              </a:rPr>
              <a:t>lambdas</a:t>
            </a:r>
            <a:r>
              <a:rPr lang="pt-BR" sz="2000" dirty="0">
                <a:solidFill>
                  <a:srgbClr val="121212"/>
                </a:solidFill>
                <a:latin typeface="Calibri Light" panose="020F0302020204030204" pitchFamily="34" charset="0"/>
              </a:rPr>
              <a:t> e </a:t>
            </a:r>
            <a:r>
              <a:rPr lang="pt-BR" sz="2000" i="1" dirty="0">
                <a:solidFill>
                  <a:srgbClr val="121212"/>
                </a:solidFill>
                <a:latin typeface="Calibri Light" panose="020F0302020204030204" pitchFamily="34" charset="0"/>
              </a:rPr>
              <a:t>streams</a:t>
            </a:r>
            <a:r>
              <a:rPr lang="pt-BR" sz="2000" dirty="0">
                <a:solidFill>
                  <a:srgbClr val="121212"/>
                </a:solidFill>
                <a:latin typeface="Calibri Light" panose="020F0302020204030204" pitchFamily="34" charset="0"/>
              </a:rPr>
              <a:t>, o Java 8 trouxe uma </a:t>
            </a:r>
            <a:r>
              <a:rPr lang="pt-BR" sz="2000" i="1" dirty="0">
                <a:solidFill>
                  <a:srgbClr val="121212"/>
                </a:solidFill>
                <a:latin typeface="Calibri Light" panose="020F0302020204030204" pitchFamily="34" charset="0"/>
              </a:rPr>
              <a:t>API</a:t>
            </a:r>
            <a:r>
              <a:rPr lang="pt-BR" sz="2000" dirty="0">
                <a:solidFill>
                  <a:srgbClr val="121212"/>
                </a:solidFill>
                <a:latin typeface="Calibri Light" panose="020F0302020204030204" pitchFamily="34" charset="0"/>
              </a:rPr>
              <a:t> de data e hora completamente nova (</a:t>
            </a:r>
            <a:r>
              <a:rPr lang="pt-BR" sz="2000" i="1" dirty="0">
                <a:solidFill>
                  <a:srgbClr val="121212"/>
                </a:solidFill>
                <a:latin typeface="Calibri Light" panose="020F0302020204030204" pitchFamily="34" charset="0"/>
              </a:rPr>
              <a:t>java.time</a:t>
            </a:r>
            <a:r>
              <a:rPr lang="pt-BR" sz="2000" dirty="0">
                <a:solidFill>
                  <a:srgbClr val="121212"/>
                </a:solidFill>
                <a:latin typeface="Calibri Light" panose="020F0302020204030204" pitchFamily="34" charset="0"/>
              </a:rPr>
              <a:t>), interfaces com métodos </a:t>
            </a:r>
            <a:r>
              <a:rPr lang="pt-BR" sz="2000" i="1" dirty="0">
                <a:solidFill>
                  <a:srgbClr val="121212"/>
                </a:solidFill>
                <a:latin typeface="Calibri Light" panose="020F0302020204030204" pitchFamily="34" charset="0"/>
              </a:rPr>
              <a:t>default</a:t>
            </a:r>
            <a:r>
              <a:rPr lang="pt-BR" sz="2000" dirty="0">
                <a:solidFill>
                  <a:srgbClr val="121212"/>
                </a:solidFill>
                <a:latin typeface="Calibri Light" panose="020F0302020204030204" pitchFamily="34" charset="0"/>
              </a:rPr>
              <a:t>, e o tipo </a:t>
            </a:r>
            <a:r>
              <a:rPr lang="pt-BR" sz="2000" i="1" dirty="0">
                <a:solidFill>
                  <a:srgbClr val="121212"/>
                </a:solidFill>
                <a:latin typeface="Calibri Light" panose="020F0302020204030204" pitchFamily="34" charset="0"/>
              </a:rPr>
              <a:t>Optional</a:t>
            </a:r>
            <a:r>
              <a:rPr lang="pt-BR" sz="2000" dirty="0">
                <a:solidFill>
                  <a:srgbClr val="121212"/>
                </a:solidFill>
                <a:latin typeface="Calibri Light" panose="020F0302020204030204" pitchFamily="34" charset="0"/>
              </a:rPr>
              <a:t> para lidar com valores nulos de forma mais segura. Juntas, essas features estabeleceram a base do Java moderno.</a:t>
            </a:r>
          </a:p>
          <a:p>
            <a:pPr>
              <a:lnSpc>
                <a:spcPct val="130000"/>
              </a:lnSpc>
              <a:spcAft>
                <a:spcPts val="800"/>
              </a:spcAft>
            </a:pPr>
            <a:r>
              <a:rPr lang="pt-BR" sz="2000" dirty="0">
                <a:solidFill>
                  <a:srgbClr val="121212"/>
                </a:solidFill>
                <a:latin typeface="Calibri Light" panose="020F0302020204030204" pitchFamily="34" charset="0"/>
              </a:rPr>
              <a:t>Para quem está começando, dominar o Java 8 é essencial, quase todo projeto Java em produção hoje utiliza pelo menos </a:t>
            </a:r>
            <a:r>
              <a:rPr lang="pt-BR" sz="2000" i="1" dirty="0">
                <a:solidFill>
                  <a:srgbClr val="121212"/>
                </a:solidFill>
                <a:latin typeface="Calibri Light" panose="020F0302020204030204" pitchFamily="34" charset="0"/>
              </a:rPr>
              <a:t>lambdas</a:t>
            </a:r>
            <a:r>
              <a:rPr lang="pt-BR" sz="2000" dirty="0">
                <a:solidFill>
                  <a:srgbClr val="121212"/>
                </a:solidFill>
                <a:latin typeface="Calibri Light" panose="020F0302020204030204" pitchFamily="34" charset="0"/>
              </a:rPr>
              <a:t>, </a:t>
            </a:r>
            <a:r>
              <a:rPr lang="pt-BR" sz="2000" i="1" dirty="0">
                <a:solidFill>
                  <a:srgbClr val="121212"/>
                </a:solidFill>
                <a:latin typeface="Calibri Light" panose="020F0302020204030204" pitchFamily="34" charset="0"/>
              </a:rPr>
              <a:t>streams</a:t>
            </a:r>
            <a:r>
              <a:rPr lang="pt-BR" sz="2000" dirty="0">
                <a:solidFill>
                  <a:srgbClr val="121212"/>
                </a:solidFill>
                <a:latin typeface="Calibri Light" panose="020F0302020204030204" pitchFamily="34" charset="0"/>
              </a:rPr>
              <a:t> e </a:t>
            </a:r>
            <a:r>
              <a:rPr lang="pt-BR" sz="2000" i="1" dirty="0">
                <a:solidFill>
                  <a:srgbClr val="121212"/>
                </a:solidFill>
                <a:latin typeface="Calibri Light" panose="020F0302020204030204" pitchFamily="34" charset="0"/>
              </a:rPr>
              <a:t>java.time</a:t>
            </a:r>
            <a:r>
              <a:rPr lang="pt-BR" sz="2000" dirty="0">
                <a:solidFill>
                  <a:srgbClr val="121212"/>
                </a:solidFill>
                <a:latin typeface="Calibri Light" panose="020F0302020204030204" pitchFamily="34" charset="0"/>
              </a:rPr>
              <a:t>. Nos próximos três slides, vamos explorar cada uma das três features citadas desta versão.</a:t>
            </a:r>
          </a:p>
        </p:txBody>
      </p:sp>
      <p:sp>
        <p:nvSpPr>
          <p:cNvPr id="9" name="AccentBar">
            <a:extLst>
              <a:ext uri="{C183D7F6-B498-43B3-948B-1728B52AA6E4}">
                <adec:decorative xmlns:adec="http://schemas.microsoft.com/office/drawing/2017/decorative" val="1"/>
              </a:ext>
            </a:extLst>
          </p:cNvPr>
          <p:cNvSpPr/>
          <p:nvPr/>
        </p:nvSpPr>
        <p:spPr>
          <a:xfrm>
            <a:off x="476249" y="0"/>
            <a:ext cx="72000" cy="1946064"/>
          </a:xfrm>
          <a:prstGeom prst="rect">
            <a:avLst/>
          </a:prstGeom>
          <a:gradFill flip="none" rotWithShape="1">
            <a:gsLst>
              <a:gs pos="0">
                <a:srgbClr val="E2AE4E"/>
              </a:gs>
              <a:gs pos="60000">
                <a:srgbClr val="B71C1C"/>
              </a:gs>
              <a:gs pos="100000">
                <a:srgbClr val="121212"/>
              </a:gs>
            </a:gsLst>
            <a:lin ang="5400000" scaled="1"/>
            <a:tileRect/>
          </a:gradFill>
          <a:ln>
            <a:noFill/>
          </a:ln>
        </p:spPr>
        <p:txBody>
          <a:bodyPr rtlCol="0" anchor="ctr"/>
          <a:lstStyle/>
          <a:p>
            <a:pPr algn="ctr"/>
            <a:endParaRPr lang="pt-BR"/>
          </a:p>
        </p:txBody>
      </p:sp>
      <p:sp>
        <p:nvSpPr>
          <p:cNvPr id="5" name="Footer">
            <a:extLst>
              <a:ext uri="{C183D7F6-B498-43B3-948B-1728B52AA6E4}">
                <adec:decorative xmlns:adec="http://schemas.microsoft.com/office/drawing/2017/decorative" val="1"/>
              </a:ext>
            </a:extLst>
          </p:cNvPr>
          <p:cNvSpPr>
            <a:spLocks noGrp="1"/>
          </p:cNvSpPr>
          <p:nvPr>
            <p:ph type="ftr" sz="quarter" idx="11"/>
          </p:nvPr>
        </p:nvSpPr>
        <p:spPr/>
        <p:txBody>
          <a:bodyPr/>
          <a:lstStyle/>
          <a:p>
            <a:r>
              <a:rPr lang="pt-BR" dirty="0">
                <a:solidFill>
                  <a:srgbClr val="BDBDBD"/>
                </a:solidFill>
              </a:rPr>
              <a:t>JAVA BUSHIDŌ</a:t>
            </a:r>
          </a:p>
        </p:txBody>
      </p:sp>
      <p:sp>
        <p:nvSpPr>
          <p:cNvPr id="10" name="SlideNum">
            <a:extLst>
              <a:ext uri="{C183D7F6-B498-43B3-948B-1728B52AA6E4}">
                <adec:decorative xmlns:adec="http://schemas.microsoft.com/office/drawing/2017/decorative" val="1"/>
              </a:ext>
            </a:extLst>
          </p:cNvPr>
          <p:cNvSpPr>
            <a:spLocks noGrp="1"/>
          </p:cNvSpPr>
          <p:nvPr>
            <p:ph type="sldNum" sz="quarter" idx="12"/>
          </p:nvPr>
        </p:nvSpPr>
        <p:spPr/>
        <p:txBody>
          <a:bodyPr/>
          <a:lstStyle/>
          <a:p>
            <a:fld id="{50C1CB04-2BE3-4164-84E0-A56E2E41F695}" type="slidenum">
              <a:rPr lang="pt-BR" smtClean="0"/>
              <a:t>8</a:t>
            </a:fld>
            <a:endParaRPr lang="pt-B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AccentBar">
            <a:extLst>
              <a:ext uri="{C183D7F6-B498-43B3-948B-1728B52AA6E4}">
                <adec:decorative xmlns:adec="http://schemas.microsoft.com/office/drawing/2017/decorative" val="1"/>
              </a:ext>
            </a:extLst>
          </p:cNvPr>
          <p:cNvSpPr/>
          <p:nvPr/>
        </p:nvSpPr>
        <p:spPr>
          <a:xfrm>
            <a:off x="476249" y="0"/>
            <a:ext cx="72000" cy="1946064"/>
          </a:xfrm>
          <a:prstGeom prst="rect">
            <a:avLst/>
          </a:prstGeom>
          <a:gradFill flip="none" rotWithShape="1">
            <a:gsLst>
              <a:gs pos="0">
                <a:srgbClr val="E2AE4E"/>
              </a:gs>
              <a:gs pos="60000">
                <a:srgbClr val="B71C1C"/>
              </a:gs>
              <a:gs pos="100000">
                <a:srgbClr val="121212"/>
              </a:gs>
            </a:gsLst>
            <a:lin ang="5400000" scaled="1"/>
            <a:tileRect/>
          </a:gradFill>
          <a:ln>
            <a:noFill/>
          </a:ln>
        </p:spPr>
        <p:txBody>
          <a:bodyPr rtlCol="0" anchor="ctr"/>
          <a:lstStyle/>
          <a:p>
            <a:pPr algn="ctr"/>
            <a:endParaRPr lang="pt-BR"/>
          </a:p>
        </p:txBody>
      </p:sp>
      <p:sp>
        <p:nvSpPr>
          <p:cNvPr id="5" name="Footer">
            <a:extLst>
              <a:ext uri="{C183D7F6-B498-43B3-948B-1728B52AA6E4}">
                <adec:decorative xmlns:adec="http://schemas.microsoft.com/office/drawing/2017/decorative" val="1"/>
              </a:ext>
            </a:extLst>
          </p:cNvPr>
          <p:cNvSpPr>
            <a:spLocks noGrp="1"/>
          </p:cNvSpPr>
          <p:nvPr>
            <p:ph type="ftr" sz="quarter" idx="11"/>
          </p:nvPr>
        </p:nvSpPr>
        <p:spPr/>
        <p:txBody>
          <a:bodyPr/>
          <a:lstStyle/>
          <a:p>
            <a:r>
              <a:rPr lang="pt-BR" dirty="0">
                <a:solidFill>
                  <a:srgbClr val="BDBDBD"/>
                </a:solidFill>
              </a:rPr>
              <a:t>JAVA BUSHIDŌ</a:t>
            </a:r>
          </a:p>
        </p:txBody>
      </p:sp>
      <p:sp>
        <p:nvSpPr>
          <p:cNvPr id="10" name="SlideNum">
            <a:extLst>
              <a:ext uri="{C183D7F6-B498-43B3-948B-1728B52AA6E4}">
                <adec:decorative xmlns:adec="http://schemas.microsoft.com/office/drawing/2017/decorative" val="1"/>
              </a:ext>
            </a:extLst>
          </p:cNvPr>
          <p:cNvSpPr>
            <a:spLocks noGrp="1"/>
          </p:cNvSpPr>
          <p:nvPr>
            <p:ph type="sldNum" sz="quarter" idx="12"/>
          </p:nvPr>
        </p:nvSpPr>
        <p:spPr/>
        <p:txBody>
          <a:bodyPr/>
          <a:lstStyle/>
          <a:p>
            <a:fld id="{50C1CB04-2BE3-4164-84E0-A56E2E41F695}" type="slidenum">
              <a:rPr lang="pt-BR" smtClean="0"/>
              <a:t>9</a:t>
            </a:fld>
            <a:endParaRPr lang="pt-BR" dirty="0"/>
          </a:p>
        </p:txBody>
      </p:sp>
      <p:sp>
        <p:nvSpPr>
          <p:cNvPr id="6" name="Title"/>
          <p:cNvSpPr txBox="1">
            <a:spLocks noGrp="1"/>
          </p:cNvSpPr>
          <p:nvPr>
            <p:ph type="title" idx="4294967295"/>
          </p:nvPr>
        </p:nvSpPr>
        <p:spPr>
          <a:xfrm>
            <a:off x="819150" y="524114"/>
            <a:ext cx="8292192" cy="646331"/>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pt-BR" sz="3600" b="1" i="0" u="none" strike="noStrike" kern="1200" cap="none" spc="0" normalizeH="0" baseline="0" noProof="0" dirty="0">
                <a:ln>
                  <a:noFill/>
                </a:ln>
                <a:solidFill>
                  <a:srgbClr val="B71C1C"/>
                </a:solidFill>
                <a:effectLst/>
                <a:uLnTx/>
                <a:uFillTx/>
                <a:latin typeface="Arial Black" panose="020B0A04020102020204" pitchFamily="34" charset="0"/>
                <a:ea typeface="+mn-ea"/>
                <a:cs typeface="+mn-cs"/>
              </a:rPr>
              <a:t>Java 8 | Lambdas</a:t>
            </a:r>
          </a:p>
        </p:txBody>
      </p:sp>
      <p:sp>
        <p:nvSpPr>
          <p:cNvPr id="2" name="Subtitle">
            <a:extLst>
              <a:ext uri="{FF2B5EF4-FFF2-40B4-BE49-F238E27FC236}">
                <a16:creationId xmlns:a16="http://schemas.microsoft.com/office/drawing/2014/main" id="{95BE9F3F-316E-7D14-46B8-964CF7E85F32}"/>
              </a:ext>
            </a:extLst>
          </p:cNvPr>
          <p:cNvSpPr txBox="1"/>
          <p:nvPr/>
        </p:nvSpPr>
        <p:spPr>
          <a:xfrm>
            <a:off x="476249" y="2024555"/>
            <a:ext cx="8635093" cy="523220"/>
          </a:xfrm>
          <a:prstGeom prst="rect">
            <a:avLst/>
          </a:prstGeom>
          <a:noFill/>
        </p:spPr>
        <p:txBody>
          <a:bodyPr wrap="square" rtlCol="0">
            <a:spAutoFit/>
          </a:bodyPr>
          <a:lstStyle/>
          <a:p>
            <a:r>
              <a:rPr lang="pt-BR" sz="2800" dirty="0">
                <a:solidFill>
                  <a:srgbClr val="E2AE4E"/>
                </a:solidFill>
                <a:latin typeface="Calibri Light" panose="020F0302020204030204" pitchFamily="34" charset="0"/>
              </a:rPr>
              <a:t>O Golpe Sem Forma</a:t>
            </a:r>
          </a:p>
        </p:txBody>
      </p:sp>
      <p:sp>
        <p:nvSpPr>
          <p:cNvPr id="4" name="Body">
            <a:extLst>
              <a:ext uri="{FF2B5EF4-FFF2-40B4-BE49-F238E27FC236}">
                <a16:creationId xmlns:a16="http://schemas.microsoft.com/office/drawing/2014/main" id="{E80F763B-C881-6F77-D504-E7D4CDAB3B84}"/>
              </a:ext>
            </a:extLst>
          </p:cNvPr>
          <p:cNvSpPr txBox="1"/>
          <p:nvPr/>
        </p:nvSpPr>
        <p:spPr>
          <a:xfrm>
            <a:off x="476249" y="2800000"/>
            <a:ext cx="8635092" cy="1545038"/>
          </a:xfrm>
          <a:prstGeom prst="rect">
            <a:avLst/>
          </a:prstGeom>
          <a:noFill/>
        </p:spPr>
        <p:txBody>
          <a:bodyPr wrap="square" rtlCol="0">
            <a:spAutoFit/>
          </a:bodyPr>
          <a:lstStyle/>
          <a:p>
            <a:pPr>
              <a:lnSpc>
                <a:spcPct val="120000"/>
              </a:lnSpc>
            </a:pPr>
            <a:r>
              <a:rPr lang="pt-BR" sz="2000" dirty="0">
                <a:solidFill>
                  <a:srgbClr val="121212"/>
                </a:solidFill>
                <a:latin typeface="Calibri Light" panose="020F0302020204030204" pitchFamily="34" charset="0"/>
              </a:rPr>
              <a:t>Lambdas são funções anônimas que simplificam o código ao eliminar classes anônimas verbosas. Elas permitem passar comportamento como parâmetro, tornando </a:t>
            </a:r>
            <a:r>
              <a:rPr lang="pt-BR" sz="2000" i="1" dirty="0">
                <a:solidFill>
                  <a:srgbClr val="121212"/>
                </a:solidFill>
                <a:latin typeface="Calibri Light" panose="020F0302020204030204" pitchFamily="34" charset="0"/>
              </a:rPr>
              <a:t>APIs</a:t>
            </a:r>
            <a:r>
              <a:rPr lang="pt-BR" sz="2000" dirty="0">
                <a:solidFill>
                  <a:srgbClr val="121212"/>
                </a:solidFill>
                <a:latin typeface="Calibri Light" panose="020F0302020204030204" pitchFamily="34" charset="0"/>
              </a:rPr>
              <a:t> como </a:t>
            </a:r>
            <a:r>
              <a:rPr lang="pt-BR" sz="2000" i="1" dirty="0">
                <a:solidFill>
                  <a:srgbClr val="121212"/>
                </a:solidFill>
                <a:latin typeface="Calibri Light" panose="020F0302020204030204" pitchFamily="34" charset="0"/>
              </a:rPr>
              <a:t>Collections</a:t>
            </a:r>
            <a:r>
              <a:rPr lang="pt-BR" sz="2000" dirty="0">
                <a:solidFill>
                  <a:srgbClr val="121212"/>
                </a:solidFill>
                <a:latin typeface="Calibri Light" panose="020F0302020204030204" pitchFamily="34" charset="0"/>
              </a:rPr>
              <a:t> e </a:t>
            </a:r>
            <a:r>
              <a:rPr lang="pt-BR" sz="2000" i="1" dirty="0">
                <a:solidFill>
                  <a:srgbClr val="121212"/>
                </a:solidFill>
                <a:latin typeface="Calibri Light" panose="020F0302020204030204" pitchFamily="34" charset="0"/>
              </a:rPr>
              <a:t>Streams</a:t>
            </a:r>
            <a:r>
              <a:rPr lang="pt-BR" sz="2000" dirty="0">
                <a:solidFill>
                  <a:srgbClr val="121212"/>
                </a:solidFill>
                <a:latin typeface="Calibri Light" panose="020F0302020204030204" pitchFamily="34" charset="0"/>
              </a:rPr>
              <a:t> muito mais expressivas. São a base de todo o Java moderno.</a:t>
            </a:r>
          </a:p>
        </p:txBody>
      </p:sp>
      <p:pic>
        <p:nvPicPr>
          <p:cNvPr id="26" name="Imagem 25" descr="Código Java demonstrando o uso de expressões lambda e callbacks para manipular uma lista de samurais. Mostra a iteração com stream().forEach() para imprimir nomes e a execução de uma técnica com Runnable, incluindo comentários explicativos e ícones emoji.">
            <a:extLst>
              <a:ext uri="{FF2B5EF4-FFF2-40B4-BE49-F238E27FC236}">
                <a16:creationId xmlns:a16="http://schemas.microsoft.com/office/drawing/2014/main" id="{1B345899-F96A-42AE-FF6A-982D71D641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6249" y="4597263"/>
            <a:ext cx="8626651" cy="6609538"/>
          </a:xfrm>
          <a:prstGeom prst="rect">
            <a:avLst/>
          </a:prstGeom>
        </p:spPr>
      </p:pic>
      <p:pic>
        <p:nvPicPr>
          <p:cNvPr id="28" name="Imagem 27" descr="Saída de terminal exibindo o resultado da execução do código Java, mostrando três mensagens de treino para Musashi, Yoshi e Hattori, cada uma precedida por um emoji de espada. A última linha exibe a mensagem “Iaijutsu executado!” com emoji de raio.">
            <a:extLst>
              <a:ext uri="{FF2B5EF4-FFF2-40B4-BE49-F238E27FC236}">
                <a16:creationId xmlns:a16="http://schemas.microsoft.com/office/drawing/2014/main" id="{6282694B-0524-E1B3-4205-A79A82E9F087}"/>
              </a:ext>
            </a:extLst>
          </p:cNvPr>
          <p:cNvPicPr>
            <a:picLocks noChangeAspect="1"/>
          </p:cNvPicPr>
          <p:nvPr/>
        </p:nvPicPr>
        <p:blipFill>
          <a:blip r:embed="rId3"/>
          <a:stretch>
            <a:fillRect/>
          </a:stretch>
        </p:blipFill>
        <p:spPr>
          <a:xfrm>
            <a:off x="5452746" y="10436791"/>
            <a:ext cx="3650154" cy="1314056"/>
          </a:xfrm>
          <a:prstGeom prst="rect">
            <a:avLst/>
          </a:prstGeom>
          <a:ln w="38100">
            <a:solidFill>
              <a:srgbClr val="BDBDBD"/>
            </a:solid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AccentBar">
            <a:extLst>
              <a:ext uri="{C183D7F6-B498-43B3-948B-1728B52AA6E4}">
                <adec:decorative xmlns:adec="http://schemas.microsoft.com/office/drawing/2017/decorative" val="1"/>
              </a:ext>
            </a:extLst>
          </p:cNvPr>
          <p:cNvSpPr/>
          <p:nvPr/>
        </p:nvSpPr>
        <p:spPr>
          <a:xfrm>
            <a:off x="476249" y="0"/>
            <a:ext cx="72000" cy="1946064"/>
          </a:xfrm>
          <a:prstGeom prst="rect">
            <a:avLst/>
          </a:prstGeom>
          <a:gradFill flip="none" rotWithShape="1">
            <a:gsLst>
              <a:gs pos="0">
                <a:srgbClr val="E2AE4E"/>
              </a:gs>
              <a:gs pos="60000">
                <a:srgbClr val="B71C1C"/>
              </a:gs>
              <a:gs pos="100000">
                <a:srgbClr val="121212"/>
              </a:gs>
            </a:gsLst>
            <a:lin ang="5400000" scaled="1"/>
            <a:tileRect/>
          </a:gradFill>
          <a:ln>
            <a:noFill/>
          </a:ln>
        </p:spPr>
        <p:txBody>
          <a:bodyPr rtlCol="0" anchor="ctr"/>
          <a:lstStyle/>
          <a:p>
            <a:pPr algn="ctr"/>
            <a:endParaRPr lang="pt-BR"/>
          </a:p>
        </p:txBody>
      </p:sp>
      <p:sp>
        <p:nvSpPr>
          <p:cNvPr id="5" name="Footer">
            <a:extLst>
              <a:ext uri="{C183D7F6-B498-43B3-948B-1728B52AA6E4}">
                <adec:decorative xmlns:adec="http://schemas.microsoft.com/office/drawing/2017/decorative" val="1"/>
              </a:ext>
            </a:extLst>
          </p:cNvPr>
          <p:cNvSpPr>
            <a:spLocks noGrp="1"/>
          </p:cNvSpPr>
          <p:nvPr>
            <p:ph type="ftr" sz="quarter" idx="11"/>
          </p:nvPr>
        </p:nvSpPr>
        <p:spPr/>
        <p:txBody>
          <a:bodyPr/>
          <a:lstStyle/>
          <a:p>
            <a:r>
              <a:rPr lang="pt-BR" dirty="0">
                <a:solidFill>
                  <a:srgbClr val="BDBDBD"/>
                </a:solidFill>
              </a:rPr>
              <a:t>JAVA BUSHIDŌ</a:t>
            </a:r>
          </a:p>
        </p:txBody>
      </p:sp>
      <p:sp>
        <p:nvSpPr>
          <p:cNvPr id="10" name="SlideNum">
            <a:extLst>
              <a:ext uri="{C183D7F6-B498-43B3-948B-1728B52AA6E4}">
                <adec:decorative xmlns:adec="http://schemas.microsoft.com/office/drawing/2017/decorative" val="1"/>
              </a:ext>
            </a:extLst>
          </p:cNvPr>
          <p:cNvSpPr>
            <a:spLocks noGrp="1"/>
          </p:cNvSpPr>
          <p:nvPr>
            <p:ph type="sldNum" sz="quarter" idx="12"/>
          </p:nvPr>
        </p:nvSpPr>
        <p:spPr/>
        <p:txBody>
          <a:bodyPr/>
          <a:lstStyle/>
          <a:p>
            <a:fld id="{50C1CB04-2BE3-4164-84E0-A56E2E41F695}" type="slidenum">
              <a:rPr lang="pt-BR" smtClean="0"/>
              <a:t>10</a:t>
            </a:fld>
            <a:endParaRPr lang="pt-BR" dirty="0"/>
          </a:p>
        </p:txBody>
      </p:sp>
      <p:sp>
        <p:nvSpPr>
          <p:cNvPr id="6" name="Title"/>
          <p:cNvSpPr txBox="1">
            <a:spLocks noGrp="1"/>
          </p:cNvSpPr>
          <p:nvPr>
            <p:ph type="title" idx="4294967295"/>
          </p:nvPr>
        </p:nvSpPr>
        <p:spPr>
          <a:xfrm>
            <a:off x="819150" y="524114"/>
            <a:ext cx="8292192" cy="646331"/>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pt-BR" sz="3600" b="1" i="0" u="none" strike="noStrike" kern="1200" cap="none" spc="0" normalizeH="0" baseline="0" noProof="0" dirty="0">
                <a:ln>
                  <a:noFill/>
                </a:ln>
                <a:solidFill>
                  <a:srgbClr val="B71C1C"/>
                </a:solidFill>
                <a:effectLst/>
                <a:uLnTx/>
                <a:uFillTx/>
                <a:latin typeface="Arial Black" panose="020B0A04020102020204" pitchFamily="34" charset="0"/>
                <a:ea typeface="+mn-ea"/>
                <a:cs typeface="+mn-cs"/>
              </a:rPr>
              <a:t>Java 8 | Stream API</a:t>
            </a:r>
          </a:p>
        </p:txBody>
      </p:sp>
      <p:sp>
        <p:nvSpPr>
          <p:cNvPr id="2" name="Subtitle">
            <a:extLst>
              <a:ext uri="{FF2B5EF4-FFF2-40B4-BE49-F238E27FC236}">
                <a16:creationId xmlns:a16="http://schemas.microsoft.com/office/drawing/2014/main" id="{D96F6606-D68B-0CB2-CBB3-1870E9627E5F}"/>
              </a:ext>
            </a:extLst>
          </p:cNvPr>
          <p:cNvSpPr txBox="1"/>
          <p:nvPr/>
        </p:nvSpPr>
        <p:spPr>
          <a:xfrm>
            <a:off x="476249" y="2024555"/>
            <a:ext cx="8635093" cy="523220"/>
          </a:xfrm>
          <a:prstGeom prst="rect">
            <a:avLst/>
          </a:prstGeom>
          <a:noFill/>
        </p:spPr>
        <p:txBody>
          <a:bodyPr wrap="square" rtlCol="0">
            <a:spAutoFit/>
          </a:bodyPr>
          <a:lstStyle/>
          <a:p>
            <a:r>
              <a:rPr lang="pt-BR" sz="2800" dirty="0">
                <a:solidFill>
                  <a:srgbClr val="E2AE4E"/>
                </a:solidFill>
                <a:latin typeface="Calibri Light" panose="020F0302020204030204" pitchFamily="34" charset="0"/>
              </a:rPr>
              <a:t>A Lâmina em Fluxo</a:t>
            </a:r>
          </a:p>
        </p:txBody>
      </p:sp>
      <p:sp>
        <p:nvSpPr>
          <p:cNvPr id="3" name="Body">
            <a:extLst>
              <a:ext uri="{FF2B5EF4-FFF2-40B4-BE49-F238E27FC236}">
                <a16:creationId xmlns:a16="http://schemas.microsoft.com/office/drawing/2014/main" id="{82469D29-CD72-AAC2-DC6C-08D2DAC5203A}"/>
              </a:ext>
            </a:extLst>
          </p:cNvPr>
          <p:cNvSpPr txBox="1"/>
          <p:nvPr/>
        </p:nvSpPr>
        <p:spPr>
          <a:xfrm>
            <a:off x="476249" y="2800000"/>
            <a:ext cx="8635092" cy="1175706"/>
          </a:xfrm>
          <a:prstGeom prst="rect">
            <a:avLst/>
          </a:prstGeom>
          <a:noFill/>
        </p:spPr>
        <p:txBody>
          <a:bodyPr wrap="square" rtlCol="0">
            <a:spAutoFit/>
          </a:bodyPr>
          <a:lstStyle/>
          <a:p>
            <a:pPr>
              <a:lnSpc>
                <a:spcPct val="120000"/>
              </a:lnSpc>
            </a:pPr>
            <a:r>
              <a:rPr lang="pt-BR" sz="2000" dirty="0">
                <a:solidFill>
                  <a:srgbClr val="121212"/>
                </a:solidFill>
                <a:latin typeface="Calibri Light" panose="020F0302020204030204" pitchFamily="34" charset="0"/>
              </a:rPr>
              <a:t>Streams permitem processar coleções de forma declarativa com operações como </a:t>
            </a:r>
            <a:r>
              <a:rPr lang="pt-BR" sz="2000" i="1" dirty="0" err="1">
                <a:solidFill>
                  <a:srgbClr val="121212"/>
                </a:solidFill>
                <a:latin typeface="Calibri Light" panose="020F0302020204030204" pitchFamily="34" charset="0"/>
              </a:rPr>
              <a:t>filter</a:t>
            </a:r>
            <a:r>
              <a:rPr lang="pt-BR" sz="2000" dirty="0">
                <a:solidFill>
                  <a:srgbClr val="121212"/>
                </a:solidFill>
                <a:latin typeface="Calibri Light" panose="020F0302020204030204" pitchFamily="34" charset="0"/>
              </a:rPr>
              <a:t> e </a:t>
            </a:r>
            <a:r>
              <a:rPr lang="pt-BR" sz="2000" i="1" dirty="0">
                <a:solidFill>
                  <a:srgbClr val="121212"/>
                </a:solidFill>
                <a:latin typeface="Calibri Light" panose="020F0302020204030204" pitchFamily="34" charset="0"/>
              </a:rPr>
              <a:t>map</a:t>
            </a:r>
            <a:r>
              <a:rPr lang="pt-BR" sz="2000" dirty="0">
                <a:solidFill>
                  <a:srgbClr val="121212"/>
                </a:solidFill>
                <a:latin typeface="Calibri Light" panose="020F0302020204030204" pitchFamily="34" charset="0"/>
              </a:rPr>
              <a:t>. Em vez de loops manuais, você descreve o que quer e o Java cuida da execução, inclusive em paralelo com </a:t>
            </a:r>
            <a:r>
              <a:rPr lang="pt-BR" sz="2000" i="1" dirty="0" err="1">
                <a:solidFill>
                  <a:srgbClr val="121212"/>
                </a:solidFill>
                <a:latin typeface="Calibri Light" panose="020F0302020204030204" pitchFamily="34" charset="0"/>
              </a:rPr>
              <a:t>parallelStream</a:t>
            </a:r>
            <a:r>
              <a:rPr lang="pt-BR" sz="2000" i="1" dirty="0">
                <a:solidFill>
                  <a:srgbClr val="121212"/>
                </a:solidFill>
                <a:latin typeface="Calibri Light" panose="020F0302020204030204" pitchFamily="34" charset="0"/>
              </a:rPr>
              <a:t>()</a:t>
            </a:r>
            <a:r>
              <a:rPr lang="pt-BR" sz="2000" dirty="0">
                <a:solidFill>
                  <a:srgbClr val="121212"/>
                </a:solidFill>
                <a:latin typeface="Calibri Light" panose="020F0302020204030204" pitchFamily="34" charset="0"/>
              </a:rPr>
              <a:t>.</a:t>
            </a:r>
          </a:p>
        </p:txBody>
      </p:sp>
      <p:pic>
        <p:nvPicPr>
          <p:cNvPr id="12" name="Imagem 11" descr="Código Java com classe Streams que define Samurai com atributos nome, nível e escola, e método main que cria lista de guerreiros. Filtra e exibe nomes de samurais com nível 8 ou superior, ordenados alfabeticamente, destacando uso de streams, filter, map, sorted e collect.">
            <a:extLst>
              <a:ext uri="{FF2B5EF4-FFF2-40B4-BE49-F238E27FC236}">
                <a16:creationId xmlns:a16="http://schemas.microsoft.com/office/drawing/2014/main" id="{0E76A176-5E41-2BA3-C1C3-340B888D14A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6249" y="4059367"/>
            <a:ext cx="7726287" cy="7805822"/>
          </a:xfrm>
          <a:prstGeom prst="rect">
            <a:avLst/>
          </a:prstGeom>
        </p:spPr>
      </p:pic>
      <p:pic>
        <p:nvPicPr>
          <p:cNvPr id="13" name="Imagem 12" descr="Lista de texto com título &quot;Mestres de nível 8+&quot; e itens &quot;Hattori&quot; e &quot;Musashi&quot;. Indica personagens ou entidades classificadas em nível avançado, destacando dois nomes específicos.">
            <a:extLst>
              <a:ext uri="{FF2B5EF4-FFF2-40B4-BE49-F238E27FC236}">
                <a16:creationId xmlns:a16="http://schemas.microsoft.com/office/drawing/2014/main" id="{B99EB3B1-759B-3866-D722-94345316614E}"/>
              </a:ext>
            </a:extLst>
          </p:cNvPr>
          <p:cNvPicPr>
            <a:picLocks noChangeAspect="1"/>
          </p:cNvPicPr>
          <p:nvPr/>
        </p:nvPicPr>
        <p:blipFill>
          <a:blip r:embed="rId3"/>
          <a:stretch>
            <a:fillRect/>
          </a:stretch>
        </p:blipFill>
        <p:spPr>
          <a:xfrm>
            <a:off x="5970199" y="9455136"/>
            <a:ext cx="2970919" cy="1092928"/>
          </a:xfrm>
          <a:prstGeom prst="rect">
            <a:avLst/>
          </a:prstGeom>
          <a:ln w="38100">
            <a:solidFill>
              <a:srgbClr val="BDBDBD"/>
            </a:solid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AccentBar">
            <a:extLst>
              <a:ext uri="{C183D7F6-B498-43B3-948B-1728B52AA6E4}">
                <adec:decorative xmlns:adec="http://schemas.microsoft.com/office/drawing/2017/decorative" val="1"/>
              </a:ext>
            </a:extLst>
          </p:cNvPr>
          <p:cNvSpPr/>
          <p:nvPr/>
        </p:nvSpPr>
        <p:spPr>
          <a:xfrm>
            <a:off x="476249" y="0"/>
            <a:ext cx="72000" cy="1946064"/>
          </a:xfrm>
          <a:prstGeom prst="rect">
            <a:avLst/>
          </a:prstGeom>
          <a:gradFill flip="none" rotWithShape="1">
            <a:gsLst>
              <a:gs pos="0">
                <a:srgbClr val="E2AE4E"/>
              </a:gs>
              <a:gs pos="60000">
                <a:srgbClr val="B71C1C"/>
              </a:gs>
              <a:gs pos="100000">
                <a:srgbClr val="121212"/>
              </a:gs>
            </a:gsLst>
            <a:lin ang="5400000" scaled="1"/>
            <a:tileRect/>
          </a:gradFill>
          <a:ln>
            <a:noFill/>
          </a:ln>
        </p:spPr>
        <p:txBody>
          <a:bodyPr rtlCol="0" anchor="ctr"/>
          <a:lstStyle/>
          <a:p>
            <a:pPr algn="ctr"/>
            <a:endParaRPr lang="pt-BR"/>
          </a:p>
        </p:txBody>
      </p:sp>
      <p:sp>
        <p:nvSpPr>
          <p:cNvPr id="5" name="Footer">
            <a:extLst>
              <a:ext uri="{C183D7F6-B498-43B3-948B-1728B52AA6E4}">
                <adec:decorative xmlns:adec="http://schemas.microsoft.com/office/drawing/2017/decorative" val="1"/>
              </a:ext>
            </a:extLst>
          </p:cNvPr>
          <p:cNvSpPr>
            <a:spLocks noGrp="1"/>
          </p:cNvSpPr>
          <p:nvPr>
            <p:ph type="ftr" sz="quarter" idx="11"/>
          </p:nvPr>
        </p:nvSpPr>
        <p:spPr/>
        <p:txBody>
          <a:bodyPr/>
          <a:lstStyle/>
          <a:p>
            <a:r>
              <a:rPr lang="pt-BR" dirty="0">
                <a:solidFill>
                  <a:srgbClr val="BDBDBD"/>
                </a:solidFill>
              </a:rPr>
              <a:t>JAVA BUSHIDŌ</a:t>
            </a:r>
          </a:p>
        </p:txBody>
      </p:sp>
      <p:sp>
        <p:nvSpPr>
          <p:cNvPr id="10" name="SlideNum">
            <a:extLst>
              <a:ext uri="{C183D7F6-B498-43B3-948B-1728B52AA6E4}">
                <adec:decorative xmlns:adec="http://schemas.microsoft.com/office/drawing/2017/decorative" val="1"/>
              </a:ext>
            </a:extLst>
          </p:cNvPr>
          <p:cNvSpPr>
            <a:spLocks noGrp="1"/>
          </p:cNvSpPr>
          <p:nvPr>
            <p:ph type="sldNum" sz="quarter" idx="12"/>
          </p:nvPr>
        </p:nvSpPr>
        <p:spPr/>
        <p:txBody>
          <a:bodyPr/>
          <a:lstStyle/>
          <a:p>
            <a:fld id="{50C1CB04-2BE3-4164-84E0-A56E2E41F695}" type="slidenum">
              <a:rPr lang="pt-BR" smtClean="0"/>
              <a:t>11</a:t>
            </a:fld>
            <a:endParaRPr lang="pt-BR" dirty="0"/>
          </a:p>
        </p:txBody>
      </p:sp>
      <p:sp>
        <p:nvSpPr>
          <p:cNvPr id="6" name="Title"/>
          <p:cNvSpPr txBox="1">
            <a:spLocks noGrp="1"/>
          </p:cNvSpPr>
          <p:nvPr>
            <p:ph type="title" idx="4294967295"/>
          </p:nvPr>
        </p:nvSpPr>
        <p:spPr>
          <a:xfrm>
            <a:off x="819150" y="524114"/>
            <a:ext cx="8292192" cy="646331"/>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pt-BR" sz="3600" b="1" i="0" u="none" strike="noStrike" kern="1200" cap="none" spc="0" normalizeH="0" baseline="0" noProof="0" dirty="0">
                <a:ln>
                  <a:noFill/>
                </a:ln>
                <a:solidFill>
                  <a:srgbClr val="B71C1C"/>
                </a:solidFill>
                <a:effectLst/>
                <a:uLnTx/>
                <a:uFillTx/>
                <a:latin typeface="Arial Black" panose="020B0A04020102020204" pitchFamily="34" charset="0"/>
                <a:ea typeface="+mn-ea"/>
                <a:cs typeface="+mn-cs"/>
              </a:rPr>
              <a:t>Java 8 | API de Data e Hora</a:t>
            </a:r>
          </a:p>
        </p:txBody>
      </p:sp>
      <p:sp>
        <p:nvSpPr>
          <p:cNvPr id="2" name="Subtitle">
            <a:extLst>
              <a:ext uri="{FF2B5EF4-FFF2-40B4-BE49-F238E27FC236}">
                <a16:creationId xmlns:a16="http://schemas.microsoft.com/office/drawing/2014/main" id="{8D1473CE-F907-16E8-4983-E7968009DC2A}"/>
              </a:ext>
            </a:extLst>
          </p:cNvPr>
          <p:cNvSpPr txBox="1"/>
          <p:nvPr/>
        </p:nvSpPr>
        <p:spPr>
          <a:xfrm>
            <a:off x="476249" y="2024555"/>
            <a:ext cx="8635093" cy="523220"/>
          </a:xfrm>
          <a:prstGeom prst="rect">
            <a:avLst/>
          </a:prstGeom>
          <a:noFill/>
        </p:spPr>
        <p:txBody>
          <a:bodyPr wrap="square" rtlCol="0">
            <a:spAutoFit/>
          </a:bodyPr>
          <a:lstStyle/>
          <a:p>
            <a:r>
              <a:rPr lang="pt-BR" sz="2800" dirty="0">
                <a:solidFill>
                  <a:srgbClr val="E2AE4E"/>
                </a:solidFill>
                <a:latin typeface="Calibri Light" panose="020F0302020204030204" pitchFamily="34" charset="0"/>
              </a:rPr>
              <a:t>O Tempo do Dojō</a:t>
            </a:r>
          </a:p>
        </p:txBody>
      </p:sp>
      <p:sp>
        <p:nvSpPr>
          <p:cNvPr id="3" name="Body">
            <a:extLst>
              <a:ext uri="{FF2B5EF4-FFF2-40B4-BE49-F238E27FC236}">
                <a16:creationId xmlns:a16="http://schemas.microsoft.com/office/drawing/2014/main" id="{CD691609-1458-DAD7-8977-EED42F39CB67}"/>
              </a:ext>
            </a:extLst>
          </p:cNvPr>
          <p:cNvSpPr txBox="1"/>
          <p:nvPr/>
        </p:nvSpPr>
        <p:spPr>
          <a:xfrm>
            <a:off x="476249" y="2800000"/>
            <a:ext cx="8635092" cy="1175706"/>
          </a:xfrm>
          <a:prstGeom prst="rect">
            <a:avLst/>
          </a:prstGeom>
          <a:noFill/>
        </p:spPr>
        <p:txBody>
          <a:bodyPr wrap="square" rtlCol="0">
            <a:spAutoFit/>
          </a:bodyPr>
          <a:lstStyle/>
          <a:p>
            <a:pPr>
              <a:lnSpc>
                <a:spcPct val="120000"/>
              </a:lnSpc>
            </a:pPr>
            <a:r>
              <a:rPr lang="pt-BR" sz="2000" dirty="0">
                <a:solidFill>
                  <a:srgbClr val="121212"/>
                </a:solidFill>
                <a:latin typeface="Calibri Light" panose="020F0302020204030204" pitchFamily="34" charset="0"/>
              </a:rPr>
              <a:t>O pacote </a:t>
            </a:r>
            <a:r>
              <a:rPr lang="pt-BR" sz="2000" i="1" dirty="0">
                <a:solidFill>
                  <a:srgbClr val="121212"/>
                </a:solidFill>
                <a:latin typeface="Calibri Light" panose="020F0302020204030204" pitchFamily="34" charset="0"/>
              </a:rPr>
              <a:t>java.time </a:t>
            </a:r>
            <a:r>
              <a:rPr lang="pt-BR" sz="2000" dirty="0">
                <a:solidFill>
                  <a:srgbClr val="121212"/>
                </a:solidFill>
                <a:latin typeface="Calibri Light" panose="020F0302020204030204" pitchFamily="34" charset="0"/>
              </a:rPr>
              <a:t>substituiu a antiga API de datas (</a:t>
            </a:r>
            <a:r>
              <a:rPr lang="pt-BR" sz="2000" i="1" dirty="0">
                <a:solidFill>
                  <a:srgbClr val="121212"/>
                </a:solidFill>
                <a:latin typeface="Calibri Light" panose="020F0302020204030204" pitchFamily="34" charset="0"/>
              </a:rPr>
              <a:t>Date</a:t>
            </a:r>
            <a:r>
              <a:rPr lang="pt-BR" sz="2000" dirty="0">
                <a:solidFill>
                  <a:srgbClr val="121212"/>
                </a:solidFill>
                <a:latin typeface="Calibri Light" panose="020F0302020204030204" pitchFamily="34" charset="0"/>
              </a:rPr>
              <a:t>/</a:t>
            </a:r>
            <a:r>
              <a:rPr lang="pt-BR" sz="2000" i="1" dirty="0">
                <a:solidFill>
                  <a:srgbClr val="121212"/>
                </a:solidFill>
                <a:latin typeface="Calibri Light" panose="020F0302020204030204" pitchFamily="34" charset="0"/>
              </a:rPr>
              <a:t>Calendar</a:t>
            </a:r>
            <a:r>
              <a:rPr lang="pt-BR" sz="2000" dirty="0">
                <a:solidFill>
                  <a:srgbClr val="121212"/>
                </a:solidFill>
                <a:latin typeface="Calibri Light" panose="020F0302020204030204" pitchFamily="34" charset="0"/>
              </a:rPr>
              <a:t>) com classes imutáveis e intuitivas como </a:t>
            </a:r>
            <a:r>
              <a:rPr lang="pt-BR" sz="2000" i="1" dirty="0">
                <a:solidFill>
                  <a:srgbClr val="121212"/>
                </a:solidFill>
                <a:latin typeface="Calibri Light" panose="020F0302020204030204" pitchFamily="34" charset="0"/>
              </a:rPr>
              <a:t>LocalDate</a:t>
            </a:r>
            <a:r>
              <a:rPr lang="pt-BR" sz="2000" dirty="0">
                <a:solidFill>
                  <a:srgbClr val="121212"/>
                </a:solidFill>
                <a:latin typeface="Calibri Light" panose="020F0302020204030204" pitchFamily="34" charset="0"/>
              </a:rPr>
              <a:t>, </a:t>
            </a:r>
            <a:r>
              <a:rPr lang="pt-BR" sz="2000" i="1" dirty="0">
                <a:solidFill>
                  <a:srgbClr val="121212"/>
                </a:solidFill>
                <a:latin typeface="Calibri Light" panose="020F0302020204030204" pitchFamily="34" charset="0"/>
              </a:rPr>
              <a:t>LocalTime</a:t>
            </a:r>
            <a:r>
              <a:rPr lang="pt-BR" sz="2000" dirty="0">
                <a:solidFill>
                  <a:srgbClr val="121212"/>
                </a:solidFill>
                <a:latin typeface="Calibri Light" panose="020F0302020204030204" pitchFamily="34" charset="0"/>
              </a:rPr>
              <a:t> e </a:t>
            </a:r>
            <a:r>
              <a:rPr lang="pt-BR" sz="2000" i="1" dirty="0">
                <a:solidFill>
                  <a:srgbClr val="121212"/>
                </a:solidFill>
                <a:latin typeface="Calibri Light" panose="020F0302020204030204" pitchFamily="34" charset="0"/>
              </a:rPr>
              <a:t>ZonedDateTime</a:t>
            </a:r>
            <a:r>
              <a:rPr lang="pt-BR" sz="2000" dirty="0">
                <a:solidFill>
                  <a:srgbClr val="121212"/>
                </a:solidFill>
                <a:latin typeface="Calibri Light" panose="020F0302020204030204" pitchFamily="34" charset="0"/>
              </a:rPr>
              <a:t>. Operações com datas ficaram simples e seguras, sem surpresas com fusos horários.</a:t>
            </a:r>
          </a:p>
        </p:txBody>
      </p:sp>
      <p:pic>
        <p:nvPicPr>
          <p:cNvPr id="7" name="Imagem 6" descr="Código-fonte em Java exibindo cálculo de datas para treino e promoção, incluindo data atual, início e fim do treino com duração de 90 dias, e dias restantes até prova de promoção em 31 de maio de 2026. Código também imprime horário atual em fuso horário de Tóquio, Japão, com comentários explicativos em português e uso de emojis para destacar saídas no console.">
            <a:extLst>
              <a:ext uri="{FF2B5EF4-FFF2-40B4-BE49-F238E27FC236}">
                <a16:creationId xmlns:a16="http://schemas.microsoft.com/office/drawing/2014/main" id="{AC10B421-F3E6-ABD4-0464-A165AAC185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6249" y="4227931"/>
            <a:ext cx="8635092" cy="6616005"/>
          </a:xfrm>
          <a:prstGeom prst="rect">
            <a:avLst/>
          </a:prstGeom>
        </p:spPr>
      </p:pic>
      <p:pic>
        <p:nvPicPr>
          <p:cNvPr id="11" name="Imagem 10" descr="Captura de tela de texto exibindo datas relacionadas a um período de treino, incluindo início em 11 de maio de 2026, fim em 9 de agosto de 2026 e contagem regressiva de 20 dias para promoção. Informações também indicam horário de treino em Tóquio com fuso horário Asia/Tokyo.">
            <a:extLst>
              <a:ext uri="{FF2B5EF4-FFF2-40B4-BE49-F238E27FC236}">
                <a16:creationId xmlns:a16="http://schemas.microsoft.com/office/drawing/2014/main" id="{AE7D4F6B-809A-19BD-D768-7AA7DA3C7373}"/>
              </a:ext>
            </a:extLst>
          </p:cNvPr>
          <p:cNvPicPr>
            <a:picLocks noChangeAspect="1"/>
          </p:cNvPicPr>
          <p:nvPr/>
        </p:nvPicPr>
        <p:blipFill>
          <a:blip r:embed="rId3"/>
          <a:stretch>
            <a:fillRect/>
          </a:stretch>
        </p:blipFill>
        <p:spPr>
          <a:xfrm>
            <a:off x="2396226" y="10394182"/>
            <a:ext cx="6452307" cy="1370091"/>
          </a:xfrm>
          <a:prstGeom prst="rect">
            <a:avLst/>
          </a:prstGeom>
          <a:ln w="38100">
            <a:solidFill>
              <a:srgbClr val="BDBDBD"/>
            </a:solid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gRect">
            <a:extLst>
              <a:ext uri="{C183D7F6-B498-43B3-948B-1728B52AA6E4}">
                <adec:decorative xmlns:adec="http://schemas.microsoft.com/office/drawing/2017/decorative" val="1"/>
              </a:ext>
            </a:extLst>
          </p:cNvPr>
          <p:cNvSpPr/>
          <p:nvPr/>
        </p:nvSpPr>
        <p:spPr>
          <a:xfrm>
            <a:off x="0" y="0"/>
            <a:ext cx="9601200" cy="12801600"/>
          </a:xfrm>
          <a:prstGeom prst="rect">
            <a:avLst/>
          </a:prstGeom>
          <a:solidFill>
            <a:srgbClr val="121212"/>
          </a:solidFill>
          <a:ln>
            <a:noFill/>
          </a:ln>
        </p:spPr>
        <p:txBody>
          <a:bodyPr rtlCol="0" anchor="ctr"/>
          <a:lstStyle/>
          <a:p>
            <a:pPr algn="ctr"/>
            <a:endParaRPr lang="pt-BR"/>
          </a:p>
        </p:txBody>
      </p:sp>
      <p:sp>
        <p:nvSpPr>
          <p:cNvPr id="5" name="Number" descr="Arco III"/>
          <p:cNvSpPr txBox="1"/>
          <p:nvPr/>
        </p:nvSpPr>
        <p:spPr>
          <a:xfrm>
            <a:off x="700000" y="200000"/>
            <a:ext cx="8200000" cy="6447919"/>
          </a:xfrm>
          <a:prstGeom prst="rect">
            <a:avLst/>
          </a:prstGeom>
          <a:noFill/>
        </p:spPr>
        <p:txBody>
          <a:bodyPr wrap="square" rtlCol="0">
            <a:spAutoFit/>
          </a:bodyPr>
          <a:lstStyle/>
          <a:p>
            <a:pPr algn="ctr"/>
            <a:r>
              <a:rPr lang="pt-BR" sz="41300" dirty="0">
                <a:ln w="12700">
                  <a:solidFill>
                    <a:srgbClr val="B71C1C"/>
                  </a:solidFill>
                </a:ln>
                <a:noFill/>
                <a:latin typeface="Arial Black" panose="020B0A04020102020204" pitchFamily="34" charset="0"/>
              </a:rPr>
              <a:t>III</a:t>
            </a:r>
          </a:p>
        </p:txBody>
      </p:sp>
      <p:sp>
        <p:nvSpPr>
          <p:cNvPr id="6" name="Title">
            <a:extLst>
              <a:ext uri="{FF2B5EF4-FFF2-40B4-BE49-F238E27FC236}">
                <a16:creationId xmlns:a16="http://schemas.microsoft.com/office/drawing/2014/main" id="{642B2972-960F-2FF6-0ED8-40E7CF0D5A9D}"/>
              </a:ext>
            </a:extLst>
          </p:cNvPr>
          <p:cNvSpPr txBox="1">
            <a:spLocks noGrp="1"/>
          </p:cNvSpPr>
          <p:nvPr>
            <p:ph type="title" idx="4294967295"/>
          </p:nvPr>
        </p:nvSpPr>
        <p:spPr>
          <a:xfrm>
            <a:off x="489857" y="6000000"/>
            <a:ext cx="8621485" cy="263149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pt-BR" sz="5500" b="0" i="0" u="none" strike="noStrike" kern="1200" cap="none" spc="0" normalizeH="0" baseline="0" noProof="0" dirty="0">
                <a:ln>
                  <a:noFill/>
                </a:ln>
                <a:solidFill>
                  <a:srgbClr val="FFFFFF"/>
                </a:solidFill>
                <a:effectLst/>
                <a:uLnTx/>
                <a:uFillTx/>
                <a:latin typeface="Arial Black" panose="020B0A04020102020204" pitchFamily="34" charset="0"/>
                <a:ea typeface="+mn-ea"/>
                <a:cs typeface="+mn-cs"/>
              </a:rPr>
              <a:t>DISCIPLINA</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pt-BR" sz="5500" b="0" i="0" u="none" strike="noStrike" kern="1200" cap="none" spc="0" normalizeH="0" baseline="0" noProof="0" dirty="0">
                <a:ln>
                  <a:noFill/>
                </a:ln>
                <a:solidFill>
                  <a:srgbClr val="FFFFFF"/>
                </a:solidFill>
                <a:effectLst/>
                <a:uLnTx/>
                <a:uFillTx/>
                <a:latin typeface="Arial Black" panose="020B0A04020102020204" pitchFamily="34" charset="0"/>
                <a:ea typeface="+mn-ea"/>
                <a:cs typeface="+mn-cs"/>
              </a:rPr>
              <a:t>E LEVEZA</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pt-BR" sz="5500" b="0" i="0" u="none" strike="noStrike" kern="1200" cap="none" spc="0" normalizeH="0" baseline="0" noProof="0" dirty="0">
                <a:ln>
                  <a:noFill/>
                </a:ln>
                <a:solidFill>
                  <a:srgbClr val="FFFFFF"/>
                </a:solidFill>
                <a:effectLst/>
                <a:uLnTx/>
                <a:uFillTx/>
                <a:latin typeface="Arial Black" panose="020B0A04020102020204" pitchFamily="34" charset="0"/>
                <a:ea typeface="+mn-ea"/>
                <a:cs typeface="+mn-cs"/>
              </a:rPr>
              <a:t>JAVA 11</a:t>
            </a:r>
          </a:p>
        </p:txBody>
      </p:sp>
      <p:sp>
        <p:nvSpPr>
          <p:cNvPr id="4" name="GradLine">
            <a:extLst>
              <a:ext uri="{C183D7F6-B498-43B3-948B-1728B52AA6E4}">
                <adec:decorative xmlns:adec="http://schemas.microsoft.com/office/drawing/2017/decorative" val="1"/>
              </a:ext>
            </a:extLst>
          </p:cNvPr>
          <p:cNvSpPr/>
          <p:nvPr/>
        </p:nvSpPr>
        <p:spPr>
          <a:xfrm rot="5400000">
            <a:off x="4757736" y="5600700"/>
            <a:ext cx="182880" cy="7200900"/>
          </a:xfrm>
          <a:prstGeom prst="rect">
            <a:avLst/>
          </a:prstGeom>
          <a:gradFill flip="none" rotWithShape="1">
            <a:gsLst>
              <a:gs pos="0">
                <a:srgbClr val="E2AE4E"/>
              </a:gs>
              <a:gs pos="60000">
                <a:srgbClr val="B71C1C"/>
              </a:gs>
              <a:gs pos="100000">
                <a:srgbClr val="121212"/>
              </a:gs>
            </a:gsLst>
            <a:lin ang="5400000" scaled="1"/>
            <a:tileRect/>
          </a:gradFill>
          <a:ln>
            <a:noFill/>
          </a:ln>
        </p:spPr>
        <p:txBody>
          <a:bodyPr rtlCol="0" anchor="ctr"/>
          <a:lstStyle/>
          <a:p>
            <a:pPr algn="ctr"/>
            <a:endParaRPr lang="pt-BR"/>
          </a:p>
        </p:txBody>
      </p:sp>
      <p:sp>
        <p:nvSpPr>
          <p:cNvPr id="7" name="SlideNum">
            <a:extLst>
              <a:ext uri="{C183D7F6-B498-43B3-948B-1728B52AA6E4}">
                <adec:decorative xmlns:adec="http://schemas.microsoft.com/office/drawing/2017/decorative" val="1"/>
              </a:ext>
            </a:extLst>
          </p:cNvPr>
          <p:cNvSpPr>
            <a:spLocks noGrp="1"/>
          </p:cNvSpPr>
          <p:nvPr>
            <p:ph type="sldNum" sz="quarter" idx="12"/>
          </p:nvPr>
        </p:nvSpPr>
        <p:spPr/>
        <p:txBody>
          <a:bodyPr/>
          <a:lstStyle/>
          <a:p>
            <a:fld id="{50C1CB04-2BE3-4164-84E0-A56E2E41F695}" type="slidenum">
              <a:rPr lang="pt-BR" smtClean="0">
                <a:solidFill>
                  <a:srgbClr val="BDBDBD"/>
                </a:solidFill>
              </a:rPr>
              <a:t>12</a:t>
            </a:fld>
            <a:endParaRPr lang="pt-BR" dirty="0">
              <a:solidFill>
                <a:srgbClr val="BDBDBD"/>
              </a:solidFill>
            </a:endParaRPr>
          </a:p>
        </p:txBody>
      </p:sp>
      <p:sp>
        <p:nvSpPr>
          <p:cNvPr id="8" name="Footer">
            <a:extLst>
              <a:ext uri="{C183D7F6-B498-43B3-948B-1728B52AA6E4}">
                <adec:decorative xmlns:adec="http://schemas.microsoft.com/office/drawing/2017/decorative" val="1"/>
              </a:ext>
            </a:extLst>
          </p:cNvPr>
          <p:cNvSpPr>
            <a:spLocks noGrp="1"/>
          </p:cNvSpPr>
          <p:nvPr>
            <p:ph type="ftr" sz="quarter" idx="11"/>
          </p:nvPr>
        </p:nvSpPr>
        <p:spPr/>
        <p:txBody>
          <a:bodyPr/>
          <a:lstStyle/>
          <a:p>
            <a:r>
              <a:rPr lang="pt-BR" dirty="0">
                <a:solidFill>
                  <a:srgbClr val="BDBDBD"/>
                </a:solidFill>
              </a:rPr>
              <a:t>JAVA BUSHIDŌ</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F4E885F4-809A-E285-E657-705F3516A97A}"/>
              </a:ext>
              <a:ext uri="{C183D7F6-B498-43B3-948B-1728B52AA6E4}">
                <adec:decorative xmlns:adec="http://schemas.microsoft.com/office/drawing/2017/decorative" val="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2781" b="12889"/>
          <a:stretch>
            <a:fillRect/>
          </a:stretch>
        </p:blipFill>
        <p:spPr bwMode="auto">
          <a:xfrm>
            <a:off x="0" y="8518849"/>
            <a:ext cx="9601200" cy="4282751"/>
          </a:xfrm>
          <a:prstGeom prst="rect">
            <a:avLst/>
          </a:prstGeom>
          <a:noFill/>
          <a:extLst>
            <a:ext uri="{909E8E84-426E-40DD-AFC4-6F175D3DCCD1}">
              <a14:hiddenFill xmlns:a14="http://schemas.microsoft.com/office/drawing/2010/main">
                <a:solidFill>
                  <a:srgbClr val="FFFFFF"/>
                </a:solidFill>
              </a14:hiddenFill>
            </a:ext>
          </a:extLst>
        </p:spPr>
      </p:pic>
      <p:sp>
        <p:nvSpPr>
          <p:cNvPr id="6" name="Title"/>
          <p:cNvSpPr txBox="1">
            <a:spLocks noGrp="1"/>
          </p:cNvSpPr>
          <p:nvPr>
            <p:ph type="title" idx="4294967295"/>
          </p:nvPr>
        </p:nvSpPr>
        <p:spPr>
          <a:xfrm>
            <a:off x="819150" y="524114"/>
            <a:ext cx="8292192" cy="646331"/>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pt-BR" sz="3600" b="1" i="0" u="none" strike="noStrike" kern="1200" cap="none" spc="0" normalizeH="0" baseline="0" noProof="0" dirty="0">
                <a:ln>
                  <a:noFill/>
                </a:ln>
                <a:solidFill>
                  <a:srgbClr val="B71C1C"/>
                </a:solidFill>
                <a:effectLst/>
                <a:uLnTx/>
                <a:uFillTx/>
                <a:latin typeface="Arial Black" panose="020B0A04020102020204" pitchFamily="34" charset="0"/>
                <a:ea typeface="+mn-ea"/>
                <a:cs typeface="+mn-cs"/>
              </a:rPr>
              <a:t>Java 11 | Visão Geral</a:t>
            </a:r>
          </a:p>
        </p:txBody>
      </p:sp>
      <p:sp>
        <p:nvSpPr>
          <p:cNvPr id="7" name="Subtitle"/>
          <p:cNvSpPr txBox="1"/>
          <p:nvPr/>
        </p:nvSpPr>
        <p:spPr>
          <a:xfrm>
            <a:off x="476249" y="2024555"/>
            <a:ext cx="8635093" cy="584775"/>
          </a:xfrm>
          <a:prstGeom prst="rect">
            <a:avLst/>
          </a:prstGeom>
          <a:noFill/>
        </p:spPr>
        <p:txBody>
          <a:bodyPr wrap="square" rtlCol="0">
            <a:spAutoFit/>
          </a:bodyPr>
          <a:lstStyle/>
          <a:p>
            <a:r>
              <a:rPr lang="pt-BR" sz="2800" dirty="0">
                <a:solidFill>
                  <a:srgbClr val="E2AE4E"/>
                </a:solidFill>
                <a:latin typeface="Calibri Light" panose="020F0302020204030204" pitchFamily="34" charset="0"/>
              </a:rPr>
              <a:t>Arco III — Disciplina e Leveza</a:t>
            </a:r>
          </a:p>
        </p:txBody>
      </p:sp>
      <p:sp>
        <p:nvSpPr>
          <p:cNvPr id="8" name="Body"/>
          <p:cNvSpPr txBox="1"/>
          <p:nvPr/>
        </p:nvSpPr>
        <p:spPr>
          <a:xfrm>
            <a:off x="476249" y="2800000"/>
            <a:ext cx="8635092" cy="5466625"/>
          </a:xfrm>
          <a:prstGeom prst="rect">
            <a:avLst/>
          </a:prstGeom>
          <a:noFill/>
        </p:spPr>
        <p:txBody>
          <a:bodyPr wrap="square" rtlCol="0">
            <a:spAutoFit/>
          </a:bodyPr>
          <a:lstStyle/>
          <a:p>
            <a:pPr>
              <a:lnSpc>
                <a:spcPct val="130000"/>
              </a:lnSpc>
              <a:spcAft>
                <a:spcPts val="800"/>
              </a:spcAft>
            </a:pPr>
            <a:r>
              <a:rPr lang="pt-BR" sz="2000" dirty="0">
                <a:solidFill>
                  <a:srgbClr val="121212"/>
                </a:solidFill>
                <a:latin typeface="Calibri Light" panose="020F0302020204030204" pitchFamily="34" charset="0"/>
              </a:rPr>
              <a:t>O Java 11, lançado em setembro de 2018, foi a primeira versão </a:t>
            </a:r>
            <a:r>
              <a:rPr lang="pt-BR" sz="2000" i="1" dirty="0">
                <a:solidFill>
                  <a:srgbClr val="121212"/>
                </a:solidFill>
                <a:latin typeface="Calibri Light" panose="020F0302020204030204" pitchFamily="34" charset="0"/>
              </a:rPr>
              <a:t>LTS</a:t>
            </a:r>
            <a:r>
              <a:rPr lang="pt-BR" sz="2000" dirty="0">
                <a:solidFill>
                  <a:srgbClr val="121212"/>
                </a:solidFill>
                <a:latin typeface="Calibri Light" panose="020F0302020204030204" pitchFamily="34" charset="0"/>
              </a:rPr>
              <a:t> </a:t>
            </a:r>
            <a:r>
              <a:rPr lang="pt-BR" sz="2000" i="1" dirty="0">
                <a:solidFill>
                  <a:srgbClr val="121212"/>
                </a:solidFill>
                <a:latin typeface="Calibri Light" panose="020F0302020204030204" pitchFamily="34" charset="0"/>
              </a:rPr>
              <a:t>(</a:t>
            </a:r>
            <a:r>
              <a:rPr lang="pt-BR" sz="2000" i="1" dirty="0" err="1">
                <a:solidFill>
                  <a:srgbClr val="121212"/>
                </a:solidFill>
                <a:latin typeface="Calibri Light" panose="020F0302020204030204" pitchFamily="34" charset="0"/>
              </a:rPr>
              <a:t>Long-Term</a:t>
            </a:r>
            <a:r>
              <a:rPr lang="pt-BR" sz="2000" i="1" dirty="0">
                <a:solidFill>
                  <a:srgbClr val="121212"/>
                </a:solidFill>
                <a:latin typeface="Calibri Light" panose="020F0302020204030204" pitchFamily="34" charset="0"/>
              </a:rPr>
              <a:t> </a:t>
            </a:r>
            <a:r>
              <a:rPr lang="pt-BR" sz="2000" i="1" dirty="0" err="1">
                <a:solidFill>
                  <a:srgbClr val="121212"/>
                </a:solidFill>
                <a:latin typeface="Calibri Light" panose="020F0302020204030204" pitchFamily="34" charset="0"/>
              </a:rPr>
              <a:t>Support</a:t>
            </a:r>
            <a:r>
              <a:rPr lang="pt-BR" sz="2000" dirty="0">
                <a:solidFill>
                  <a:srgbClr val="121212"/>
                </a:solidFill>
                <a:latin typeface="Calibri Light" panose="020F0302020204030204" pitchFamily="34" charset="0"/>
              </a:rPr>
              <a:t>) após o Java 8. Essa versão marcou a transição para o novo ciclo de releases semestrais e consolidou melhorias que tornaram o dia a dia do desenvolvedor mais leve e produtivo.</a:t>
            </a:r>
          </a:p>
          <a:p>
            <a:pPr>
              <a:lnSpc>
                <a:spcPct val="130000"/>
              </a:lnSpc>
              <a:spcAft>
                <a:spcPts val="800"/>
              </a:spcAft>
            </a:pPr>
            <a:r>
              <a:rPr lang="pt-BR" sz="2000" dirty="0">
                <a:solidFill>
                  <a:srgbClr val="121212"/>
                </a:solidFill>
                <a:latin typeface="Calibri Light" panose="020F0302020204030204" pitchFamily="34" charset="0"/>
              </a:rPr>
              <a:t>Entre as novidades mais relevantes estão o </a:t>
            </a:r>
            <a:r>
              <a:rPr lang="pt-BR" sz="2000" i="1" dirty="0">
                <a:solidFill>
                  <a:srgbClr val="121212"/>
                </a:solidFill>
                <a:latin typeface="Calibri Light" panose="020F0302020204030204" pitchFamily="34" charset="0"/>
              </a:rPr>
              <a:t>HttpClient</a:t>
            </a:r>
            <a:r>
              <a:rPr lang="pt-BR" sz="2000" dirty="0">
                <a:solidFill>
                  <a:srgbClr val="121212"/>
                </a:solidFill>
                <a:latin typeface="Calibri Light" panose="020F0302020204030204" pitchFamily="34" charset="0"/>
              </a:rPr>
              <a:t> nativo (que elimina a necessidade de bibliotecas externas para chamadas HTTP), melhorias importantes na classe </a:t>
            </a:r>
            <a:r>
              <a:rPr lang="pt-BR" sz="2000" i="1" dirty="0">
                <a:solidFill>
                  <a:srgbClr val="121212"/>
                </a:solidFill>
                <a:latin typeface="Calibri Light" panose="020F0302020204030204" pitchFamily="34" charset="0"/>
              </a:rPr>
              <a:t>String</a:t>
            </a:r>
            <a:r>
              <a:rPr lang="pt-BR" sz="2000" dirty="0">
                <a:solidFill>
                  <a:srgbClr val="121212"/>
                </a:solidFill>
                <a:latin typeface="Calibri Light" panose="020F0302020204030204" pitchFamily="34" charset="0"/>
              </a:rPr>
              <a:t> e a possibilidade de executar arquivos </a:t>
            </a:r>
            <a:r>
              <a:rPr lang="pt-BR" sz="2000" i="1" dirty="0">
                <a:solidFill>
                  <a:srgbClr val="121212"/>
                </a:solidFill>
                <a:latin typeface="Calibri Light" panose="020F0302020204030204" pitchFamily="34" charset="0"/>
              </a:rPr>
              <a:t>.</a:t>
            </a:r>
            <a:r>
              <a:rPr lang="pt-BR" sz="2000" i="1" dirty="0" err="1">
                <a:solidFill>
                  <a:srgbClr val="121212"/>
                </a:solidFill>
                <a:latin typeface="Calibri Light" panose="020F0302020204030204" pitchFamily="34" charset="0"/>
              </a:rPr>
              <a:t>java</a:t>
            </a:r>
            <a:r>
              <a:rPr lang="pt-BR" sz="2000" i="1" dirty="0">
                <a:solidFill>
                  <a:srgbClr val="121212"/>
                </a:solidFill>
                <a:latin typeface="Calibri Light" panose="020F0302020204030204" pitchFamily="34" charset="0"/>
              </a:rPr>
              <a:t> </a:t>
            </a:r>
            <a:r>
              <a:rPr lang="pt-BR" sz="2000" dirty="0">
                <a:solidFill>
                  <a:srgbClr val="121212"/>
                </a:solidFill>
                <a:latin typeface="Calibri Light" panose="020F0302020204030204" pitchFamily="34" charset="0"/>
              </a:rPr>
              <a:t>diretamente com comando </a:t>
            </a:r>
            <a:r>
              <a:rPr lang="pt-BR" sz="2000" dirty="0" err="1">
                <a:solidFill>
                  <a:srgbClr val="121212"/>
                </a:solidFill>
                <a:latin typeface="Consolas" panose="020B0609020204030204" pitchFamily="49" charset="0"/>
              </a:rPr>
              <a:t>java</a:t>
            </a:r>
            <a:r>
              <a:rPr lang="pt-BR" sz="2000" dirty="0">
                <a:solidFill>
                  <a:srgbClr val="121212"/>
                </a:solidFill>
                <a:latin typeface="Calibri Light" panose="020F0302020204030204" pitchFamily="34" charset="0"/>
              </a:rPr>
              <a:t> sem a etapa de compilar. São mudanças que parecem pequenas isoladamente, mas juntas reduzem significativamente a quantidade de código auxiliar em qualquer projeto.</a:t>
            </a:r>
          </a:p>
          <a:p>
            <a:pPr>
              <a:lnSpc>
                <a:spcPct val="130000"/>
              </a:lnSpc>
              <a:spcAft>
                <a:spcPts val="800"/>
              </a:spcAft>
            </a:pPr>
            <a:r>
              <a:rPr lang="pt-BR" sz="2000" dirty="0">
                <a:solidFill>
                  <a:srgbClr val="121212"/>
                </a:solidFill>
                <a:latin typeface="Calibri Light" panose="020F0302020204030204" pitchFamily="34" charset="0"/>
              </a:rPr>
              <a:t>O Java 11 é a versão mínima recomendada para novos projetos hoje. Se você ainda está em uma base Java 8, planejar a migração para o 11 é o primeiro passo concreto rumo ao Java moderno.</a:t>
            </a:r>
          </a:p>
        </p:txBody>
      </p:sp>
      <p:sp>
        <p:nvSpPr>
          <p:cNvPr id="9" name="AccentBar">
            <a:extLst>
              <a:ext uri="{C183D7F6-B498-43B3-948B-1728B52AA6E4}">
                <adec:decorative xmlns:adec="http://schemas.microsoft.com/office/drawing/2017/decorative" val="1"/>
              </a:ext>
            </a:extLst>
          </p:cNvPr>
          <p:cNvSpPr/>
          <p:nvPr/>
        </p:nvSpPr>
        <p:spPr>
          <a:xfrm>
            <a:off x="476249" y="0"/>
            <a:ext cx="72000" cy="1946064"/>
          </a:xfrm>
          <a:prstGeom prst="rect">
            <a:avLst/>
          </a:prstGeom>
          <a:gradFill flip="none" rotWithShape="1">
            <a:gsLst>
              <a:gs pos="0">
                <a:srgbClr val="E2AE4E"/>
              </a:gs>
              <a:gs pos="60000">
                <a:srgbClr val="B71C1C"/>
              </a:gs>
              <a:gs pos="100000">
                <a:srgbClr val="121212"/>
              </a:gs>
            </a:gsLst>
            <a:lin ang="5400000" scaled="1"/>
            <a:tileRect/>
          </a:gradFill>
          <a:ln>
            <a:noFill/>
          </a:ln>
        </p:spPr>
        <p:txBody>
          <a:bodyPr rtlCol="0" anchor="ctr"/>
          <a:lstStyle/>
          <a:p>
            <a:pPr algn="ctr"/>
            <a:endParaRPr lang="pt-BR"/>
          </a:p>
        </p:txBody>
      </p:sp>
      <p:sp>
        <p:nvSpPr>
          <p:cNvPr id="5" name="Footer">
            <a:extLst>
              <a:ext uri="{C183D7F6-B498-43B3-948B-1728B52AA6E4}">
                <adec:decorative xmlns:adec="http://schemas.microsoft.com/office/drawing/2017/decorative" val="1"/>
              </a:ext>
            </a:extLst>
          </p:cNvPr>
          <p:cNvSpPr>
            <a:spLocks noGrp="1"/>
          </p:cNvSpPr>
          <p:nvPr>
            <p:ph type="ftr" sz="quarter" idx="11"/>
          </p:nvPr>
        </p:nvSpPr>
        <p:spPr/>
        <p:txBody>
          <a:bodyPr/>
          <a:lstStyle/>
          <a:p>
            <a:r>
              <a:rPr lang="pt-BR" dirty="0">
                <a:solidFill>
                  <a:srgbClr val="BDBDBD"/>
                </a:solidFill>
              </a:rPr>
              <a:t>JAVA BUSHIDŌ</a:t>
            </a:r>
          </a:p>
        </p:txBody>
      </p:sp>
      <p:sp>
        <p:nvSpPr>
          <p:cNvPr id="10" name="SlideNum">
            <a:extLst>
              <a:ext uri="{C183D7F6-B498-43B3-948B-1728B52AA6E4}">
                <adec:decorative xmlns:adec="http://schemas.microsoft.com/office/drawing/2017/decorative" val="1"/>
              </a:ext>
            </a:extLst>
          </p:cNvPr>
          <p:cNvSpPr>
            <a:spLocks noGrp="1"/>
          </p:cNvSpPr>
          <p:nvPr>
            <p:ph type="sldNum" sz="quarter" idx="12"/>
          </p:nvPr>
        </p:nvSpPr>
        <p:spPr/>
        <p:txBody>
          <a:bodyPr/>
          <a:lstStyle/>
          <a:p>
            <a:fld id="{50C1CB04-2BE3-4164-84E0-A56E2E41F695}" type="slidenum">
              <a:rPr lang="pt-BR" smtClean="0"/>
              <a:t>13</a:t>
            </a:fld>
            <a:endParaRPr lang="pt-BR"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AccentBar">
            <a:extLst>
              <a:ext uri="{C183D7F6-B498-43B3-948B-1728B52AA6E4}">
                <adec:decorative xmlns:adec="http://schemas.microsoft.com/office/drawing/2017/decorative" val="1"/>
              </a:ext>
            </a:extLst>
          </p:cNvPr>
          <p:cNvSpPr/>
          <p:nvPr/>
        </p:nvSpPr>
        <p:spPr>
          <a:xfrm>
            <a:off x="476249" y="0"/>
            <a:ext cx="72000" cy="1946064"/>
          </a:xfrm>
          <a:prstGeom prst="rect">
            <a:avLst/>
          </a:prstGeom>
          <a:gradFill flip="none" rotWithShape="1">
            <a:gsLst>
              <a:gs pos="0">
                <a:srgbClr val="E2AE4E"/>
              </a:gs>
              <a:gs pos="60000">
                <a:srgbClr val="B71C1C"/>
              </a:gs>
              <a:gs pos="100000">
                <a:srgbClr val="121212"/>
              </a:gs>
            </a:gsLst>
            <a:lin ang="5400000" scaled="1"/>
            <a:tileRect/>
          </a:gradFill>
          <a:ln>
            <a:noFill/>
          </a:ln>
        </p:spPr>
        <p:txBody>
          <a:bodyPr rtlCol="0" anchor="ctr"/>
          <a:lstStyle/>
          <a:p>
            <a:pPr algn="ctr"/>
            <a:endParaRPr lang="pt-BR"/>
          </a:p>
        </p:txBody>
      </p:sp>
      <p:sp>
        <p:nvSpPr>
          <p:cNvPr id="5" name="Footer">
            <a:extLst>
              <a:ext uri="{C183D7F6-B498-43B3-948B-1728B52AA6E4}">
                <adec:decorative xmlns:adec="http://schemas.microsoft.com/office/drawing/2017/decorative" val="1"/>
              </a:ext>
            </a:extLst>
          </p:cNvPr>
          <p:cNvSpPr>
            <a:spLocks noGrp="1"/>
          </p:cNvSpPr>
          <p:nvPr>
            <p:ph type="ftr" sz="quarter" idx="11"/>
          </p:nvPr>
        </p:nvSpPr>
        <p:spPr/>
        <p:txBody>
          <a:bodyPr/>
          <a:lstStyle/>
          <a:p>
            <a:r>
              <a:rPr lang="pt-BR" dirty="0">
                <a:solidFill>
                  <a:srgbClr val="BDBDBD"/>
                </a:solidFill>
              </a:rPr>
              <a:t>JAVA BUSHIDŌ</a:t>
            </a:r>
          </a:p>
        </p:txBody>
      </p:sp>
      <p:sp>
        <p:nvSpPr>
          <p:cNvPr id="10" name="SlideNum">
            <a:extLst>
              <a:ext uri="{C183D7F6-B498-43B3-948B-1728B52AA6E4}">
                <adec:decorative xmlns:adec="http://schemas.microsoft.com/office/drawing/2017/decorative" val="1"/>
              </a:ext>
            </a:extLst>
          </p:cNvPr>
          <p:cNvSpPr>
            <a:spLocks noGrp="1"/>
          </p:cNvSpPr>
          <p:nvPr>
            <p:ph type="sldNum" sz="quarter" idx="12"/>
          </p:nvPr>
        </p:nvSpPr>
        <p:spPr/>
        <p:txBody>
          <a:bodyPr/>
          <a:lstStyle/>
          <a:p>
            <a:fld id="{50C1CB04-2BE3-4164-84E0-A56E2E41F695}" type="slidenum">
              <a:rPr lang="pt-BR" smtClean="0"/>
              <a:t>14</a:t>
            </a:fld>
            <a:endParaRPr lang="pt-BR" dirty="0"/>
          </a:p>
        </p:txBody>
      </p:sp>
      <p:sp>
        <p:nvSpPr>
          <p:cNvPr id="6" name="Title"/>
          <p:cNvSpPr txBox="1">
            <a:spLocks noGrp="1"/>
          </p:cNvSpPr>
          <p:nvPr>
            <p:ph type="title" idx="4294967295"/>
          </p:nvPr>
        </p:nvSpPr>
        <p:spPr>
          <a:xfrm>
            <a:off x="819150" y="524114"/>
            <a:ext cx="8292192" cy="646331"/>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pt-BR" sz="3600" b="1" i="0" u="none" strike="noStrike" kern="1200" cap="none" spc="0" normalizeH="0" baseline="0" noProof="0" dirty="0">
                <a:ln>
                  <a:noFill/>
                </a:ln>
                <a:solidFill>
                  <a:srgbClr val="B71C1C"/>
                </a:solidFill>
                <a:effectLst/>
                <a:uLnTx/>
                <a:uFillTx/>
                <a:latin typeface="Arial Black" panose="020B0A04020102020204" pitchFamily="34" charset="0"/>
                <a:ea typeface="+mn-ea"/>
                <a:cs typeface="+mn-cs"/>
              </a:rPr>
              <a:t>Java 11 | HttpClient</a:t>
            </a:r>
          </a:p>
        </p:txBody>
      </p:sp>
      <p:sp>
        <p:nvSpPr>
          <p:cNvPr id="2" name="Subtitle">
            <a:extLst>
              <a:ext uri="{FF2B5EF4-FFF2-40B4-BE49-F238E27FC236}">
                <a16:creationId xmlns:a16="http://schemas.microsoft.com/office/drawing/2014/main" id="{472F91A8-FBE5-EC4E-59A2-68C51B2496E2}"/>
              </a:ext>
            </a:extLst>
          </p:cNvPr>
          <p:cNvSpPr txBox="1"/>
          <p:nvPr/>
        </p:nvSpPr>
        <p:spPr>
          <a:xfrm>
            <a:off x="476249" y="2024555"/>
            <a:ext cx="8635093" cy="523220"/>
          </a:xfrm>
          <a:prstGeom prst="rect">
            <a:avLst/>
          </a:prstGeom>
          <a:noFill/>
        </p:spPr>
        <p:txBody>
          <a:bodyPr wrap="square" rtlCol="0">
            <a:spAutoFit/>
          </a:bodyPr>
          <a:lstStyle/>
          <a:p>
            <a:r>
              <a:rPr lang="pt-BR" sz="2800" dirty="0">
                <a:solidFill>
                  <a:srgbClr val="E2AE4E"/>
                </a:solidFill>
                <a:latin typeface="Calibri Light" panose="020F0302020204030204" pitchFamily="34" charset="0"/>
              </a:rPr>
              <a:t>O Caminho do Mensageiro</a:t>
            </a:r>
          </a:p>
        </p:txBody>
      </p:sp>
      <p:sp>
        <p:nvSpPr>
          <p:cNvPr id="3" name="Body">
            <a:extLst>
              <a:ext uri="{FF2B5EF4-FFF2-40B4-BE49-F238E27FC236}">
                <a16:creationId xmlns:a16="http://schemas.microsoft.com/office/drawing/2014/main" id="{68422389-157F-F317-E44D-28D6376A18F7}"/>
              </a:ext>
            </a:extLst>
          </p:cNvPr>
          <p:cNvSpPr txBox="1"/>
          <p:nvPr/>
        </p:nvSpPr>
        <p:spPr>
          <a:xfrm>
            <a:off x="476249" y="2800000"/>
            <a:ext cx="8635092" cy="1175706"/>
          </a:xfrm>
          <a:prstGeom prst="rect">
            <a:avLst/>
          </a:prstGeom>
          <a:noFill/>
        </p:spPr>
        <p:txBody>
          <a:bodyPr wrap="square" rtlCol="0">
            <a:spAutoFit/>
          </a:bodyPr>
          <a:lstStyle/>
          <a:p>
            <a:pPr>
              <a:lnSpc>
                <a:spcPct val="120000"/>
              </a:lnSpc>
            </a:pPr>
            <a:r>
              <a:rPr lang="pt-BR" sz="2000" dirty="0">
                <a:solidFill>
                  <a:srgbClr val="121212"/>
                </a:solidFill>
                <a:latin typeface="Calibri Light" panose="020F0302020204030204" pitchFamily="34" charset="0"/>
              </a:rPr>
              <a:t>O </a:t>
            </a:r>
            <a:r>
              <a:rPr lang="pt-BR" sz="2000" i="1" dirty="0">
                <a:solidFill>
                  <a:srgbClr val="121212"/>
                </a:solidFill>
                <a:latin typeface="Calibri Light" panose="020F0302020204030204" pitchFamily="34" charset="0"/>
              </a:rPr>
              <a:t>HttpClient é</a:t>
            </a:r>
            <a:r>
              <a:rPr lang="pt-BR" sz="2000" dirty="0">
                <a:solidFill>
                  <a:srgbClr val="121212"/>
                </a:solidFill>
                <a:latin typeface="Calibri Light" panose="020F0302020204030204" pitchFamily="34" charset="0"/>
              </a:rPr>
              <a:t> o cliente HTTP nativo do Java. Suporta HTTP/2, chamadas síncronas e assíncronas, e elimina a necessidade de bibliotecas externas como </a:t>
            </a:r>
            <a:r>
              <a:rPr lang="pt-BR" sz="2000" i="1" dirty="0">
                <a:solidFill>
                  <a:srgbClr val="121212"/>
                </a:solidFill>
                <a:latin typeface="Calibri Light" panose="020F0302020204030204" pitchFamily="34" charset="0"/>
              </a:rPr>
              <a:t>Apache</a:t>
            </a:r>
            <a:r>
              <a:rPr lang="pt-BR" sz="2000" dirty="0">
                <a:solidFill>
                  <a:srgbClr val="121212"/>
                </a:solidFill>
                <a:latin typeface="Calibri Light" panose="020F0302020204030204" pitchFamily="34" charset="0"/>
              </a:rPr>
              <a:t> </a:t>
            </a:r>
            <a:r>
              <a:rPr lang="pt-BR" sz="2000" i="1" dirty="0">
                <a:solidFill>
                  <a:srgbClr val="121212"/>
                </a:solidFill>
                <a:latin typeface="Calibri Light" panose="020F0302020204030204" pitchFamily="34" charset="0"/>
              </a:rPr>
              <a:t>HttpClient</a:t>
            </a:r>
            <a:r>
              <a:rPr lang="pt-BR" sz="2000" dirty="0">
                <a:solidFill>
                  <a:srgbClr val="121212"/>
                </a:solidFill>
                <a:latin typeface="Calibri Light" panose="020F0302020204030204" pitchFamily="34" charset="0"/>
              </a:rPr>
              <a:t> para chamadas REST simples.</a:t>
            </a:r>
          </a:p>
        </p:txBody>
      </p:sp>
      <p:pic>
        <p:nvPicPr>
          <p:cNvPr id="13" name="Imagem 12" descr="Código Java com exemplo de cliente HTTP que realiza consulta a uma fonte pública, extrai e imprime citações e autores usando expressões regulares. Destaque para tratamento de exceções, uso de padrões regex para extração de dados e mensagens de sucesso ou erro exibidas no console.">
            <a:extLst>
              <a:ext uri="{FF2B5EF4-FFF2-40B4-BE49-F238E27FC236}">
                <a16:creationId xmlns:a16="http://schemas.microsoft.com/office/drawing/2014/main" id="{D2500DAA-0C1E-1F4E-F2E5-1447DC813B3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6249" y="3975707"/>
            <a:ext cx="6657081" cy="7606694"/>
          </a:xfrm>
          <a:prstGeom prst="rect">
            <a:avLst/>
          </a:prstGeom>
        </p:spPr>
      </p:pic>
      <p:pic>
        <p:nvPicPr>
          <p:cNvPr id="15" name="Imagem 14" descr="Captura de tela de terminal mostrando texto com uma resposta extraída da chamada HTTP">
            <a:extLst>
              <a:ext uri="{FF2B5EF4-FFF2-40B4-BE49-F238E27FC236}">
                <a16:creationId xmlns:a16="http://schemas.microsoft.com/office/drawing/2014/main" id="{78AECF6A-AAFF-33E1-D0CC-0C51519EDAC7}"/>
              </a:ext>
            </a:extLst>
          </p:cNvPr>
          <p:cNvPicPr>
            <a:picLocks noChangeAspect="1"/>
          </p:cNvPicPr>
          <p:nvPr/>
        </p:nvPicPr>
        <p:blipFill>
          <a:blip r:embed="rId3"/>
          <a:stretch>
            <a:fillRect/>
          </a:stretch>
        </p:blipFill>
        <p:spPr>
          <a:xfrm>
            <a:off x="548249" y="11582401"/>
            <a:ext cx="8730381" cy="271668"/>
          </a:xfrm>
          <a:prstGeom prst="rect">
            <a:avLst/>
          </a:prstGeom>
          <a:ln w="38100">
            <a:solidFill>
              <a:srgbClr val="BDBDBD"/>
            </a:solid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AccentBar">
            <a:extLst>
              <a:ext uri="{C183D7F6-B498-43B3-948B-1728B52AA6E4}">
                <adec:decorative xmlns:adec="http://schemas.microsoft.com/office/drawing/2017/decorative" val="1"/>
              </a:ext>
            </a:extLst>
          </p:cNvPr>
          <p:cNvSpPr/>
          <p:nvPr/>
        </p:nvSpPr>
        <p:spPr>
          <a:xfrm>
            <a:off x="476249" y="0"/>
            <a:ext cx="72000" cy="1946064"/>
          </a:xfrm>
          <a:prstGeom prst="rect">
            <a:avLst/>
          </a:prstGeom>
          <a:gradFill flip="none" rotWithShape="1">
            <a:gsLst>
              <a:gs pos="0">
                <a:srgbClr val="E2AE4E"/>
              </a:gs>
              <a:gs pos="60000">
                <a:srgbClr val="B71C1C"/>
              </a:gs>
              <a:gs pos="100000">
                <a:srgbClr val="121212"/>
              </a:gs>
            </a:gsLst>
            <a:lin ang="5400000" scaled="1"/>
            <a:tileRect/>
          </a:gradFill>
          <a:ln>
            <a:noFill/>
          </a:ln>
        </p:spPr>
        <p:txBody>
          <a:bodyPr rtlCol="0" anchor="ctr"/>
          <a:lstStyle/>
          <a:p>
            <a:pPr algn="ctr"/>
            <a:endParaRPr lang="pt-BR"/>
          </a:p>
        </p:txBody>
      </p:sp>
      <p:sp>
        <p:nvSpPr>
          <p:cNvPr id="5" name="Footer">
            <a:extLst>
              <a:ext uri="{C183D7F6-B498-43B3-948B-1728B52AA6E4}">
                <adec:decorative xmlns:adec="http://schemas.microsoft.com/office/drawing/2017/decorative" val="1"/>
              </a:ext>
            </a:extLst>
          </p:cNvPr>
          <p:cNvSpPr>
            <a:spLocks noGrp="1"/>
          </p:cNvSpPr>
          <p:nvPr>
            <p:ph type="ftr" sz="quarter" idx="11"/>
          </p:nvPr>
        </p:nvSpPr>
        <p:spPr/>
        <p:txBody>
          <a:bodyPr/>
          <a:lstStyle/>
          <a:p>
            <a:r>
              <a:rPr lang="pt-BR" dirty="0">
                <a:solidFill>
                  <a:srgbClr val="BDBDBD"/>
                </a:solidFill>
              </a:rPr>
              <a:t>JAVA BUSHIDŌ</a:t>
            </a:r>
          </a:p>
        </p:txBody>
      </p:sp>
      <p:sp>
        <p:nvSpPr>
          <p:cNvPr id="10" name="SlideNum">
            <a:extLst>
              <a:ext uri="{C183D7F6-B498-43B3-948B-1728B52AA6E4}">
                <adec:decorative xmlns:adec="http://schemas.microsoft.com/office/drawing/2017/decorative" val="1"/>
              </a:ext>
            </a:extLst>
          </p:cNvPr>
          <p:cNvSpPr>
            <a:spLocks noGrp="1"/>
          </p:cNvSpPr>
          <p:nvPr>
            <p:ph type="sldNum" sz="quarter" idx="12"/>
          </p:nvPr>
        </p:nvSpPr>
        <p:spPr/>
        <p:txBody>
          <a:bodyPr/>
          <a:lstStyle/>
          <a:p>
            <a:fld id="{50C1CB04-2BE3-4164-84E0-A56E2E41F695}" type="slidenum">
              <a:rPr lang="pt-BR" smtClean="0"/>
              <a:t>15</a:t>
            </a:fld>
            <a:endParaRPr lang="pt-BR" dirty="0"/>
          </a:p>
        </p:txBody>
      </p:sp>
      <p:sp>
        <p:nvSpPr>
          <p:cNvPr id="6" name="Title"/>
          <p:cNvSpPr txBox="1">
            <a:spLocks noGrp="1"/>
          </p:cNvSpPr>
          <p:nvPr>
            <p:ph type="title" idx="4294967295"/>
          </p:nvPr>
        </p:nvSpPr>
        <p:spPr>
          <a:xfrm>
            <a:off x="819150" y="524114"/>
            <a:ext cx="8292192" cy="646331"/>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pt-BR" sz="3600" b="1" i="0" u="none" strike="noStrike" kern="1200" cap="none" spc="0" normalizeH="0" baseline="0" noProof="0" dirty="0">
                <a:ln>
                  <a:noFill/>
                </a:ln>
                <a:solidFill>
                  <a:srgbClr val="B71C1C"/>
                </a:solidFill>
                <a:effectLst/>
                <a:uLnTx/>
                <a:uFillTx/>
                <a:latin typeface="Arial Black" panose="020B0A04020102020204" pitchFamily="34" charset="0"/>
                <a:ea typeface="+mn-ea"/>
                <a:cs typeface="+mn-cs"/>
              </a:rPr>
              <a:t>Java 11 | Melhorias em String</a:t>
            </a:r>
          </a:p>
        </p:txBody>
      </p:sp>
      <p:sp>
        <p:nvSpPr>
          <p:cNvPr id="3" name="Subtitle">
            <a:extLst>
              <a:ext uri="{FF2B5EF4-FFF2-40B4-BE49-F238E27FC236}">
                <a16:creationId xmlns:a16="http://schemas.microsoft.com/office/drawing/2014/main" id="{3B5F77D0-3430-3F8D-23F4-68E5D3497F39}"/>
              </a:ext>
            </a:extLst>
          </p:cNvPr>
          <p:cNvSpPr txBox="1"/>
          <p:nvPr/>
        </p:nvSpPr>
        <p:spPr>
          <a:xfrm>
            <a:off x="476249" y="2024555"/>
            <a:ext cx="8635093" cy="523220"/>
          </a:xfrm>
          <a:prstGeom prst="rect">
            <a:avLst/>
          </a:prstGeom>
          <a:noFill/>
        </p:spPr>
        <p:txBody>
          <a:bodyPr wrap="square" rtlCol="0">
            <a:spAutoFit/>
          </a:bodyPr>
          <a:lstStyle/>
          <a:p>
            <a:r>
              <a:rPr lang="pt-BR" sz="2800" dirty="0">
                <a:solidFill>
                  <a:srgbClr val="E2AE4E"/>
                </a:solidFill>
                <a:latin typeface="Calibri Light" panose="020F0302020204030204" pitchFamily="34" charset="0"/>
              </a:rPr>
              <a:t>A Arte da Palavra Precisa</a:t>
            </a:r>
          </a:p>
        </p:txBody>
      </p:sp>
      <p:sp>
        <p:nvSpPr>
          <p:cNvPr id="2" name="Body">
            <a:extLst>
              <a:ext uri="{FF2B5EF4-FFF2-40B4-BE49-F238E27FC236}">
                <a16:creationId xmlns:a16="http://schemas.microsoft.com/office/drawing/2014/main" id="{C4C14587-73DB-3682-0DAB-5731B566773A}"/>
              </a:ext>
            </a:extLst>
          </p:cNvPr>
          <p:cNvSpPr txBox="1"/>
          <p:nvPr/>
        </p:nvSpPr>
        <p:spPr>
          <a:xfrm>
            <a:off x="476249" y="2800000"/>
            <a:ext cx="8635092" cy="1175706"/>
          </a:xfrm>
          <a:prstGeom prst="rect">
            <a:avLst/>
          </a:prstGeom>
          <a:noFill/>
        </p:spPr>
        <p:txBody>
          <a:bodyPr wrap="square" rtlCol="0">
            <a:spAutoFit/>
          </a:bodyPr>
          <a:lstStyle/>
          <a:p>
            <a:pPr>
              <a:lnSpc>
                <a:spcPct val="120000"/>
              </a:lnSpc>
            </a:pPr>
            <a:r>
              <a:rPr lang="pt-BR" sz="2000" dirty="0">
                <a:solidFill>
                  <a:srgbClr val="121212"/>
                </a:solidFill>
                <a:latin typeface="Calibri Light" panose="020F0302020204030204" pitchFamily="34" charset="0"/>
              </a:rPr>
              <a:t>Novos métodos como </a:t>
            </a:r>
            <a:r>
              <a:rPr lang="pt-BR" sz="2000" i="1" dirty="0" err="1">
                <a:solidFill>
                  <a:srgbClr val="121212"/>
                </a:solidFill>
                <a:latin typeface="Calibri Light" panose="020F0302020204030204" pitchFamily="34" charset="0"/>
              </a:rPr>
              <a:t>isBlank</a:t>
            </a:r>
            <a:r>
              <a:rPr lang="pt-BR" sz="2000" i="1" dirty="0">
                <a:solidFill>
                  <a:srgbClr val="121212"/>
                </a:solidFill>
                <a:latin typeface="Calibri Light" panose="020F0302020204030204" pitchFamily="34" charset="0"/>
              </a:rPr>
              <a:t>()</a:t>
            </a:r>
            <a:r>
              <a:rPr lang="pt-BR" sz="2000" dirty="0">
                <a:solidFill>
                  <a:srgbClr val="121212"/>
                </a:solidFill>
                <a:latin typeface="Calibri Light" panose="020F0302020204030204" pitchFamily="34" charset="0"/>
              </a:rPr>
              <a:t>, </a:t>
            </a:r>
            <a:r>
              <a:rPr lang="pt-BR" sz="2000" i="1" dirty="0">
                <a:solidFill>
                  <a:srgbClr val="121212"/>
                </a:solidFill>
                <a:latin typeface="Calibri Light" panose="020F0302020204030204" pitchFamily="34" charset="0"/>
              </a:rPr>
              <a:t>strip()</a:t>
            </a:r>
            <a:r>
              <a:rPr lang="pt-BR" sz="2000" dirty="0">
                <a:solidFill>
                  <a:srgbClr val="121212"/>
                </a:solidFill>
                <a:latin typeface="Calibri Light" panose="020F0302020204030204" pitchFamily="34" charset="0"/>
              </a:rPr>
              <a:t>, </a:t>
            </a:r>
            <a:r>
              <a:rPr lang="pt-BR" sz="2000" i="1" dirty="0" err="1">
                <a:solidFill>
                  <a:srgbClr val="121212"/>
                </a:solidFill>
                <a:latin typeface="Calibri Light" panose="020F0302020204030204" pitchFamily="34" charset="0"/>
              </a:rPr>
              <a:t>lines</a:t>
            </a:r>
            <a:r>
              <a:rPr lang="pt-BR" sz="2000" i="1" dirty="0">
                <a:solidFill>
                  <a:srgbClr val="121212"/>
                </a:solidFill>
                <a:latin typeface="Calibri Light" panose="020F0302020204030204" pitchFamily="34" charset="0"/>
              </a:rPr>
              <a:t>()</a:t>
            </a:r>
            <a:r>
              <a:rPr lang="pt-BR" sz="2000" dirty="0">
                <a:solidFill>
                  <a:srgbClr val="121212"/>
                </a:solidFill>
                <a:latin typeface="Calibri Light" panose="020F0302020204030204" pitchFamily="34" charset="0"/>
              </a:rPr>
              <a:t> e </a:t>
            </a:r>
            <a:r>
              <a:rPr lang="pt-BR" sz="2000" i="1" dirty="0" err="1">
                <a:solidFill>
                  <a:srgbClr val="121212"/>
                </a:solidFill>
                <a:latin typeface="Calibri Light" panose="020F0302020204030204" pitchFamily="34" charset="0"/>
              </a:rPr>
              <a:t>repeat</a:t>
            </a:r>
            <a:r>
              <a:rPr lang="pt-BR" sz="2000" i="1" dirty="0">
                <a:solidFill>
                  <a:srgbClr val="121212"/>
                </a:solidFill>
                <a:latin typeface="Calibri Light" panose="020F0302020204030204" pitchFamily="34" charset="0"/>
              </a:rPr>
              <a:t>()</a:t>
            </a:r>
            <a:r>
              <a:rPr lang="pt-BR" sz="2000" dirty="0">
                <a:solidFill>
                  <a:srgbClr val="121212"/>
                </a:solidFill>
                <a:latin typeface="Calibri Light" panose="020F0302020204030204" pitchFamily="34" charset="0"/>
              </a:rPr>
              <a:t> simplificam operações comuns com </a:t>
            </a:r>
            <a:r>
              <a:rPr lang="pt-BR" sz="2000" i="1" dirty="0">
                <a:solidFill>
                  <a:srgbClr val="121212"/>
                </a:solidFill>
                <a:latin typeface="Calibri Light" panose="020F0302020204030204" pitchFamily="34" charset="0"/>
              </a:rPr>
              <a:t>strings</a:t>
            </a:r>
            <a:r>
              <a:rPr lang="pt-BR" sz="2000" dirty="0">
                <a:solidFill>
                  <a:srgbClr val="121212"/>
                </a:solidFill>
                <a:latin typeface="Calibri Light" panose="020F0302020204030204" pitchFamily="34" charset="0"/>
              </a:rPr>
              <a:t>. São pequenas adições que eliminam dezenas de funções utilitárias espalhadas pelo projeto.</a:t>
            </a:r>
          </a:p>
        </p:txBody>
      </p:sp>
      <p:pic>
        <p:nvPicPr>
          <p:cNvPr id="12" name="Imagem 11" descr="Código Java exibindo manipulação de strings com poema do Bushidô e validação de juramento. Destaques incluem uso de comentários em verde, strings com quebras de linha, método repeat para repetição de caracteres e saída formatada com símbolos e texto.">
            <a:extLst>
              <a:ext uri="{FF2B5EF4-FFF2-40B4-BE49-F238E27FC236}">
                <a16:creationId xmlns:a16="http://schemas.microsoft.com/office/drawing/2014/main" id="{8EE6EB12-60B9-46B2-6526-E30CEF9667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6249" y="4052132"/>
            <a:ext cx="8635092" cy="6450922"/>
          </a:xfrm>
          <a:prstGeom prst="rect">
            <a:avLst/>
          </a:prstGeom>
        </p:spPr>
      </p:pic>
      <p:pic>
        <p:nvPicPr>
          <p:cNvPr id="14" name="Imagem 13" descr="Captura de tela de terminal mostrando texto em formato de lista com tópicos sobre juramento válido, ensinamentos do Bushidô e treino de repetição. Elementos incluem ícones de livro e espadas, destacando conceitos como &quot;Corte sem esforço&quot;, &quot;Mente como água&quot; e &quot;Aço afiado&quot;.">
            <a:extLst>
              <a:ext uri="{FF2B5EF4-FFF2-40B4-BE49-F238E27FC236}">
                <a16:creationId xmlns:a16="http://schemas.microsoft.com/office/drawing/2014/main" id="{9CEC0EF3-4213-1189-B824-32B1F3EBB34C}"/>
              </a:ext>
            </a:extLst>
          </p:cNvPr>
          <p:cNvPicPr>
            <a:picLocks noChangeAspect="1"/>
          </p:cNvPicPr>
          <p:nvPr/>
        </p:nvPicPr>
        <p:blipFill>
          <a:blip r:embed="rId3"/>
          <a:stretch>
            <a:fillRect/>
          </a:stretch>
        </p:blipFill>
        <p:spPr>
          <a:xfrm>
            <a:off x="6557471" y="9568945"/>
            <a:ext cx="2553870" cy="2219818"/>
          </a:xfrm>
          <a:prstGeom prst="rect">
            <a:avLst/>
          </a:prstGeom>
          <a:ln w="38100">
            <a:solidFill>
              <a:srgbClr val="BDBDBD"/>
            </a:solid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AccentBar">
            <a:extLst>
              <a:ext uri="{C183D7F6-B498-43B3-948B-1728B52AA6E4}">
                <adec:decorative xmlns:adec="http://schemas.microsoft.com/office/drawing/2017/decorative" val="1"/>
              </a:ext>
            </a:extLst>
          </p:cNvPr>
          <p:cNvSpPr/>
          <p:nvPr/>
        </p:nvSpPr>
        <p:spPr>
          <a:xfrm>
            <a:off x="476249" y="0"/>
            <a:ext cx="72000" cy="1946064"/>
          </a:xfrm>
          <a:prstGeom prst="rect">
            <a:avLst/>
          </a:prstGeom>
          <a:gradFill flip="none" rotWithShape="1">
            <a:gsLst>
              <a:gs pos="0">
                <a:srgbClr val="E2AE4E"/>
              </a:gs>
              <a:gs pos="60000">
                <a:srgbClr val="B71C1C"/>
              </a:gs>
              <a:gs pos="100000">
                <a:srgbClr val="121212"/>
              </a:gs>
            </a:gsLst>
            <a:lin ang="5400000" scaled="1"/>
            <a:tileRect/>
          </a:gradFill>
          <a:ln>
            <a:noFill/>
          </a:ln>
        </p:spPr>
        <p:txBody>
          <a:bodyPr rtlCol="0" anchor="ctr"/>
          <a:lstStyle/>
          <a:p>
            <a:pPr algn="ctr"/>
            <a:endParaRPr lang="pt-BR"/>
          </a:p>
        </p:txBody>
      </p:sp>
      <p:sp>
        <p:nvSpPr>
          <p:cNvPr id="5" name="Footer">
            <a:extLst>
              <a:ext uri="{C183D7F6-B498-43B3-948B-1728B52AA6E4}">
                <adec:decorative xmlns:adec="http://schemas.microsoft.com/office/drawing/2017/decorative" val="1"/>
              </a:ext>
            </a:extLst>
          </p:cNvPr>
          <p:cNvSpPr>
            <a:spLocks noGrp="1"/>
          </p:cNvSpPr>
          <p:nvPr>
            <p:ph type="ftr" sz="quarter" idx="11"/>
          </p:nvPr>
        </p:nvSpPr>
        <p:spPr/>
        <p:txBody>
          <a:bodyPr/>
          <a:lstStyle/>
          <a:p>
            <a:r>
              <a:rPr lang="pt-BR" dirty="0">
                <a:solidFill>
                  <a:srgbClr val="BDBDBD"/>
                </a:solidFill>
              </a:rPr>
              <a:t>JAVA BUSHIDŌ</a:t>
            </a:r>
          </a:p>
        </p:txBody>
      </p:sp>
      <p:sp>
        <p:nvSpPr>
          <p:cNvPr id="10" name="SlideNum">
            <a:extLst>
              <a:ext uri="{C183D7F6-B498-43B3-948B-1728B52AA6E4}">
                <adec:decorative xmlns:adec="http://schemas.microsoft.com/office/drawing/2017/decorative" val="1"/>
              </a:ext>
            </a:extLst>
          </p:cNvPr>
          <p:cNvSpPr>
            <a:spLocks noGrp="1"/>
          </p:cNvSpPr>
          <p:nvPr>
            <p:ph type="sldNum" sz="quarter" idx="12"/>
          </p:nvPr>
        </p:nvSpPr>
        <p:spPr/>
        <p:txBody>
          <a:bodyPr/>
          <a:lstStyle/>
          <a:p>
            <a:fld id="{50C1CB04-2BE3-4164-84E0-A56E2E41F695}" type="slidenum">
              <a:rPr lang="pt-BR" smtClean="0"/>
              <a:t>16</a:t>
            </a:fld>
            <a:endParaRPr lang="pt-BR" dirty="0"/>
          </a:p>
        </p:txBody>
      </p:sp>
      <p:sp>
        <p:nvSpPr>
          <p:cNvPr id="6" name="Title"/>
          <p:cNvSpPr txBox="1">
            <a:spLocks noGrp="1"/>
          </p:cNvSpPr>
          <p:nvPr>
            <p:ph type="title" idx="4294967295"/>
          </p:nvPr>
        </p:nvSpPr>
        <p:spPr>
          <a:xfrm>
            <a:off x="819150" y="524114"/>
            <a:ext cx="8292192" cy="1200329"/>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pt-BR" sz="3600" b="1" i="0" u="none" strike="noStrike" kern="1200" cap="none" spc="0" normalizeH="0" baseline="0" noProof="0" dirty="0">
                <a:ln>
                  <a:noFill/>
                </a:ln>
                <a:solidFill>
                  <a:srgbClr val="B71C1C"/>
                </a:solidFill>
                <a:effectLst/>
                <a:uLnTx/>
                <a:uFillTx/>
                <a:latin typeface="Arial Black" panose="020B0A04020102020204" pitchFamily="34" charset="0"/>
                <a:ea typeface="+mn-ea"/>
                <a:cs typeface="+mn-cs"/>
              </a:rPr>
              <a:t>Java 11 | Execução direta de arquivos .</a:t>
            </a:r>
            <a:r>
              <a:rPr kumimoji="0" lang="pt-BR" sz="3600" b="1" i="0" u="none" strike="noStrike" kern="1200" cap="none" spc="0" normalizeH="0" baseline="0" noProof="0" dirty="0" err="1">
                <a:ln>
                  <a:noFill/>
                </a:ln>
                <a:solidFill>
                  <a:srgbClr val="B71C1C"/>
                </a:solidFill>
                <a:effectLst/>
                <a:uLnTx/>
                <a:uFillTx/>
                <a:latin typeface="Arial Black" panose="020B0A04020102020204" pitchFamily="34" charset="0"/>
                <a:ea typeface="+mn-ea"/>
                <a:cs typeface="+mn-cs"/>
              </a:rPr>
              <a:t>java</a:t>
            </a:r>
            <a:endParaRPr kumimoji="0" lang="pt-BR" sz="3600" b="1" i="0" u="none" strike="noStrike" kern="1200" cap="none" spc="0" normalizeH="0" baseline="0" noProof="0" dirty="0">
              <a:ln>
                <a:noFill/>
              </a:ln>
              <a:solidFill>
                <a:srgbClr val="B71C1C"/>
              </a:solidFill>
              <a:effectLst/>
              <a:uLnTx/>
              <a:uFillTx/>
              <a:latin typeface="Arial Black" panose="020B0A04020102020204" pitchFamily="34" charset="0"/>
              <a:ea typeface="+mn-ea"/>
              <a:cs typeface="+mn-cs"/>
            </a:endParaRPr>
          </a:p>
        </p:txBody>
      </p:sp>
      <p:sp>
        <p:nvSpPr>
          <p:cNvPr id="2" name="Subtitle">
            <a:extLst>
              <a:ext uri="{FF2B5EF4-FFF2-40B4-BE49-F238E27FC236}">
                <a16:creationId xmlns:a16="http://schemas.microsoft.com/office/drawing/2014/main" id="{0B4885CE-A37E-29E3-C211-F3B2EFB03663}"/>
              </a:ext>
            </a:extLst>
          </p:cNvPr>
          <p:cNvSpPr txBox="1"/>
          <p:nvPr/>
        </p:nvSpPr>
        <p:spPr>
          <a:xfrm>
            <a:off x="476249" y="2024555"/>
            <a:ext cx="8635093" cy="523220"/>
          </a:xfrm>
          <a:prstGeom prst="rect">
            <a:avLst/>
          </a:prstGeom>
          <a:noFill/>
        </p:spPr>
        <p:txBody>
          <a:bodyPr wrap="square" rtlCol="0">
            <a:spAutoFit/>
          </a:bodyPr>
          <a:lstStyle/>
          <a:p>
            <a:r>
              <a:rPr lang="pt-BR" sz="2800" dirty="0">
                <a:solidFill>
                  <a:srgbClr val="E2AE4E"/>
                </a:solidFill>
                <a:latin typeface="Calibri Light" panose="020F0302020204030204" pitchFamily="34" charset="0"/>
              </a:rPr>
              <a:t>A Precisão de um Único Golpe</a:t>
            </a:r>
          </a:p>
        </p:txBody>
      </p:sp>
      <p:sp>
        <p:nvSpPr>
          <p:cNvPr id="3" name="Body">
            <a:extLst>
              <a:ext uri="{FF2B5EF4-FFF2-40B4-BE49-F238E27FC236}">
                <a16:creationId xmlns:a16="http://schemas.microsoft.com/office/drawing/2014/main" id="{DB22B649-CB2A-3D95-454B-AC5BB2AB6F82}"/>
              </a:ext>
            </a:extLst>
          </p:cNvPr>
          <p:cNvSpPr txBox="1"/>
          <p:nvPr/>
        </p:nvSpPr>
        <p:spPr>
          <a:xfrm>
            <a:off x="476249" y="2800000"/>
            <a:ext cx="8635092" cy="1914370"/>
          </a:xfrm>
          <a:prstGeom prst="rect">
            <a:avLst/>
          </a:prstGeom>
          <a:noFill/>
        </p:spPr>
        <p:txBody>
          <a:bodyPr wrap="square" rtlCol="0">
            <a:spAutoFit/>
          </a:bodyPr>
          <a:lstStyle/>
          <a:p>
            <a:pPr>
              <a:lnSpc>
                <a:spcPct val="120000"/>
              </a:lnSpc>
            </a:pPr>
            <a:r>
              <a:rPr lang="pt-BR" sz="2000" dirty="0">
                <a:solidFill>
                  <a:srgbClr val="121212"/>
                </a:solidFill>
                <a:latin typeface="Calibri Light" panose="020F0302020204030204" pitchFamily="34" charset="0"/>
              </a:rPr>
              <a:t>O Java 11 trouxe uma melhoria simples, mas extremamente prática para o dia a dia: agora é possível executar um arquivo .</a:t>
            </a:r>
            <a:r>
              <a:rPr lang="pt-BR" sz="2000" dirty="0" err="1">
                <a:solidFill>
                  <a:srgbClr val="121212"/>
                </a:solidFill>
                <a:latin typeface="Calibri Light" panose="020F0302020204030204" pitchFamily="34" charset="0"/>
              </a:rPr>
              <a:t>java</a:t>
            </a:r>
            <a:r>
              <a:rPr lang="pt-BR" sz="2000" dirty="0">
                <a:solidFill>
                  <a:srgbClr val="121212"/>
                </a:solidFill>
                <a:latin typeface="Calibri Light" panose="020F0302020204030204" pitchFamily="34" charset="0"/>
              </a:rPr>
              <a:t> diretamente, sem precisar chamar o </a:t>
            </a:r>
            <a:r>
              <a:rPr lang="pt-BR" sz="2000" i="1" dirty="0" err="1">
                <a:solidFill>
                  <a:srgbClr val="121212"/>
                </a:solidFill>
                <a:latin typeface="Calibri Light" panose="020F0302020204030204" pitchFamily="34" charset="0"/>
              </a:rPr>
              <a:t>javac</a:t>
            </a:r>
            <a:r>
              <a:rPr lang="pt-BR" sz="2000" dirty="0">
                <a:solidFill>
                  <a:srgbClr val="121212"/>
                </a:solidFill>
                <a:latin typeface="Calibri Light" panose="020F0302020204030204" pitchFamily="34" charset="0"/>
              </a:rPr>
              <a:t> manualmente. Essa funcionalidade aproxima o Java de linguagens usadas para scripts rápidos, como Python, e facilita experimentação, prototipação e ensino.</a:t>
            </a:r>
          </a:p>
        </p:txBody>
      </p:sp>
      <p:pic>
        <p:nvPicPr>
          <p:cNvPr id="15" name="Imagem 14" descr="Código-fonte Java exibindo classe pública CompilaExecuta com método main que imprime três mensagens sobre execução direta de arquivos .java na versão Java 11. Comentários indicam comandos para executar código via CMD, PowerShell e bash, destacando facilidade de uso sem compilação manual.">
            <a:extLst>
              <a:ext uri="{FF2B5EF4-FFF2-40B4-BE49-F238E27FC236}">
                <a16:creationId xmlns:a16="http://schemas.microsoft.com/office/drawing/2014/main" id="{1EC6B9C7-EEA9-8C77-B710-EE6CBC4CA75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6249" y="4966595"/>
            <a:ext cx="8635092" cy="5955673"/>
          </a:xfrm>
          <a:prstGeom prst="rect">
            <a:avLst/>
          </a:prstGeom>
        </p:spPr>
      </p:pic>
      <p:pic>
        <p:nvPicPr>
          <p:cNvPr id="11" name="Imagem 10" descr="Captura de tela de terminal mostrando execução de programa Java que imprime mensagens de boas-vindas e instruções sobre uso do comando java. Texto destaca versões Java 11 e foco em prática rápida.">
            <a:extLst>
              <a:ext uri="{FF2B5EF4-FFF2-40B4-BE49-F238E27FC236}">
                <a16:creationId xmlns:a16="http://schemas.microsoft.com/office/drawing/2014/main" id="{F974136C-65C5-2D4E-DE5A-60E0983D7CC1}"/>
              </a:ext>
            </a:extLst>
          </p:cNvPr>
          <p:cNvPicPr>
            <a:picLocks noChangeAspect="1"/>
          </p:cNvPicPr>
          <p:nvPr/>
        </p:nvPicPr>
        <p:blipFill>
          <a:blip r:embed="rId3"/>
          <a:stretch>
            <a:fillRect/>
          </a:stretch>
        </p:blipFill>
        <p:spPr>
          <a:xfrm>
            <a:off x="356658" y="10726246"/>
            <a:ext cx="8887884" cy="856664"/>
          </a:xfrm>
          <a:prstGeom prst="rect">
            <a:avLst/>
          </a:prstGeom>
          <a:ln w="38100">
            <a:solidFill>
              <a:srgbClr val="BDBDBD"/>
            </a:solid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gRect">
            <a:extLst>
              <a:ext uri="{C183D7F6-B498-43B3-948B-1728B52AA6E4}">
                <adec:decorative xmlns:adec="http://schemas.microsoft.com/office/drawing/2017/decorative" val="1"/>
              </a:ext>
            </a:extLst>
          </p:cNvPr>
          <p:cNvSpPr/>
          <p:nvPr/>
        </p:nvSpPr>
        <p:spPr>
          <a:xfrm>
            <a:off x="0" y="0"/>
            <a:ext cx="9601200" cy="12801600"/>
          </a:xfrm>
          <a:prstGeom prst="rect">
            <a:avLst/>
          </a:prstGeom>
          <a:solidFill>
            <a:srgbClr val="121212"/>
          </a:solidFill>
          <a:ln>
            <a:noFill/>
          </a:ln>
        </p:spPr>
        <p:txBody>
          <a:bodyPr rtlCol="0" anchor="ctr"/>
          <a:lstStyle/>
          <a:p>
            <a:pPr algn="ctr"/>
            <a:endParaRPr lang="pt-BR"/>
          </a:p>
        </p:txBody>
      </p:sp>
      <p:sp>
        <p:nvSpPr>
          <p:cNvPr id="5" name="Number" descr="Arco IV"/>
          <p:cNvSpPr txBox="1"/>
          <p:nvPr/>
        </p:nvSpPr>
        <p:spPr>
          <a:xfrm>
            <a:off x="700000" y="200000"/>
            <a:ext cx="8200000" cy="6447919"/>
          </a:xfrm>
          <a:prstGeom prst="rect">
            <a:avLst/>
          </a:prstGeom>
          <a:noFill/>
        </p:spPr>
        <p:txBody>
          <a:bodyPr wrap="square" rtlCol="0">
            <a:spAutoFit/>
          </a:bodyPr>
          <a:lstStyle/>
          <a:p>
            <a:pPr algn="ctr"/>
            <a:r>
              <a:rPr lang="pt-BR" sz="41300" dirty="0">
                <a:ln w="12700">
                  <a:solidFill>
                    <a:srgbClr val="B71C1C"/>
                  </a:solidFill>
                </a:ln>
                <a:noFill/>
                <a:latin typeface="Arial Black" panose="020B0A04020102020204" pitchFamily="34" charset="0"/>
              </a:rPr>
              <a:t>IV</a:t>
            </a:r>
          </a:p>
        </p:txBody>
      </p:sp>
      <p:sp>
        <p:nvSpPr>
          <p:cNvPr id="3" name="Title"/>
          <p:cNvSpPr txBox="1">
            <a:spLocks noGrp="1"/>
          </p:cNvSpPr>
          <p:nvPr>
            <p:ph type="title" idx="4294967295"/>
          </p:nvPr>
        </p:nvSpPr>
        <p:spPr>
          <a:xfrm>
            <a:off x="489857" y="6000000"/>
            <a:ext cx="8621485" cy="2585323"/>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pt-BR" sz="5400" b="0" i="0" u="none" strike="noStrike" kern="1200" cap="none" spc="0" normalizeH="0" baseline="0" noProof="0" dirty="0">
                <a:ln>
                  <a:noFill/>
                </a:ln>
                <a:solidFill>
                  <a:srgbClr val="FFFFFF"/>
                </a:solidFill>
                <a:effectLst/>
                <a:uLnTx/>
                <a:uFillTx/>
                <a:latin typeface="Arial Black" panose="020B0A04020102020204" pitchFamily="34" charset="0"/>
                <a:ea typeface="+mn-ea"/>
                <a:cs typeface="+mn-cs"/>
              </a:rPr>
              <a:t>O CÓDIGO</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pt-BR" sz="5400" b="0" i="0" u="none" strike="noStrike" kern="1200" cap="none" spc="0" normalizeH="0" baseline="0" noProof="0" dirty="0">
                <a:ln>
                  <a:noFill/>
                </a:ln>
                <a:solidFill>
                  <a:srgbClr val="FFFFFF"/>
                </a:solidFill>
                <a:effectLst/>
                <a:uLnTx/>
                <a:uFillTx/>
                <a:latin typeface="Arial Black" panose="020B0A04020102020204" pitchFamily="34" charset="0"/>
                <a:ea typeface="+mn-ea"/>
                <a:cs typeface="+mn-cs"/>
              </a:rPr>
              <a:t>DO MESTRE</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pt-BR" sz="5400" b="0" i="0" u="none" strike="noStrike" kern="1200" cap="none" spc="0" normalizeH="0" baseline="0" noProof="0" dirty="0">
                <a:ln>
                  <a:noFill/>
                </a:ln>
                <a:solidFill>
                  <a:srgbClr val="FFFFFF"/>
                </a:solidFill>
                <a:effectLst/>
                <a:uLnTx/>
                <a:uFillTx/>
                <a:latin typeface="Arial Black" panose="020B0A04020102020204" pitchFamily="34" charset="0"/>
                <a:ea typeface="+mn-ea"/>
                <a:cs typeface="+mn-cs"/>
              </a:rPr>
              <a:t>JAVA 17</a:t>
            </a:r>
          </a:p>
        </p:txBody>
      </p:sp>
      <p:sp>
        <p:nvSpPr>
          <p:cNvPr id="4" name="GradLine">
            <a:extLst>
              <a:ext uri="{C183D7F6-B498-43B3-948B-1728B52AA6E4}">
                <adec:decorative xmlns:adec="http://schemas.microsoft.com/office/drawing/2017/decorative" val="1"/>
              </a:ext>
            </a:extLst>
          </p:cNvPr>
          <p:cNvSpPr/>
          <p:nvPr/>
        </p:nvSpPr>
        <p:spPr>
          <a:xfrm rot="5400000">
            <a:off x="4757736" y="5600700"/>
            <a:ext cx="182880" cy="7200900"/>
          </a:xfrm>
          <a:prstGeom prst="rect">
            <a:avLst/>
          </a:prstGeom>
          <a:gradFill flip="none" rotWithShape="1">
            <a:gsLst>
              <a:gs pos="0">
                <a:srgbClr val="E2AE4E"/>
              </a:gs>
              <a:gs pos="60000">
                <a:srgbClr val="B71C1C"/>
              </a:gs>
              <a:gs pos="100000">
                <a:srgbClr val="121212"/>
              </a:gs>
            </a:gsLst>
            <a:lin ang="5400000" scaled="1"/>
            <a:tileRect/>
          </a:gradFill>
          <a:ln>
            <a:noFill/>
          </a:ln>
        </p:spPr>
        <p:txBody>
          <a:bodyPr rtlCol="0" anchor="ctr"/>
          <a:lstStyle/>
          <a:p>
            <a:pPr algn="ctr"/>
            <a:endParaRPr lang="pt-BR"/>
          </a:p>
        </p:txBody>
      </p:sp>
      <p:sp>
        <p:nvSpPr>
          <p:cNvPr id="7" name="SlideNum">
            <a:extLst>
              <a:ext uri="{C183D7F6-B498-43B3-948B-1728B52AA6E4}">
                <adec:decorative xmlns:adec="http://schemas.microsoft.com/office/drawing/2017/decorative" val="1"/>
              </a:ext>
            </a:extLst>
          </p:cNvPr>
          <p:cNvSpPr>
            <a:spLocks noGrp="1"/>
          </p:cNvSpPr>
          <p:nvPr>
            <p:ph type="sldNum" sz="quarter" idx="12"/>
          </p:nvPr>
        </p:nvSpPr>
        <p:spPr/>
        <p:txBody>
          <a:bodyPr/>
          <a:lstStyle/>
          <a:p>
            <a:fld id="{50C1CB04-2BE3-4164-84E0-A56E2E41F695}" type="slidenum">
              <a:rPr lang="pt-BR" smtClean="0">
                <a:solidFill>
                  <a:srgbClr val="BDBDBD"/>
                </a:solidFill>
              </a:rPr>
              <a:t>17</a:t>
            </a:fld>
            <a:endParaRPr lang="pt-BR" dirty="0">
              <a:solidFill>
                <a:srgbClr val="BDBDBD"/>
              </a:solidFill>
            </a:endParaRPr>
          </a:p>
        </p:txBody>
      </p:sp>
      <p:sp>
        <p:nvSpPr>
          <p:cNvPr id="8" name="Footer">
            <a:extLst>
              <a:ext uri="{C183D7F6-B498-43B3-948B-1728B52AA6E4}">
                <adec:decorative xmlns:adec="http://schemas.microsoft.com/office/drawing/2017/decorative" val="1"/>
              </a:ext>
            </a:extLst>
          </p:cNvPr>
          <p:cNvSpPr>
            <a:spLocks noGrp="1"/>
          </p:cNvSpPr>
          <p:nvPr>
            <p:ph type="ftr" sz="quarter" idx="11"/>
          </p:nvPr>
        </p:nvSpPr>
        <p:spPr/>
        <p:txBody>
          <a:bodyPr/>
          <a:lstStyle/>
          <a:p>
            <a:r>
              <a:rPr lang="pt-BR" dirty="0">
                <a:solidFill>
                  <a:srgbClr val="BDBDBD"/>
                </a:solidFill>
              </a:rPr>
              <a:t>JAVA BUSHIDŌ</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FC6BE995-0C80-EB75-54F1-B5D7393D9D47}"/>
              </a:ext>
              <a:ext uri="{C183D7F6-B498-43B3-948B-1728B52AA6E4}">
                <adec:decorative xmlns:adec="http://schemas.microsoft.com/office/drawing/2017/decorative" val="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2781" b="12889"/>
          <a:stretch>
            <a:fillRect/>
          </a:stretch>
        </p:blipFill>
        <p:spPr bwMode="auto">
          <a:xfrm>
            <a:off x="0" y="8518849"/>
            <a:ext cx="9601200" cy="4282751"/>
          </a:xfrm>
          <a:prstGeom prst="rect">
            <a:avLst/>
          </a:prstGeom>
          <a:noFill/>
          <a:extLst>
            <a:ext uri="{909E8E84-426E-40DD-AFC4-6F175D3DCCD1}">
              <a14:hiddenFill xmlns:a14="http://schemas.microsoft.com/office/drawing/2010/main">
                <a:solidFill>
                  <a:srgbClr val="FFFFFF"/>
                </a:solidFill>
              </a14:hiddenFill>
            </a:ext>
          </a:extLst>
        </p:spPr>
      </p:pic>
      <p:sp>
        <p:nvSpPr>
          <p:cNvPr id="6" name="Title"/>
          <p:cNvSpPr txBox="1">
            <a:spLocks noGrp="1"/>
          </p:cNvSpPr>
          <p:nvPr>
            <p:ph type="title" idx="4294967295"/>
          </p:nvPr>
        </p:nvSpPr>
        <p:spPr>
          <a:xfrm>
            <a:off x="819150" y="524114"/>
            <a:ext cx="8292192" cy="646331"/>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pt-BR" sz="3600" b="1" i="0" u="none" strike="noStrike" kern="1200" cap="none" spc="0" normalizeH="0" baseline="0" noProof="0" dirty="0">
                <a:ln>
                  <a:noFill/>
                </a:ln>
                <a:solidFill>
                  <a:srgbClr val="B71C1C"/>
                </a:solidFill>
                <a:effectLst/>
                <a:uLnTx/>
                <a:uFillTx/>
                <a:latin typeface="Arial Black" panose="020B0A04020102020204" pitchFamily="34" charset="0"/>
                <a:ea typeface="+mn-ea"/>
                <a:cs typeface="+mn-cs"/>
              </a:rPr>
              <a:t>Java 17 | Visão Geral</a:t>
            </a:r>
          </a:p>
        </p:txBody>
      </p:sp>
      <p:sp>
        <p:nvSpPr>
          <p:cNvPr id="7" name="Subtitle"/>
          <p:cNvSpPr txBox="1"/>
          <p:nvPr/>
        </p:nvSpPr>
        <p:spPr>
          <a:xfrm>
            <a:off x="476249" y="2024555"/>
            <a:ext cx="8635093" cy="523220"/>
          </a:xfrm>
          <a:prstGeom prst="rect">
            <a:avLst/>
          </a:prstGeom>
          <a:noFill/>
        </p:spPr>
        <p:txBody>
          <a:bodyPr wrap="square" rtlCol="0">
            <a:spAutoFit/>
          </a:bodyPr>
          <a:lstStyle/>
          <a:p>
            <a:r>
              <a:rPr lang="pt-BR" sz="2800" dirty="0">
                <a:solidFill>
                  <a:srgbClr val="E2AE4E"/>
                </a:solidFill>
                <a:latin typeface="Calibri Light" panose="020F0302020204030204" pitchFamily="34" charset="0"/>
              </a:rPr>
              <a:t>Arco IV — O Código do Mestre</a:t>
            </a:r>
          </a:p>
        </p:txBody>
      </p:sp>
      <p:sp>
        <p:nvSpPr>
          <p:cNvPr id="8" name="Body"/>
          <p:cNvSpPr txBox="1"/>
          <p:nvPr/>
        </p:nvSpPr>
        <p:spPr>
          <a:xfrm>
            <a:off x="476249" y="2800000"/>
            <a:ext cx="8635092" cy="5066515"/>
          </a:xfrm>
          <a:prstGeom prst="rect">
            <a:avLst/>
          </a:prstGeom>
          <a:noFill/>
        </p:spPr>
        <p:txBody>
          <a:bodyPr wrap="square" rtlCol="0">
            <a:spAutoFit/>
          </a:bodyPr>
          <a:lstStyle/>
          <a:p>
            <a:pPr>
              <a:lnSpc>
                <a:spcPct val="130000"/>
              </a:lnSpc>
              <a:spcAft>
                <a:spcPts val="800"/>
              </a:spcAft>
            </a:pPr>
            <a:r>
              <a:rPr lang="pt-BR" sz="2000" dirty="0">
                <a:solidFill>
                  <a:srgbClr val="121212"/>
                </a:solidFill>
                <a:latin typeface="Calibri Light" panose="020F0302020204030204" pitchFamily="34" charset="0"/>
              </a:rPr>
              <a:t>O Java 17, lançado em setembro de 2021, é a segunda versão LTS após o Java 8 e trouxe recursos que mudam fundamentalmente a forma de modelar dados e hierarquias em Java. É a versão onde o Java começou a parecer uma linguagem verdadeiramente moderna.</a:t>
            </a:r>
          </a:p>
          <a:p>
            <a:pPr>
              <a:lnSpc>
                <a:spcPct val="130000"/>
              </a:lnSpc>
              <a:spcAft>
                <a:spcPts val="800"/>
              </a:spcAft>
            </a:pPr>
            <a:r>
              <a:rPr lang="pt-BR" sz="2000" dirty="0">
                <a:solidFill>
                  <a:srgbClr val="121212"/>
                </a:solidFill>
                <a:latin typeface="Calibri Light" panose="020F0302020204030204" pitchFamily="34" charset="0"/>
              </a:rPr>
              <a:t>Os três pilares desta versão são </a:t>
            </a:r>
            <a:r>
              <a:rPr lang="pt-BR" sz="2000" i="1" dirty="0">
                <a:solidFill>
                  <a:srgbClr val="121212"/>
                </a:solidFill>
                <a:latin typeface="Calibri Light" panose="020F0302020204030204" pitchFamily="34" charset="0"/>
              </a:rPr>
              <a:t>Records</a:t>
            </a:r>
            <a:r>
              <a:rPr lang="pt-BR" sz="2000" dirty="0">
                <a:solidFill>
                  <a:srgbClr val="121212"/>
                </a:solidFill>
                <a:latin typeface="Calibri Light" panose="020F0302020204030204" pitchFamily="34" charset="0"/>
              </a:rPr>
              <a:t> (classes de dados imutáveis com uma única linha), </a:t>
            </a:r>
            <a:r>
              <a:rPr lang="pt-BR" sz="2000" i="1" dirty="0" err="1">
                <a:solidFill>
                  <a:srgbClr val="121212"/>
                </a:solidFill>
                <a:latin typeface="Calibri Light" panose="020F0302020204030204" pitchFamily="34" charset="0"/>
              </a:rPr>
              <a:t>Pattern</a:t>
            </a:r>
            <a:r>
              <a:rPr lang="pt-BR" sz="2000" i="1" dirty="0">
                <a:solidFill>
                  <a:srgbClr val="121212"/>
                </a:solidFill>
                <a:latin typeface="Calibri Light" panose="020F0302020204030204" pitchFamily="34" charset="0"/>
              </a:rPr>
              <a:t> </a:t>
            </a:r>
            <a:r>
              <a:rPr lang="pt-BR" sz="2000" i="1" dirty="0" err="1">
                <a:solidFill>
                  <a:srgbClr val="121212"/>
                </a:solidFill>
                <a:latin typeface="Calibri Light" panose="020F0302020204030204" pitchFamily="34" charset="0"/>
              </a:rPr>
              <a:t>Matching</a:t>
            </a:r>
            <a:r>
              <a:rPr lang="pt-BR" sz="2000" i="1" dirty="0">
                <a:solidFill>
                  <a:srgbClr val="121212"/>
                </a:solidFill>
                <a:latin typeface="Calibri Light" panose="020F0302020204030204" pitchFamily="34" charset="0"/>
              </a:rPr>
              <a:t> </a:t>
            </a:r>
            <a:r>
              <a:rPr lang="pt-BR" sz="2000" dirty="0">
                <a:solidFill>
                  <a:srgbClr val="121212"/>
                </a:solidFill>
                <a:latin typeface="Calibri Light" panose="020F0302020204030204" pitchFamily="34" charset="0"/>
              </a:rPr>
              <a:t>para </a:t>
            </a:r>
            <a:r>
              <a:rPr lang="pt-BR" sz="2000" i="1" dirty="0" err="1">
                <a:solidFill>
                  <a:srgbClr val="121212"/>
                </a:solidFill>
                <a:latin typeface="Calibri Light" panose="020F0302020204030204" pitchFamily="34" charset="0"/>
              </a:rPr>
              <a:t>instanceof</a:t>
            </a:r>
            <a:r>
              <a:rPr lang="pt-BR" sz="2000" dirty="0">
                <a:solidFill>
                  <a:srgbClr val="121212"/>
                </a:solidFill>
                <a:latin typeface="Calibri Light" panose="020F0302020204030204" pitchFamily="34" charset="0"/>
              </a:rPr>
              <a:t> (que elimina </a:t>
            </a:r>
            <a:r>
              <a:rPr lang="pt-BR" sz="2000" i="1" dirty="0" err="1">
                <a:solidFill>
                  <a:srgbClr val="121212"/>
                </a:solidFill>
                <a:latin typeface="Calibri Light" panose="020F0302020204030204" pitchFamily="34" charset="0"/>
              </a:rPr>
              <a:t>casts</a:t>
            </a:r>
            <a:r>
              <a:rPr lang="pt-BR" sz="2000" dirty="0">
                <a:solidFill>
                  <a:srgbClr val="121212"/>
                </a:solidFill>
                <a:latin typeface="Calibri Light" panose="020F0302020204030204" pitchFamily="34" charset="0"/>
              </a:rPr>
              <a:t> manuais) e </a:t>
            </a:r>
            <a:r>
              <a:rPr lang="pt-BR" sz="2000" i="1" dirty="0" err="1">
                <a:solidFill>
                  <a:srgbClr val="121212"/>
                </a:solidFill>
                <a:latin typeface="Calibri Light" panose="020F0302020204030204" pitchFamily="34" charset="0"/>
              </a:rPr>
              <a:t>Sealed</a:t>
            </a:r>
            <a:r>
              <a:rPr lang="pt-BR" sz="2000" i="1" dirty="0">
                <a:solidFill>
                  <a:srgbClr val="121212"/>
                </a:solidFill>
                <a:latin typeface="Calibri Light" panose="020F0302020204030204" pitchFamily="34" charset="0"/>
              </a:rPr>
              <a:t> Classes </a:t>
            </a:r>
            <a:r>
              <a:rPr lang="pt-BR" sz="2000" dirty="0">
                <a:solidFill>
                  <a:srgbClr val="121212"/>
                </a:solidFill>
                <a:latin typeface="Calibri Light" panose="020F0302020204030204" pitchFamily="34" charset="0"/>
              </a:rPr>
              <a:t>(que permitem controlar quem pode estender uma classe). Juntos, esses recursos formam a base para um design de domínio mais robusto e expressivo.</a:t>
            </a:r>
          </a:p>
          <a:p>
            <a:pPr>
              <a:lnSpc>
                <a:spcPct val="130000"/>
              </a:lnSpc>
              <a:spcAft>
                <a:spcPts val="800"/>
              </a:spcAft>
            </a:pPr>
            <a:r>
              <a:rPr lang="pt-BR" sz="2000" dirty="0">
                <a:solidFill>
                  <a:srgbClr val="121212"/>
                </a:solidFill>
                <a:latin typeface="Calibri Light" panose="020F0302020204030204" pitchFamily="34" charset="0"/>
              </a:rPr>
              <a:t>Para equipes que já migraram do Java 8 para o 11, o salto para o 17 e o próximo passo natural. Os ganhos em legibilidade e segurança do código são imediatos e significativos.</a:t>
            </a:r>
          </a:p>
        </p:txBody>
      </p:sp>
      <p:sp>
        <p:nvSpPr>
          <p:cNvPr id="9" name="AccentBar">
            <a:extLst>
              <a:ext uri="{C183D7F6-B498-43B3-948B-1728B52AA6E4}">
                <adec:decorative xmlns:adec="http://schemas.microsoft.com/office/drawing/2017/decorative" val="1"/>
              </a:ext>
            </a:extLst>
          </p:cNvPr>
          <p:cNvSpPr/>
          <p:nvPr/>
        </p:nvSpPr>
        <p:spPr>
          <a:xfrm>
            <a:off x="476249" y="0"/>
            <a:ext cx="72000" cy="1946064"/>
          </a:xfrm>
          <a:prstGeom prst="rect">
            <a:avLst/>
          </a:prstGeom>
          <a:gradFill flip="none" rotWithShape="1">
            <a:gsLst>
              <a:gs pos="0">
                <a:srgbClr val="E2AE4E"/>
              </a:gs>
              <a:gs pos="60000">
                <a:srgbClr val="B71C1C"/>
              </a:gs>
              <a:gs pos="100000">
                <a:srgbClr val="121212"/>
              </a:gs>
            </a:gsLst>
            <a:lin ang="5400000" scaled="1"/>
            <a:tileRect/>
          </a:gradFill>
          <a:ln>
            <a:noFill/>
          </a:ln>
        </p:spPr>
        <p:txBody>
          <a:bodyPr rtlCol="0" anchor="ctr"/>
          <a:lstStyle/>
          <a:p>
            <a:pPr algn="ctr"/>
            <a:endParaRPr lang="pt-BR"/>
          </a:p>
        </p:txBody>
      </p:sp>
      <p:sp>
        <p:nvSpPr>
          <p:cNvPr id="5" name="Footer">
            <a:extLst>
              <a:ext uri="{C183D7F6-B498-43B3-948B-1728B52AA6E4}">
                <adec:decorative xmlns:adec="http://schemas.microsoft.com/office/drawing/2017/decorative" val="1"/>
              </a:ext>
            </a:extLst>
          </p:cNvPr>
          <p:cNvSpPr>
            <a:spLocks noGrp="1"/>
          </p:cNvSpPr>
          <p:nvPr>
            <p:ph type="ftr" sz="quarter" idx="11"/>
          </p:nvPr>
        </p:nvSpPr>
        <p:spPr/>
        <p:txBody>
          <a:bodyPr/>
          <a:lstStyle/>
          <a:p>
            <a:r>
              <a:rPr lang="pt-BR" dirty="0">
                <a:solidFill>
                  <a:srgbClr val="BDBDBD"/>
                </a:solidFill>
              </a:rPr>
              <a:t>JAVA BUSHIDŌ</a:t>
            </a:r>
          </a:p>
        </p:txBody>
      </p:sp>
      <p:sp>
        <p:nvSpPr>
          <p:cNvPr id="10" name="SlideNum">
            <a:extLst>
              <a:ext uri="{C183D7F6-B498-43B3-948B-1728B52AA6E4}">
                <adec:decorative xmlns:adec="http://schemas.microsoft.com/office/drawing/2017/decorative" val="1"/>
              </a:ext>
            </a:extLst>
          </p:cNvPr>
          <p:cNvSpPr>
            <a:spLocks noGrp="1"/>
          </p:cNvSpPr>
          <p:nvPr>
            <p:ph type="sldNum" sz="quarter" idx="12"/>
          </p:nvPr>
        </p:nvSpPr>
        <p:spPr/>
        <p:txBody>
          <a:bodyPr/>
          <a:lstStyle/>
          <a:p>
            <a:fld id="{50C1CB04-2BE3-4164-84E0-A56E2E41F695}" type="slidenum">
              <a:rPr lang="pt-BR" smtClean="0"/>
              <a:t>18</a:t>
            </a:fld>
            <a:endParaRPr lang="pt-BR"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AccentBar">
            <a:extLst>
              <a:ext uri="{C183D7F6-B498-43B3-948B-1728B52AA6E4}">
                <adec:decorative xmlns:adec="http://schemas.microsoft.com/office/drawing/2017/decorative" val="1"/>
              </a:ext>
            </a:extLst>
          </p:cNvPr>
          <p:cNvSpPr/>
          <p:nvPr/>
        </p:nvSpPr>
        <p:spPr>
          <a:xfrm>
            <a:off x="476249" y="0"/>
            <a:ext cx="72000" cy="1946064"/>
          </a:xfrm>
          <a:prstGeom prst="rect">
            <a:avLst/>
          </a:prstGeom>
          <a:gradFill flip="none" rotWithShape="1">
            <a:gsLst>
              <a:gs pos="0">
                <a:srgbClr val="E2AE4E"/>
              </a:gs>
              <a:gs pos="60000">
                <a:srgbClr val="B71C1C"/>
              </a:gs>
              <a:gs pos="100000">
                <a:srgbClr val="121212"/>
              </a:gs>
            </a:gsLst>
            <a:lin ang="5400000" scaled="1"/>
            <a:tileRect/>
          </a:gradFill>
          <a:ln>
            <a:noFill/>
          </a:ln>
        </p:spPr>
        <p:txBody>
          <a:bodyPr rtlCol="0" anchor="ctr"/>
          <a:lstStyle/>
          <a:p>
            <a:pPr algn="ctr"/>
            <a:endParaRPr lang="pt-BR"/>
          </a:p>
        </p:txBody>
      </p:sp>
      <p:sp>
        <p:nvSpPr>
          <p:cNvPr id="5" name="Footer">
            <a:extLst>
              <a:ext uri="{C183D7F6-B498-43B3-948B-1728B52AA6E4}">
                <adec:decorative xmlns:adec="http://schemas.microsoft.com/office/drawing/2017/decorative" val="1"/>
              </a:ext>
            </a:extLst>
          </p:cNvPr>
          <p:cNvSpPr>
            <a:spLocks noGrp="1"/>
          </p:cNvSpPr>
          <p:nvPr>
            <p:ph type="ftr" sz="quarter" idx="11"/>
          </p:nvPr>
        </p:nvSpPr>
        <p:spPr/>
        <p:txBody>
          <a:bodyPr/>
          <a:lstStyle/>
          <a:p>
            <a:r>
              <a:rPr lang="pt-BR" dirty="0">
                <a:solidFill>
                  <a:srgbClr val="BDBDBD"/>
                </a:solidFill>
              </a:rPr>
              <a:t>JAVA BUSHIDŌ</a:t>
            </a:r>
          </a:p>
        </p:txBody>
      </p:sp>
      <p:sp>
        <p:nvSpPr>
          <p:cNvPr id="10" name="SlideNum">
            <a:extLst>
              <a:ext uri="{C183D7F6-B498-43B3-948B-1728B52AA6E4}">
                <adec:decorative xmlns:adec="http://schemas.microsoft.com/office/drawing/2017/decorative" val="1"/>
              </a:ext>
            </a:extLst>
          </p:cNvPr>
          <p:cNvSpPr>
            <a:spLocks noGrp="1"/>
          </p:cNvSpPr>
          <p:nvPr>
            <p:ph type="sldNum" sz="quarter" idx="12"/>
          </p:nvPr>
        </p:nvSpPr>
        <p:spPr/>
        <p:txBody>
          <a:bodyPr/>
          <a:lstStyle/>
          <a:p>
            <a:fld id="{50C1CB04-2BE3-4164-84E0-A56E2E41F695}" type="slidenum">
              <a:rPr lang="pt-BR" smtClean="0"/>
              <a:t>19</a:t>
            </a:fld>
            <a:endParaRPr lang="pt-BR" dirty="0"/>
          </a:p>
        </p:txBody>
      </p:sp>
      <p:sp>
        <p:nvSpPr>
          <p:cNvPr id="6" name="Title"/>
          <p:cNvSpPr txBox="1">
            <a:spLocks noGrp="1"/>
          </p:cNvSpPr>
          <p:nvPr>
            <p:ph type="title" idx="4294967295"/>
          </p:nvPr>
        </p:nvSpPr>
        <p:spPr>
          <a:xfrm>
            <a:off x="819150" y="524114"/>
            <a:ext cx="8292192" cy="646331"/>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pt-BR" sz="3600" b="1" i="0" u="none" strike="noStrike" kern="1200" cap="none" spc="0" normalizeH="0" baseline="0" noProof="0" dirty="0">
                <a:ln>
                  <a:noFill/>
                </a:ln>
                <a:solidFill>
                  <a:srgbClr val="B71C1C"/>
                </a:solidFill>
                <a:effectLst/>
                <a:uLnTx/>
                <a:uFillTx/>
                <a:latin typeface="Arial Black" panose="020B0A04020102020204" pitchFamily="34" charset="0"/>
                <a:ea typeface="+mn-ea"/>
                <a:cs typeface="+mn-cs"/>
              </a:rPr>
              <a:t>Java 17 | Records</a:t>
            </a:r>
          </a:p>
        </p:txBody>
      </p:sp>
      <p:sp>
        <p:nvSpPr>
          <p:cNvPr id="2" name="Subtitle">
            <a:extLst>
              <a:ext uri="{FF2B5EF4-FFF2-40B4-BE49-F238E27FC236}">
                <a16:creationId xmlns:a16="http://schemas.microsoft.com/office/drawing/2014/main" id="{E2C62E1D-80E7-D34F-3E75-1A849F3CFD01}"/>
              </a:ext>
            </a:extLst>
          </p:cNvPr>
          <p:cNvSpPr txBox="1"/>
          <p:nvPr/>
        </p:nvSpPr>
        <p:spPr>
          <a:xfrm>
            <a:off x="476249" y="2024555"/>
            <a:ext cx="8635093" cy="523220"/>
          </a:xfrm>
          <a:prstGeom prst="rect">
            <a:avLst/>
          </a:prstGeom>
          <a:noFill/>
        </p:spPr>
        <p:txBody>
          <a:bodyPr wrap="square" rtlCol="0">
            <a:spAutoFit/>
          </a:bodyPr>
          <a:lstStyle/>
          <a:p>
            <a:r>
              <a:rPr lang="pt-BR" sz="2800" dirty="0">
                <a:solidFill>
                  <a:srgbClr val="E2AE4E"/>
                </a:solidFill>
                <a:latin typeface="Calibri Light" panose="020F0302020204030204" pitchFamily="34" charset="0"/>
              </a:rPr>
              <a:t>O Registro Imutável</a:t>
            </a:r>
          </a:p>
        </p:txBody>
      </p:sp>
      <p:sp>
        <p:nvSpPr>
          <p:cNvPr id="3" name="Body">
            <a:extLst>
              <a:ext uri="{FF2B5EF4-FFF2-40B4-BE49-F238E27FC236}">
                <a16:creationId xmlns:a16="http://schemas.microsoft.com/office/drawing/2014/main" id="{654DF615-6C41-EFB0-638B-1B58C3E9F902}"/>
              </a:ext>
            </a:extLst>
          </p:cNvPr>
          <p:cNvSpPr txBox="1"/>
          <p:nvPr/>
        </p:nvSpPr>
        <p:spPr>
          <a:xfrm>
            <a:off x="476249" y="2800000"/>
            <a:ext cx="8635092" cy="1175706"/>
          </a:xfrm>
          <a:prstGeom prst="rect">
            <a:avLst/>
          </a:prstGeom>
          <a:noFill/>
        </p:spPr>
        <p:txBody>
          <a:bodyPr wrap="square" rtlCol="0">
            <a:spAutoFit/>
          </a:bodyPr>
          <a:lstStyle/>
          <a:p>
            <a:pPr>
              <a:lnSpc>
                <a:spcPct val="120000"/>
              </a:lnSpc>
            </a:pPr>
            <a:r>
              <a:rPr lang="pt-BR" sz="2000" i="1" dirty="0">
                <a:solidFill>
                  <a:srgbClr val="121212"/>
                </a:solidFill>
                <a:latin typeface="Calibri Light" panose="020F0302020204030204" pitchFamily="34" charset="0"/>
              </a:rPr>
              <a:t>Records</a:t>
            </a:r>
            <a:r>
              <a:rPr lang="pt-BR" sz="2000" dirty="0">
                <a:solidFill>
                  <a:srgbClr val="121212"/>
                </a:solidFill>
                <a:latin typeface="Calibri Light" panose="020F0302020204030204" pitchFamily="34" charset="0"/>
              </a:rPr>
              <a:t> criam classes de dados imutáveis em uma única linha. O compilador gera automaticamente construtor, </a:t>
            </a:r>
            <a:r>
              <a:rPr lang="pt-BR" sz="2000" i="1" dirty="0" err="1">
                <a:solidFill>
                  <a:srgbClr val="121212"/>
                </a:solidFill>
                <a:latin typeface="Calibri Light" panose="020F0302020204030204" pitchFamily="34" charset="0"/>
              </a:rPr>
              <a:t>getters</a:t>
            </a:r>
            <a:r>
              <a:rPr lang="pt-BR" sz="2000" dirty="0">
                <a:solidFill>
                  <a:srgbClr val="121212"/>
                </a:solidFill>
                <a:latin typeface="Calibri Light" panose="020F0302020204030204" pitchFamily="34" charset="0"/>
              </a:rPr>
              <a:t>, </a:t>
            </a:r>
            <a:r>
              <a:rPr lang="pt-BR" sz="2000" i="1" dirty="0" err="1">
                <a:solidFill>
                  <a:srgbClr val="121212"/>
                </a:solidFill>
                <a:latin typeface="Calibri Light" panose="020F0302020204030204" pitchFamily="34" charset="0"/>
              </a:rPr>
              <a:t>equals</a:t>
            </a:r>
            <a:r>
              <a:rPr lang="pt-BR" sz="2000" dirty="0">
                <a:solidFill>
                  <a:srgbClr val="121212"/>
                </a:solidFill>
                <a:latin typeface="Calibri Light" panose="020F0302020204030204" pitchFamily="34" charset="0"/>
              </a:rPr>
              <a:t>, </a:t>
            </a:r>
            <a:r>
              <a:rPr lang="pt-BR" sz="2000" i="1" dirty="0" err="1">
                <a:solidFill>
                  <a:srgbClr val="121212"/>
                </a:solidFill>
                <a:latin typeface="Calibri Light" panose="020F0302020204030204" pitchFamily="34" charset="0"/>
              </a:rPr>
              <a:t>hashCode</a:t>
            </a:r>
            <a:r>
              <a:rPr lang="pt-BR" sz="2000" dirty="0">
                <a:solidFill>
                  <a:srgbClr val="121212"/>
                </a:solidFill>
                <a:latin typeface="Calibri Light" panose="020F0302020204030204" pitchFamily="34" charset="0"/>
              </a:rPr>
              <a:t> e </a:t>
            </a:r>
            <a:r>
              <a:rPr lang="pt-BR" sz="2000" i="1" dirty="0" err="1">
                <a:solidFill>
                  <a:srgbClr val="121212"/>
                </a:solidFill>
                <a:latin typeface="Calibri Light" panose="020F0302020204030204" pitchFamily="34" charset="0"/>
              </a:rPr>
              <a:t>toString</a:t>
            </a:r>
            <a:r>
              <a:rPr lang="pt-BR" sz="2000" dirty="0">
                <a:solidFill>
                  <a:srgbClr val="121212"/>
                </a:solidFill>
                <a:latin typeface="Calibri Light" panose="020F0302020204030204" pitchFamily="34" charset="0"/>
              </a:rPr>
              <a:t>. Ideais para </a:t>
            </a:r>
            <a:r>
              <a:rPr lang="pt-BR" sz="2000" i="1" dirty="0" err="1">
                <a:solidFill>
                  <a:srgbClr val="121212"/>
                </a:solidFill>
                <a:latin typeface="Calibri Light" panose="020F0302020204030204" pitchFamily="34" charset="0"/>
              </a:rPr>
              <a:t>DTOs</a:t>
            </a:r>
            <a:r>
              <a:rPr lang="pt-BR" sz="2000" dirty="0">
                <a:solidFill>
                  <a:srgbClr val="121212"/>
                </a:solidFill>
                <a:latin typeface="Calibri Light" panose="020F0302020204030204" pitchFamily="34" charset="0"/>
              </a:rPr>
              <a:t>, respostas de API e qualquer container de dados.</a:t>
            </a:r>
          </a:p>
        </p:txBody>
      </p:sp>
      <p:pic>
        <p:nvPicPr>
          <p:cNvPr id="19" name="Imagem 18" descr="Código Java exibindo definição de record Samurai com atributos imutáveis, validação de nível entre 0 e 10 e método para calcular anos de serviço. Inclui criação de duas instâncias Samurai com nomes, níveis, escolas e datas de entrada, além de impressão formatada no console.">
            <a:extLst>
              <a:ext uri="{FF2B5EF4-FFF2-40B4-BE49-F238E27FC236}">
                <a16:creationId xmlns:a16="http://schemas.microsoft.com/office/drawing/2014/main" id="{888191F2-BA59-B9AE-162F-60A8D491959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6248" y="4274975"/>
            <a:ext cx="8647287" cy="6647025"/>
          </a:xfrm>
          <a:prstGeom prst="rect">
            <a:avLst/>
          </a:prstGeom>
        </p:spPr>
      </p:pic>
      <p:pic>
        <p:nvPicPr>
          <p:cNvPr id="17" name="Imagem 16" descr="Código de texto mostrando registros imutáveis de samurais com atributos como nome, nível, escola e anos. Destaca dois samurais, Musashi com nível 10 na escola Niten'ichi e Yoshi com nível 7 na escola Tenshin, além de nota sobre validação no construtor compacto.">
            <a:extLst>
              <a:ext uri="{FF2B5EF4-FFF2-40B4-BE49-F238E27FC236}">
                <a16:creationId xmlns:a16="http://schemas.microsoft.com/office/drawing/2014/main" id="{C4C49041-B234-8B1F-9DBA-7EEF5CC69DB8}"/>
              </a:ext>
            </a:extLst>
          </p:cNvPr>
          <p:cNvPicPr>
            <a:picLocks noChangeAspect="1"/>
          </p:cNvPicPr>
          <p:nvPr/>
        </p:nvPicPr>
        <p:blipFill>
          <a:blip r:embed="rId3"/>
          <a:stretch>
            <a:fillRect/>
          </a:stretch>
        </p:blipFill>
        <p:spPr>
          <a:xfrm>
            <a:off x="2812917" y="10689483"/>
            <a:ext cx="6298424" cy="1175706"/>
          </a:xfrm>
          <a:prstGeom prst="rect">
            <a:avLst/>
          </a:prstGeom>
          <a:ln w="38100">
            <a:solidFill>
              <a:srgbClr val="BDBDBD"/>
            </a:solid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AccentBar">
            <a:extLst>
              <a:ext uri="{C183D7F6-B498-43B3-948B-1728B52AA6E4}">
                <adec:decorative xmlns:adec="http://schemas.microsoft.com/office/drawing/2017/decorative" val="1"/>
              </a:ext>
            </a:extLst>
          </p:cNvPr>
          <p:cNvSpPr/>
          <p:nvPr/>
        </p:nvSpPr>
        <p:spPr>
          <a:xfrm>
            <a:off x="476249" y="0"/>
            <a:ext cx="72000" cy="1946064"/>
          </a:xfrm>
          <a:prstGeom prst="rect">
            <a:avLst/>
          </a:prstGeom>
          <a:gradFill flip="none" rotWithShape="1">
            <a:gsLst>
              <a:gs pos="0">
                <a:srgbClr val="E2AE4E"/>
              </a:gs>
              <a:gs pos="60000">
                <a:srgbClr val="B71C1C"/>
              </a:gs>
              <a:gs pos="100000">
                <a:srgbClr val="121212"/>
              </a:gs>
            </a:gsLst>
            <a:lin ang="5400000" scaled="1"/>
            <a:tileRect/>
          </a:gradFill>
          <a:ln>
            <a:noFill/>
          </a:ln>
        </p:spPr>
        <p:txBody>
          <a:bodyPr rtlCol="0" anchor="ctr"/>
          <a:lstStyle/>
          <a:p>
            <a:pPr algn="ctr"/>
            <a:endParaRPr lang="pt-BR"/>
          </a:p>
        </p:txBody>
      </p:sp>
      <p:sp>
        <p:nvSpPr>
          <p:cNvPr id="5" name="Footer">
            <a:extLst>
              <a:ext uri="{C183D7F6-B498-43B3-948B-1728B52AA6E4}">
                <adec:decorative xmlns:adec="http://schemas.microsoft.com/office/drawing/2017/decorative" val="1"/>
              </a:ext>
            </a:extLst>
          </p:cNvPr>
          <p:cNvSpPr>
            <a:spLocks noGrp="1"/>
          </p:cNvSpPr>
          <p:nvPr>
            <p:ph type="ftr" sz="quarter" idx="11"/>
          </p:nvPr>
        </p:nvSpPr>
        <p:spPr/>
        <p:txBody>
          <a:bodyPr/>
          <a:lstStyle/>
          <a:p>
            <a:r>
              <a:rPr lang="pt-BR" dirty="0">
                <a:solidFill>
                  <a:srgbClr val="BDBDBD"/>
                </a:solidFill>
              </a:rPr>
              <a:t>JAVA BUSHIDŌ</a:t>
            </a:r>
          </a:p>
        </p:txBody>
      </p:sp>
      <p:sp>
        <p:nvSpPr>
          <p:cNvPr id="10" name="SlideNum">
            <a:extLst>
              <a:ext uri="{C183D7F6-B498-43B3-948B-1728B52AA6E4}">
                <adec:decorative xmlns:adec="http://schemas.microsoft.com/office/drawing/2017/decorative" val="1"/>
              </a:ext>
            </a:extLst>
          </p:cNvPr>
          <p:cNvSpPr>
            <a:spLocks noGrp="1"/>
          </p:cNvSpPr>
          <p:nvPr>
            <p:ph type="sldNum" sz="quarter" idx="12"/>
          </p:nvPr>
        </p:nvSpPr>
        <p:spPr/>
        <p:txBody>
          <a:bodyPr/>
          <a:lstStyle/>
          <a:p>
            <a:fld id="{50C1CB04-2BE3-4164-84E0-A56E2E41F695}" type="slidenum">
              <a:rPr lang="pt-BR" smtClean="0"/>
              <a:t>20</a:t>
            </a:fld>
            <a:endParaRPr lang="pt-BR" dirty="0"/>
          </a:p>
        </p:txBody>
      </p:sp>
      <p:sp>
        <p:nvSpPr>
          <p:cNvPr id="6" name="Title"/>
          <p:cNvSpPr txBox="1">
            <a:spLocks noGrp="1"/>
          </p:cNvSpPr>
          <p:nvPr>
            <p:ph type="title" idx="4294967295"/>
          </p:nvPr>
        </p:nvSpPr>
        <p:spPr>
          <a:xfrm>
            <a:off x="819150" y="524114"/>
            <a:ext cx="8292192" cy="1200329"/>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pt-BR" sz="3600" b="1" i="0" u="none" strike="noStrike" kern="1200" cap="none" spc="0" normalizeH="0" baseline="0" noProof="0" dirty="0">
                <a:ln>
                  <a:noFill/>
                </a:ln>
                <a:solidFill>
                  <a:srgbClr val="B71C1C"/>
                </a:solidFill>
                <a:effectLst/>
                <a:uLnTx/>
                <a:uFillTx/>
                <a:latin typeface="Arial Black" panose="020B0A04020102020204" pitchFamily="34" charset="0"/>
                <a:ea typeface="+mn-ea"/>
                <a:cs typeface="+mn-cs"/>
              </a:rPr>
              <a:t>Java 17 | </a:t>
            </a:r>
            <a:r>
              <a:rPr kumimoji="0" lang="pt-BR" sz="3600" b="1" i="0" u="none" strike="noStrike" kern="1200" cap="none" spc="0" normalizeH="0" baseline="0" noProof="0" dirty="0" err="1">
                <a:ln>
                  <a:noFill/>
                </a:ln>
                <a:solidFill>
                  <a:srgbClr val="B71C1C"/>
                </a:solidFill>
                <a:effectLst/>
                <a:uLnTx/>
                <a:uFillTx/>
                <a:latin typeface="Arial Black" panose="020B0A04020102020204" pitchFamily="34" charset="0"/>
                <a:ea typeface="+mn-ea"/>
                <a:cs typeface="+mn-cs"/>
              </a:rPr>
              <a:t>Pattern</a:t>
            </a:r>
            <a:r>
              <a:rPr kumimoji="0" lang="pt-BR" sz="3600" b="1" i="0" u="none" strike="noStrike" kern="1200" cap="none" spc="0" normalizeH="0" baseline="0" noProof="0" dirty="0">
                <a:ln>
                  <a:noFill/>
                </a:ln>
                <a:solidFill>
                  <a:srgbClr val="B71C1C"/>
                </a:solidFill>
                <a:effectLst/>
                <a:uLnTx/>
                <a:uFillTx/>
                <a:latin typeface="Arial Black" panose="020B0A04020102020204" pitchFamily="34" charset="0"/>
                <a:ea typeface="+mn-ea"/>
                <a:cs typeface="+mn-cs"/>
              </a:rPr>
              <a:t> </a:t>
            </a:r>
            <a:r>
              <a:rPr kumimoji="0" lang="pt-BR" sz="3600" b="1" i="0" u="none" strike="noStrike" kern="1200" cap="none" spc="0" normalizeH="0" baseline="0" noProof="0" dirty="0" err="1">
                <a:ln>
                  <a:noFill/>
                </a:ln>
                <a:solidFill>
                  <a:srgbClr val="B71C1C"/>
                </a:solidFill>
                <a:effectLst/>
                <a:uLnTx/>
                <a:uFillTx/>
                <a:latin typeface="Arial Black" panose="020B0A04020102020204" pitchFamily="34" charset="0"/>
                <a:ea typeface="+mn-ea"/>
                <a:cs typeface="+mn-cs"/>
              </a:rPr>
              <a:t>Matching</a:t>
            </a:r>
            <a:r>
              <a:rPr kumimoji="0" lang="pt-BR" sz="3600" b="1" i="0" u="none" strike="noStrike" kern="1200" cap="none" spc="0" normalizeH="0" baseline="0" noProof="0" dirty="0">
                <a:ln>
                  <a:noFill/>
                </a:ln>
                <a:solidFill>
                  <a:srgbClr val="B71C1C"/>
                </a:solidFill>
                <a:effectLst/>
                <a:uLnTx/>
                <a:uFillTx/>
                <a:latin typeface="Arial Black" panose="020B0A04020102020204" pitchFamily="34" charset="0"/>
                <a:ea typeface="+mn-ea"/>
                <a:cs typeface="+mn-cs"/>
              </a:rPr>
              <a:t> (</a:t>
            </a:r>
            <a:r>
              <a:rPr kumimoji="0" lang="pt-BR" sz="3600" b="1" i="0" u="none" strike="noStrike" kern="1200" cap="none" spc="0" normalizeH="0" baseline="0" noProof="0" dirty="0" err="1">
                <a:ln>
                  <a:noFill/>
                </a:ln>
                <a:solidFill>
                  <a:srgbClr val="B71C1C"/>
                </a:solidFill>
                <a:effectLst/>
                <a:uLnTx/>
                <a:uFillTx/>
                <a:latin typeface="Arial Black" panose="020B0A04020102020204" pitchFamily="34" charset="0"/>
                <a:ea typeface="+mn-ea"/>
                <a:cs typeface="+mn-cs"/>
              </a:rPr>
              <a:t>instanceof</a:t>
            </a:r>
            <a:r>
              <a:rPr kumimoji="0" lang="pt-BR" sz="3600" b="1" i="0" u="none" strike="noStrike" kern="1200" cap="none" spc="0" normalizeH="0" baseline="0" noProof="0" dirty="0">
                <a:ln>
                  <a:noFill/>
                </a:ln>
                <a:solidFill>
                  <a:srgbClr val="B71C1C"/>
                </a:solidFill>
                <a:effectLst/>
                <a:uLnTx/>
                <a:uFillTx/>
                <a:latin typeface="Arial Black" panose="020B0A04020102020204" pitchFamily="34" charset="0"/>
                <a:ea typeface="+mn-ea"/>
                <a:cs typeface="+mn-cs"/>
              </a:rPr>
              <a:t>)</a:t>
            </a:r>
          </a:p>
        </p:txBody>
      </p:sp>
      <p:sp>
        <p:nvSpPr>
          <p:cNvPr id="2" name="Subtitle">
            <a:extLst>
              <a:ext uri="{FF2B5EF4-FFF2-40B4-BE49-F238E27FC236}">
                <a16:creationId xmlns:a16="http://schemas.microsoft.com/office/drawing/2014/main" id="{7C636075-0864-67CA-5D2B-860584CF52BC}"/>
              </a:ext>
            </a:extLst>
          </p:cNvPr>
          <p:cNvSpPr txBox="1"/>
          <p:nvPr/>
        </p:nvSpPr>
        <p:spPr>
          <a:xfrm>
            <a:off x="476249" y="2024555"/>
            <a:ext cx="8635093" cy="523220"/>
          </a:xfrm>
          <a:prstGeom prst="rect">
            <a:avLst/>
          </a:prstGeom>
          <a:noFill/>
        </p:spPr>
        <p:txBody>
          <a:bodyPr wrap="square" rtlCol="0">
            <a:spAutoFit/>
          </a:bodyPr>
          <a:lstStyle/>
          <a:p>
            <a:r>
              <a:rPr lang="pt-BR" sz="2800" dirty="0">
                <a:solidFill>
                  <a:srgbClr val="E2AE4E"/>
                </a:solidFill>
                <a:latin typeface="Calibri Light" panose="020F0302020204030204" pitchFamily="34" charset="0"/>
              </a:rPr>
              <a:t>O Olhar do Mestre</a:t>
            </a:r>
          </a:p>
        </p:txBody>
      </p:sp>
      <p:sp>
        <p:nvSpPr>
          <p:cNvPr id="3" name="Body">
            <a:extLst>
              <a:ext uri="{FF2B5EF4-FFF2-40B4-BE49-F238E27FC236}">
                <a16:creationId xmlns:a16="http://schemas.microsoft.com/office/drawing/2014/main" id="{71D27465-97F7-B2B8-8211-D908C80BE7CE}"/>
              </a:ext>
            </a:extLst>
          </p:cNvPr>
          <p:cNvSpPr txBox="1"/>
          <p:nvPr/>
        </p:nvSpPr>
        <p:spPr>
          <a:xfrm>
            <a:off x="476249" y="2800000"/>
            <a:ext cx="8635092" cy="1175706"/>
          </a:xfrm>
          <a:prstGeom prst="rect">
            <a:avLst/>
          </a:prstGeom>
          <a:noFill/>
        </p:spPr>
        <p:txBody>
          <a:bodyPr wrap="square" rtlCol="0">
            <a:spAutoFit/>
          </a:bodyPr>
          <a:lstStyle/>
          <a:p>
            <a:pPr>
              <a:lnSpc>
                <a:spcPct val="120000"/>
              </a:lnSpc>
            </a:pPr>
            <a:r>
              <a:rPr lang="pt-BR" sz="2000" i="1" dirty="0" err="1">
                <a:solidFill>
                  <a:srgbClr val="121212"/>
                </a:solidFill>
                <a:latin typeface="Calibri Light" panose="020F0302020204030204" pitchFamily="34" charset="0"/>
              </a:rPr>
              <a:t>Pattern</a:t>
            </a:r>
            <a:r>
              <a:rPr lang="pt-BR" sz="2000" i="1" dirty="0">
                <a:solidFill>
                  <a:srgbClr val="121212"/>
                </a:solidFill>
                <a:latin typeface="Calibri Light" panose="020F0302020204030204" pitchFamily="34" charset="0"/>
              </a:rPr>
              <a:t> </a:t>
            </a:r>
            <a:r>
              <a:rPr lang="pt-BR" sz="2000" i="1" dirty="0" err="1">
                <a:solidFill>
                  <a:srgbClr val="121212"/>
                </a:solidFill>
                <a:latin typeface="Calibri Light" panose="020F0302020204030204" pitchFamily="34" charset="0"/>
              </a:rPr>
              <a:t>matching</a:t>
            </a:r>
            <a:r>
              <a:rPr lang="pt-BR" sz="2000" i="1" dirty="0">
                <a:solidFill>
                  <a:srgbClr val="121212"/>
                </a:solidFill>
                <a:latin typeface="Calibri Light" panose="020F0302020204030204" pitchFamily="34" charset="0"/>
              </a:rPr>
              <a:t> </a:t>
            </a:r>
            <a:r>
              <a:rPr lang="pt-BR" sz="2000" dirty="0">
                <a:solidFill>
                  <a:srgbClr val="121212"/>
                </a:solidFill>
                <a:latin typeface="Calibri Light" panose="020F0302020204030204" pitchFamily="34" charset="0"/>
              </a:rPr>
              <a:t>funde a verificação de tipo e o </a:t>
            </a:r>
            <a:r>
              <a:rPr lang="pt-BR" sz="2000" i="1" dirty="0" err="1">
                <a:solidFill>
                  <a:srgbClr val="121212"/>
                </a:solidFill>
                <a:latin typeface="Calibri Light" panose="020F0302020204030204" pitchFamily="34" charset="0"/>
              </a:rPr>
              <a:t>cast</a:t>
            </a:r>
            <a:r>
              <a:rPr lang="pt-BR" sz="2000" dirty="0">
                <a:solidFill>
                  <a:srgbClr val="121212"/>
                </a:solidFill>
                <a:latin typeface="Calibri Light" panose="020F0302020204030204" pitchFamily="34" charset="0"/>
              </a:rPr>
              <a:t> em uma única expressão: </a:t>
            </a:r>
            <a:r>
              <a:rPr lang="pt-BR" sz="2000" dirty="0" err="1">
                <a:solidFill>
                  <a:srgbClr val="121212"/>
                </a:solidFill>
                <a:latin typeface="Consolas" panose="020B0609020204030204" pitchFamily="49" charset="0"/>
              </a:rPr>
              <a:t>if</a:t>
            </a:r>
            <a:r>
              <a:rPr lang="pt-BR" sz="2000" dirty="0">
                <a:solidFill>
                  <a:srgbClr val="121212"/>
                </a:solidFill>
                <a:latin typeface="Consolas" panose="020B0609020204030204" pitchFamily="49" charset="0"/>
              </a:rPr>
              <a:t> (</a:t>
            </a:r>
            <a:r>
              <a:rPr lang="pt-BR" sz="2000" dirty="0" err="1">
                <a:solidFill>
                  <a:srgbClr val="121212"/>
                </a:solidFill>
                <a:latin typeface="Consolas" panose="020B0609020204030204" pitchFamily="49" charset="0"/>
              </a:rPr>
              <a:t>obj</a:t>
            </a:r>
            <a:r>
              <a:rPr lang="pt-BR" sz="2000" dirty="0">
                <a:solidFill>
                  <a:srgbClr val="121212"/>
                </a:solidFill>
                <a:latin typeface="Consolas" panose="020B0609020204030204" pitchFamily="49" charset="0"/>
              </a:rPr>
              <a:t> </a:t>
            </a:r>
            <a:r>
              <a:rPr lang="pt-BR" sz="2000" dirty="0" err="1">
                <a:solidFill>
                  <a:srgbClr val="121212"/>
                </a:solidFill>
                <a:latin typeface="Consolas" panose="020B0609020204030204" pitchFamily="49" charset="0"/>
              </a:rPr>
              <a:t>instanceof</a:t>
            </a:r>
            <a:r>
              <a:rPr lang="pt-BR" sz="2000" dirty="0">
                <a:solidFill>
                  <a:srgbClr val="121212"/>
                </a:solidFill>
                <a:latin typeface="Consolas" panose="020B0609020204030204" pitchFamily="49" charset="0"/>
              </a:rPr>
              <a:t> String s)</a:t>
            </a:r>
            <a:r>
              <a:rPr lang="pt-BR" sz="2000" dirty="0">
                <a:solidFill>
                  <a:srgbClr val="121212"/>
                </a:solidFill>
                <a:latin typeface="Calibri Light" panose="020F0302020204030204" pitchFamily="34" charset="0"/>
              </a:rPr>
              <a:t> já cria a variável </a:t>
            </a:r>
            <a:r>
              <a:rPr lang="pt-BR" sz="2000" dirty="0" err="1">
                <a:solidFill>
                  <a:srgbClr val="121212"/>
                </a:solidFill>
                <a:latin typeface="Calibri Light" panose="020F0302020204030204" pitchFamily="34" charset="0"/>
              </a:rPr>
              <a:t>tipada</a:t>
            </a:r>
            <a:r>
              <a:rPr lang="pt-BR" sz="2000" dirty="0">
                <a:solidFill>
                  <a:srgbClr val="121212"/>
                </a:solidFill>
                <a:latin typeface="Calibri Light" panose="020F0302020204030204" pitchFamily="34" charset="0"/>
              </a:rPr>
              <a:t>. Elimina </a:t>
            </a:r>
            <a:r>
              <a:rPr lang="pt-BR" sz="2000" i="1" dirty="0" err="1">
                <a:solidFill>
                  <a:srgbClr val="121212"/>
                </a:solidFill>
                <a:latin typeface="Calibri Light" panose="020F0302020204030204" pitchFamily="34" charset="0"/>
              </a:rPr>
              <a:t>casts</a:t>
            </a:r>
            <a:r>
              <a:rPr lang="pt-BR" sz="2000" dirty="0">
                <a:solidFill>
                  <a:srgbClr val="121212"/>
                </a:solidFill>
                <a:latin typeface="Calibri Light" panose="020F0302020204030204" pitchFamily="34" charset="0"/>
              </a:rPr>
              <a:t> manuais e reduz o risco de </a:t>
            </a:r>
            <a:r>
              <a:rPr lang="pt-BR" sz="2000" i="1" dirty="0" err="1">
                <a:solidFill>
                  <a:srgbClr val="121212"/>
                </a:solidFill>
                <a:latin typeface="Calibri Light" panose="020F0302020204030204" pitchFamily="34" charset="0"/>
              </a:rPr>
              <a:t>ClassCastException</a:t>
            </a:r>
            <a:r>
              <a:rPr lang="pt-BR" sz="2000" dirty="0">
                <a:solidFill>
                  <a:srgbClr val="121212"/>
                </a:solidFill>
                <a:latin typeface="Calibri Light" panose="020F0302020204030204" pitchFamily="34" charset="0"/>
              </a:rPr>
              <a:t>.</a:t>
            </a:r>
          </a:p>
        </p:txBody>
      </p:sp>
      <p:pic>
        <p:nvPicPr>
          <p:cNvPr id="11" name="Imagem 10" descr="Código Java exibindo uso de pattern matching com operador instanceof para diferenciar tipos de guerreiros SamuraiAtaque e SamuraiDefesa, cada um com atributos nome e dano ou armadura. Destaca estrutura de interface selada, registros para implementação e saída condicional com símbolos para ataque, defesa e guerreiro desconhecido.">
            <a:extLst>
              <a:ext uri="{FF2B5EF4-FFF2-40B4-BE49-F238E27FC236}">
                <a16:creationId xmlns:a16="http://schemas.microsoft.com/office/drawing/2014/main" id="{60029AD1-8897-BFD7-3F35-3FC5619105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6249" y="4227931"/>
            <a:ext cx="8635092" cy="5810429"/>
          </a:xfrm>
          <a:prstGeom prst="rect">
            <a:avLst/>
          </a:prstGeom>
        </p:spPr>
      </p:pic>
      <p:pic>
        <p:nvPicPr>
          <p:cNvPr id="13" name="Imagem 12" descr="Captura de tela de código em fundo preto mostrando comentários e instruções em linguagem de programação. Destaque para comentário sobre ataque de Hattori com poder 8 e explicação sobre pattern matching que substitui verificação de tipo e cast em uma única expressão.">
            <a:extLst>
              <a:ext uri="{FF2B5EF4-FFF2-40B4-BE49-F238E27FC236}">
                <a16:creationId xmlns:a16="http://schemas.microsoft.com/office/drawing/2014/main" id="{EAF31C78-A036-7C07-C8D7-4CD0DCD2FC4C}"/>
              </a:ext>
            </a:extLst>
          </p:cNvPr>
          <p:cNvPicPr>
            <a:picLocks noChangeAspect="1"/>
          </p:cNvPicPr>
          <p:nvPr/>
        </p:nvPicPr>
        <p:blipFill>
          <a:blip r:embed="rId3"/>
          <a:stretch>
            <a:fillRect/>
          </a:stretch>
        </p:blipFill>
        <p:spPr>
          <a:xfrm>
            <a:off x="476249" y="9973418"/>
            <a:ext cx="8788819" cy="884589"/>
          </a:xfrm>
          <a:prstGeom prst="rect">
            <a:avLst/>
          </a:prstGeom>
          <a:ln w="38100">
            <a:solidFill>
              <a:srgbClr val="BDBDBD"/>
            </a:solid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AccentBar">
            <a:extLst>
              <a:ext uri="{C183D7F6-B498-43B3-948B-1728B52AA6E4}">
                <adec:decorative xmlns:adec="http://schemas.microsoft.com/office/drawing/2017/decorative" val="1"/>
              </a:ext>
            </a:extLst>
          </p:cNvPr>
          <p:cNvSpPr/>
          <p:nvPr/>
        </p:nvSpPr>
        <p:spPr>
          <a:xfrm>
            <a:off x="476249" y="0"/>
            <a:ext cx="72000" cy="1946064"/>
          </a:xfrm>
          <a:prstGeom prst="rect">
            <a:avLst/>
          </a:prstGeom>
          <a:gradFill flip="none" rotWithShape="1">
            <a:gsLst>
              <a:gs pos="0">
                <a:srgbClr val="E2AE4E"/>
              </a:gs>
              <a:gs pos="60000">
                <a:srgbClr val="B71C1C"/>
              </a:gs>
              <a:gs pos="100000">
                <a:srgbClr val="121212"/>
              </a:gs>
            </a:gsLst>
            <a:lin ang="5400000" scaled="1"/>
            <a:tileRect/>
          </a:gradFill>
          <a:ln>
            <a:noFill/>
          </a:ln>
        </p:spPr>
        <p:txBody>
          <a:bodyPr rtlCol="0" anchor="ctr"/>
          <a:lstStyle/>
          <a:p>
            <a:pPr algn="ctr"/>
            <a:endParaRPr lang="pt-BR"/>
          </a:p>
        </p:txBody>
      </p:sp>
      <p:sp>
        <p:nvSpPr>
          <p:cNvPr id="5" name="Footer">
            <a:extLst>
              <a:ext uri="{C183D7F6-B498-43B3-948B-1728B52AA6E4}">
                <adec:decorative xmlns:adec="http://schemas.microsoft.com/office/drawing/2017/decorative" val="1"/>
              </a:ext>
            </a:extLst>
          </p:cNvPr>
          <p:cNvSpPr>
            <a:spLocks noGrp="1"/>
          </p:cNvSpPr>
          <p:nvPr>
            <p:ph type="ftr" sz="quarter" idx="11"/>
          </p:nvPr>
        </p:nvSpPr>
        <p:spPr/>
        <p:txBody>
          <a:bodyPr/>
          <a:lstStyle/>
          <a:p>
            <a:r>
              <a:rPr lang="pt-BR" dirty="0">
                <a:solidFill>
                  <a:srgbClr val="BDBDBD"/>
                </a:solidFill>
              </a:rPr>
              <a:t>JAVA BUSHIDŌ</a:t>
            </a:r>
          </a:p>
        </p:txBody>
      </p:sp>
      <p:sp>
        <p:nvSpPr>
          <p:cNvPr id="10" name="SlideNum">
            <a:extLst>
              <a:ext uri="{C183D7F6-B498-43B3-948B-1728B52AA6E4}">
                <adec:decorative xmlns:adec="http://schemas.microsoft.com/office/drawing/2017/decorative" val="1"/>
              </a:ext>
            </a:extLst>
          </p:cNvPr>
          <p:cNvSpPr>
            <a:spLocks noGrp="1"/>
          </p:cNvSpPr>
          <p:nvPr>
            <p:ph type="sldNum" sz="quarter" idx="12"/>
          </p:nvPr>
        </p:nvSpPr>
        <p:spPr/>
        <p:txBody>
          <a:bodyPr/>
          <a:lstStyle/>
          <a:p>
            <a:fld id="{50C1CB04-2BE3-4164-84E0-A56E2E41F695}" type="slidenum">
              <a:rPr lang="pt-BR" smtClean="0"/>
              <a:t>21</a:t>
            </a:fld>
            <a:endParaRPr lang="pt-BR" dirty="0"/>
          </a:p>
        </p:txBody>
      </p:sp>
      <p:sp>
        <p:nvSpPr>
          <p:cNvPr id="6" name="Title"/>
          <p:cNvSpPr txBox="1">
            <a:spLocks noGrp="1"/>
          </p:cNvSpPr>
          <p:nvPr>
            <p:ph type="title" idx="4294967295"/>
          </p:nvPr>
        </p:nvSpPr>
        <p:spPr>
          <a:xfrm>
            <a:off x="819150" y="524114"/>
            <a:ext cx="8292192" cy="646331"/>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pt-BR" sz="3600" b="1" i="0" u="none" strike="noStrike" kern="1200" cap="none" spc="0" normalizeH="0" baseline="0" noProof="0" dirty="0">
                <a:ln>
                  <a:noFill/>
                </a:ln>
                <a:solidFill>
                  <a:srgbClr val="B71C1C"/>
                </a:solidFill>
                <a:effectLst/>
                <a:uLnTx/>
                <a:uFillTx/>
                <a:latin typeface="Arial Black" panose="020B0A04020102020204" pitchFamily="34" charset="0"/>
                <a:ea typeface="+mn-ea"/>
                <a:cs typeface="+mn-cs"/>
              </a:rPr>
              <a:t>Java 17 | </a:t>
            </a:r>
            <a:r>
              <a:rPr kumimoji="0" lang="pt-BR" sz="3600" b="1" i="0" u="none" strike="noStrike" kern="1200" cap="none" spc="0" normalizeH="0" baseline="0" noProof="0" dirty="0" err="1">
                <a:ln>
                  <a:noFill/>
                </a:ln>
                <a:solidFill>
                  <a:srgbClr val="B71C1C"/>
                </a:solidFill>
                <a:effectLst/>
                <a:uLnTx/>
                <a:uFillTx/>
                <a:latin typeface="Arial Black" panose="020B0A04020102020204" pitchFamily="34" charset="0"/>
                <a:ea typeface="+mn-ea"/>
                <a:cs typeface="+mn-cs"/>
              </a:rPr>
              <a:t>Sealed</a:t>
            </a:r>
            <a:r>
              <a:rPr kumimoji="0" lang="pt-BR" sz="3600" b="1" i="0" u="none" strike="noStrike" kern="1200" cap="none" spc="0" normalizeH="0" baseline="0" noProof="0" dirty="0">
                <a:ln>
                  <a:noFill/>
                </a:ln>
                <a:solidFill>
                  <a:srgbClr val="B71C1C"/>
                </a:solidFill>
                <a:effectLst/>
                <a:uLnTx/>
                <a:uFillTx/>
                <a:latin typeface="Arial Black" panose="020B0A04020102020204" pitchFamily="34" charset="0"/>
                <a:ea typeface="+mn-ea"/>
                <a:cs typeface="+mn-cs"/>
              </a:rPr>
              <a:t> Classes</a:t>
            </a:r>
          </a:p>
        </p:txBody>
      </p:sp>
      <p:sp>
        <p:nvSpPr>
          <p:cNvPr id="2" name="Subtitle">
            <a:extLst>
              <a:ext uri="{FF2B5EF4-FFF2-40B4-BE49-F238E27FC236}">
                <a16:creationId xmlns:a16="http://schemas.microsoft.com/office/drawing/2014/main" id="{C2283012-658C-D4B0-2684-12FC3B08B851}"/>
              </a:ext>
            </a:extLst>
          </p:cNvPr>
          <p:cNvSpPr txBox="1"/>
          <p:nvPr/>
        </p:nvSpPr>
        <p:spPr>
          <a:xfrm>
            <a:off x="476249" y="2024555"/>
            <a:ext cx="8635093" cy="523220"/>
          </a:xfrm>
          <a:prstGeom prst="rect">
            <a:avLst/>
          </a:prstGeom>
          <a:noFill/>
        </p:spPr>
        <p:txBody>
          <a:bodyPr wrap="square" rtlCol="0">
            <a:spAutoFit/>
          </a:bodyPr>
          <a:lstStyle/>
          <a:p>
            <a:r>
              <a:rPr lang="pt-BR" sz="2800" dirty="0">
                <a:solidFill>
                  <a:srgbClr val="E2AE4E"/>
                </a:solidFill>
                <a:latin typeface="Calibri Light" panose="020F0302020204030204" pitchFamily="34" charset="0"/>
              </a:rPr>
              <a:t>A Hierarquia Protegida</a:t>
            </a:r>
          </a:p>
        </p:txBody>
      </p:sp>
      <p:sp>
        <p:nvSpPr>
          <p:cNvPr id="4" name="Body">
            <a:extLst>
              <a:ext uri="{FF2B5EF4-FFF2-40B4-BE49-F238E27FC236}">
                <a16:creationId xmlns:a16="http://schemas.microsoft.com/office/drawing/2014/main" id="{F95D52D5-CE1C-18F2-4F8C-8ADAEFADF948}"/>
              </a:ext>
            </a:extLst>
          </p:cNvPr>
          <p:cNvSpPr txBox="1"/>
          <p:nvPr/>
        </p:nvSpPr>
        <p:spPr>
          <a:xfrm>
            <a:off x="476249" y="2800000"/>
            <a:ext cx="8635092" cy="1175706"/>
          </a:xfrm>
          <a:prstGeom prst="rect">
            <a:avLst/>
          </a:prstGeom>
          <a:noFill/>
        </p:spPr>
        <p:txBody>
          <a:bodyPr wrap="square" rtlCol="0">
            <a:spAutoFit/>
          </a:bodyPr>
          <a:lstStyle/>
          <a:p>
            <a:pPr>
              <a:lnSpc>
                <a:spcPct val="120000"/>
              </a:lnSpc>
            </a:pPr>
            <a:r>
              <a:rPr lang="pt-BR" sz="2000" dirty="0">
                <a:solidFill>
                  <a:srgbClr val="121212"/>
                </a:solidFill>
                <a:latin typeface="Calibri Light" panose="020F0302020204030204" pitchFamily="34" charset="0"/>
              </a:rPr>
              <a:t>Com </a:t>
            </a:r>
            <a:r>
              <a:rPr lang="pt-BR" sz="2000" i="1" dirty="0" err="1">
                <a:solidFill>
                  <a:srgbClr val="121212"/>
                </a:solidFill>
                <a:latin typeface="Calibri Light" panose="020F0302020204030204" pitchFamily="34" charset="0"/>
              </a:rPr>
              <a:t>sealed</a:t>
            </a:r>
            <a:r>
              <a:rPr lang="pt-BR" sz="2000" dirty="0">
                <a:solidFill>
                  <a:srgbClr val="121212"/>
                </a:solidFill>
                <a:latin typeface="Calibri Light" panose="020F0302020204030204" pitchFamily="34" charset="0"/>
              </a:rPr>
              <a:t>, você declara quais classes podem estender a sua, criando hierarquias fechadas e previsíveis. O compilador garante que nenhuma classe não autorizada herde sua </a:t>
            </a:r>
            <a:r>
              <a:rPr lang="pt-BR" sz="2000" i="1" dirty="0">
                <a:solidFill>
                  <a:srgbClr val="121212"/>
                </a:solidFill>
                <a:latin typeface="Calibri Light" panose="020F0302020204030204" pitchFamily="34" charset="0"/>
              </a:rPr>
              <a:t>interface</a:t>
            </a:r>
            <a:r>
              <a:rPr lang="pt-BR" sz="2000" dirty="0">
                <a:solidFill>
                  <a:srgbClr val="121212"/>
                </a:solidFill>
                <a:latin typeface="Calibri Light" panose="020F0302020204030204" pitchFamily="34" charset="0"/>
              </a:rPr>
              <a:t>, contribuindo para consistência do seu domínio.</a:t>
            </a:r>
          </a:p>
        </p:txBody>
      </p:sp>
      <p:pic>
        <p:nvPicPr>
          <p:cNvPr id="12" name="Imagem 11" descr="Código Java exibindo uso de classes seladas para técnicas de combate no Bushidô, definindo interface selada e implementações específicas para Iaijutsu, Kendo e Jujutsu com métodos que retornam descrições das técnicas. Estrutura inclui comentários explicativos, uso de emojis para ilustrar técnicas e método main que imprime lista das técnicas permitidas.">
            <a:extLst>
              <a:ext uri="{FF2B5EF4-FFF2-40B4-BE49-F238E27FC236}">
                <a16:creationId xmlns:a16="http://schemas.microsoft.com/office/drawing/2014/main" id="{4408945F-A1BD-4A09-8F2B-7931A50801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1471" y="3938156"/>
            <a:ext cx="7267862" cy="7310615"/>
          </a:xfrm>
          <a:prstGeom prst="rect">
            <a:avLst/>
          </a:prstGeom>
        </p:spPr>
      </p:pic>
      <p:pic>
        <p:nvPicPr>
          <p:cNvPr id="14" name="Imagem 13" descr="Texto com três técnicas permitidas pelo Bushidō, apresentadas com ícones: uma mão segurando uma espada para &quot;Saque rápido e corte&quot;, uma espada para &quot;Combate com espada&quot; e dois punhos para &quot;Luta corpo a corpo&quot;. Cada técnica está listada com marcador de ponto e destacada por emojis que ilustram o tipo de combate.">
            <a:extLst>
              <a:ext uri="{FF2B5EF4-FFF2-40B4-BE49-F238E27FC236}">
                <a16:creationId xmlns:a16="http://schemas.microsoft.com/office/drawing/2014/main" id="{7CFA8AEC-4E20-14FC-A9E1-B721C1D5EF30}"/>
              </a:ext>
            </a:extLst>
          </p:cNvPr>
          <p:cNvPicPr>
            <a:picLocks noChangeAspect="1"/>
          </p:cNvPicPr>
          <p:nvPr/>
        </p:nvPicPr>
        <p:blipFill>
          <a:blip r:embed="rId3"/>
          <a:stretch>
            <a:fillRect/>
          </a:stretch>
        </p:blipFill>
        <p:spPr>
          <a:xfrm>
            <a:off x="5465981" y="10689483"/>
            <a:ext cx="3613748" cy="1175706"/>
          </a:xfrm>
          <a:prstGeom prst="rect">
            <a:avLst/>
          </a:prstGeom>
          <a:ln w="38100">
            <a:solidFill>
              <a:srgbClr val="BDBDBD"/>
            </a:solid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gRect">
            <a:extLst>
              <a:ext uri="{C183D7F6-B498-43B3-948B-1728B52AA6E4}">
                <adec:decorative xmlns:adec="http://schemas.microsoft.com/office/drawing/2017/decorative" val="1"/>
              </a:ext>
            </a:extLst>
          </p:cNvPr>
          <p:cNvSpPr/>
          <p:nvPr/>
        </p:nvSpPr>
        <p:spPr>
          <a:xfrm>
            <a:off x="0" y="0"/>
            <a:ext cx="9601200" cy="12801600"/>
          </a:xfrm>
          <a:prstGeom prst="rect">
            <a:avLst/>
          </a:prstGeom>
          <a:solidFill>
            <a:srgbClr val="121212"/>
          </a:solidFill>
          <a:ln>
            <a:noFill/>
          </a:ln>
        </p:spPr>
        <p:txBody>
          <a:bodyPr rtlCol="0" anchor="ctr"/>
          <a:lstStyle/>
          <a:p>
            <a:pPr algn="ctr"/>
            <a:endParaRPr lang="pt-BR"/>
          </a:p>
        </p:txBody>
      </p:sp>
      <p:sp>
        <p:nvSpPr>
          <p:cNvPr id="5" name="Number" descr="Arco V"/>
          <p:cNvSpPr txBox="1"/>
          <p:nvPr/>
        </p:nvSpPr>
        <p:spPr>
          <a:xfrm>
            <a:off x="700000" y="200000"/>
            <a:ext cx="8200000" cy="6447919"/>
          </a:xfrm>
          <a:prstGeom prst="rect">
            <a:avLst/>
          </a:prstGeom>
          <a:noFill/>
        </p:spPr>
        <p:txBody>
          <a:bodyPr wrap="square" rtlCol="0">
            <a:spAutoFit/>
          </a:bodyPr>
          <a:lstStyle/>
          <a:p>
            <a:pPr algn="ctr"/>
            <a:r>
              <a:rPr lang="pt-BR" sz="41300" dirty="0">
                <a:ln w="12700">
                  <a:solidFill>
                    <a:srgbClr val="B71C1C"/>
                  </a:solidFill>
                </a:ln>
                <a:noFill/>
                <a:latin typeface="Arial Black" panose="020B0A04020102020204" pitchFamily="34" charset="0"/>
              </a:rPr>
              <a:t>V</a:t>
            </a:r>
          </a:p>
        </p:txBody>
      </p:sp>
      <p:sp>
        <p:nvSpPr>
          <p:cNvPr id="3" name="Title"/>
          <p:cNvSpPr txBox="1">
            <a:spLocks noGrp="1"/>
          </p:cNvSpPr>
          <p:nvPr>
            <p:ph type="title" idx="4294967295"/>
          </p:nvPr>
        </p:nvSpPr>
        <p:spPr>
          <a:xfrm>
            <a:off x="489857" y="6000000"/>
            <a:ext cx="8621485" cy="2585323"/>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pt-BR" sz="5400" b="0" i="0" u="none" strike="noStrike" kern="1200" cap="none" spc="0" normalizeH="0" baseline="0" noProof="0" dirty="0">
                <a:ln>
                  <a:noFill/>
                </a:ln>
                <a:solidFill>
                  <a:srgbClr val="FFFFFF"/>
                </a:solidFill>
                <a:effectLst/>
                <a:uLnTx/>
                <a:uFillTx/>
                <a:latin typeface="Arial Black" panose="020B0A04020102020204" pitchFamily="34" charset="0"/>
                <a:ea typeface="+mn-ea"/>
                <a:cs typeface="+mn-cs"/>
              </a:rPr>
              <a:t>A FLUIDEZ</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pt-BR" sz="5400" b="0" i="0" u="none" strike="noStrike" kern="1200" cap="none" spc="0" normalizeH="0" baseline="0" noProof="0" dirty="0">
                <a:ln>
                  <a:noFill/>
                </a:ln>
                <a:solidFill>
                  <a:srgbClr val="FFFFFF"/>
                </a:solidFill>
                <a:effectLst/>
                <a:uLnTx/>
                <a:uFillTx/>
                <a:latin typeface="Arial Black" panose="020B0A04020102020204" pitchFamily="34" charset="0"/>
                <a:ea typeface="+mn-ea"/>
                <a:cs typeface="+mn-cs"/>
              </a:rPr>
              <a:t>DO AÇO
JAVA 21</a:t>
            </a:r>
          </a:p>
        </p:txBody>
      </p:sp>
      <p:sp>
        <p:nvSpPr>
          <p:cNvPr id="4" name="GradLine">
            <a:extLst>
              <a:ext uri="{C183D7F6-B498-43B3-948B-1728B52AA6E4}">
                <adec:decorative xmlns:adec="http://schemas.microsoft.com/office/drawing/2017/decorative" val="1"/>
              </a:ext>
            </a:extLst>
          </p:cNvPr>
          <p:cNvSpPr/>
          <p:nvPr/>
        </p:nvSpPr>
        <p:spPr>
          <a:xfrm rot="5400000">
            <a:off x="4757736" y="5600700"/>
            <a:ext cx="182880" cy="7200900"/>
          </a:xfrm>
          <a:prstGeom prst="rect">
            <a:avLst/>
          </a:prstGeom>
          <a:gradFill flip="none" rotWithShape="1">
            <a:gsLst>
              <a:gs pos="0">
                <a:srgbClr val="E2AE4E"/>
              </a:gs>
              <a:gs pos="60000">
                <a:srgbClr val="B71C1C"/>
              </a:gs>
              <a:gs pos="100000">
                <a:srgbClr val="121212"/>
              </a:gs>
            </a:gsLst>
            <a:lin ang="5400000" scaled="1"/>
            <a:tileRect/>
          </a:gradFill>
          <a:ln>
            <a:noFill/>
          </a:ln>
        </p:spPr>
        <p:txBody>
          <a:bodyPr rtlCol="0" anchor="ctr"/>
          <a:lstStyle/>
          <a:p>
            <a:pPr algn="ctr"/>
            <a:endParaRPr lang="pt-BR"/>
          </a:p>
        </p:txBody>
      </p:sp>
      <p:sp>
        <p:nvSpPr>
          <p:cNvPr id="7" name="SlideNum">
            <a:extLst>
              <a:ext uri="{C183D7F6-B498-43B3-948B-1728B52AA6E4}">
                <adec:decorative xmlns:adec="http://schemas.microsoft.com/office/drawing/2017/decorative" val="1"/>
              </a:ext>
            </a:extLst>
          </p:cNvPr>
          <p:cNvSpPr>
            <a:spLocks noGrp="1"/>
          </p:cNvSpPr>
          <p:nvPr>
            <p:ph type="sldNum" sz="quarter" idx="12"/>
          </p:nvPr>
        </p:nvSpPr>
        <p:spPr/>
        <p:txBody>
          <a:bodyPr/>
          <a:lstStyle/>
          <a:p>
            <a:fld id="{50C1CB04-2BE3-4164-84E0-A56E2E41F695}" type="slidenum">
              <a:rPr lang="pt-BR" smtClean="0">
                <a:solidFill>
                  <a:srgbClr val="BDBDBD"/>
                </a:solidFill>
              </a:rPr>
              <a:t>22</a:t>
            </a:fld>
            <a:endParaRPr lang="pt-BR" dirty="0">
              <a:solidFill>
                <a:srgbClr val="BDBDBD"/>
              </a:solidFill>
            </a:endParaRPr>
          </a:p>
        </p:txBody>
      </p:sp>
      <p:sp>
        <p:nvSpPr>
          <p:cNvPr id="8" name="Footer">
            <a:extLst>
              <a:ext uri="{C183D7F6-B498-43B3-948B-1728B52AA6E4}">
                <adec:decorative xmlns:adec="http://schemas.microsoft.com/office/drawing/2017/decorative" val="1"/>
              </a:ext>
            </a:extLst>
          </p:cNvPr>
          <p:cNvSpPr>
            <a:spLocks noGrp="1"/>
          </p:cNvSpPr>
          <p:nvPr>
            <p:ph type="ftr" sz="quarter" idx="11"/>
          </p:nvPr>
        </p:nvSpPr>
        <p:spPr/>
        <p:txBody>
          <a:bodyPr/>
          <a:lstStyle/>
          <a:p>
            <a:r>
              <a:rPr lang="pt-BR" dirty="0">
                <a:solidFill>
                  <a:srgbClr val="BDBDBD"/>
                </a:solidFill>
              </a:rPr>
              <a:t>JAVA BUSHIDŌ</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0EAB7F7D-DBB4-3EDE-3C10-F1096E14D0DF}"/>
              </a:ext>
              <a:ext uri="{C183D7F6-B498-43B3-948B-1728B52AA6E4}">
                <adec:decorative xmlns:adec="http://schemas.microsoft.com/office/drawing/2017/decorative" val="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2781" b="12889"/>
          <a:stretch>
            <a:fillRect/>
          </a:stretch>
        </p:blipFill>
        <p:spPr bwMode="auto">
          <a:xfrm>
            <a:off x="0" y="8518849"/>
            <a:ext cx="9601200" cy="4282751"/>
          </a:xfrm>
          <a:prstGeom prst="rect">
            <a:avLst/>
          </a:prstGeom>
          <a:noFill/>
          <a:extLst>
            <a:ext uri="{909E8E84-426E-40DD-AFC4-6F175D3DCCD1}">
              <a14:hiddenFill xmlns:a14="http://schemas.microsoft.com/office/drawing/2010/main">
                <a:solidFill>
                  <a:srgbClr val="FFFFFF"/>
                </a:solidFill>
              </a14:hiddenFill>
            </a:ext>
          </a:extLst>
        </p:spPr>
      </p:pic>
      <p:sp>
        <p:nvSpPr>
          <p:cNvPr id="6" name="Title"/>
          <p:cNvSpPr txBox="1">
            <a:spLocks noGrp="1"/>
          </p:cNvSpPr>
          <p:nvPr>
            <p:ph type="title" idx="4294967295"/>
          </p:nvPr>
        </p:nvSpPr>
        <p:spPr>
          <a:xfrm>
            <a:off x="819150" y="524114"/>
            <a:ext cx="8292192" cy="646331"/>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pt-BR" sz="3600" b="1" i="0" u="none" strike="noStrike" kern="1200" cap="none" spc="0" normalizeH="0" baseline="0" noProof="0" dirty="0">
                <a:ln>
                  <a:noFill/>
                </a:ln>
                <a:solidFill>
                  <a:srgbClr val="B71C1C"/>
                </a:solidFill>
                <a:effectLst/>
                <a:uLnTx/>
                <a:uFillTx/>
                <a:latin typeface="Arial Black" panose="020B0A04020102020204" pitchFamily="34" charset="0"/>
                <a:ea typeface="+mn-ea"/>
                <a:cs typeface="+mn-cs"/>
              </a:rPr>
              <a:t>Java 21 | Visão Geral</a:t>
            </a:r>
          </a:p>
        </p:txBody>
      </p:sp>
      <p:sp>
        <p:nvSpPr>
          <p:cNvPr id="7" name="Subtitle"/>
          <p:cNvSpPr txBox="1"/>
          <p:nvPr/>
        </p:nvSpPr>
        <p:spPr>
          <a:xfrm>
            <a:off x="476249" y="2024555"/>
            <a:ext cx="8635093" cy="523220"/>
          </a:xfrm>
          <a:prstGeom prst="rect">
            <a:avLst/>
          </a:prstGeom>
          <a:noFill/>
        </p:spPr>
        <p:txBody>
          <a:bodyPr wrap="square" rtlCol="0">
            <a:spAutoFit/>
          </a:bodyPr>
          <a:lstStyle/>
          <a:p>
            <a:r>
              <a:rPr lang="pt-BR" sz="2800" dirty="0">
                <a:solidFill>
                  <a:srgbClr val="E2AE4E"/>
                </a:solidFill>
                <a:latin typeface="Calibri Light" panose="020F0302020204030204" pitchFamily="34" charset="0"/>
              </a:rPr>
              <a:t>Arco V — A Fluidez do Aço</a:t>
            </a:r>
          </a:p>
        </p:txBody>
      </p:sp>
      <p:sp>
        <p:nvSpPr>
          <p:cNvPr id="8" name="Body"/>
          <p:cNvSpPr txBox="1"/>
          <p:nvPr/>
        </p:nvSpPr>
        <p:spPr>
          <a:xfrm>
            <a:off x="476249" y="2800000"/>
            <a:ext cx="8635092" cy="5066515"/>
          </a:xfrm>
          <a:prstGeom prst="rect">
            <a:avLst/>
          </a:prstGeom>
          <a:noFill/>
        </p:spPr>
        <p:txBody>
          <a:bodyPr wrap="square" rtlCol="0">
            <a:spAutoFit/>
          </a:bodyPr>
          <a:lstStyle/>
          <a:p>
            <a:pPr algn="just">
              <a:lnSpc>
                <a:spcPct val="130000"/>
              </a:lnSpc>
              <a:spcAft>
                <a:spcPts val="800"/>
              </a:spcAft>
            </a:pPr>
            <a:r>
              <a:rPr lang="pt-BR" sz="2000" dirty="0">
                <a:solidFill>
                  <a:srgbClr val="121212"/>
                </a:solidFill>
                <a:latin typeface="Calibri Light" panose="020F0302020204030204" pitchFamily="34" charset="0"/>
              </a:rPr>
              <a:t>O Java 21, lançado em setembro de 2023, é a versão LTS que pode ser considerada a mais ambiciosa desde o Java 8. Ela traz </a:t>
            </a:r>
            <a:r>
              <a:rPr lang="pt-BR" sz="2000" i="1" dirty="0">
                <a:solidFill>
                  <a:srgbClr val="121212"/>
                </a:solidFill>
                <a:latin typeface="Calibri Light" panose="020F0302020204030204" pitchFamily="34" charset="0"/>
              </a:rPr>
              <a:t>Virtual Threads</a:t>
            </a:r>
            <a:r>
              <a:rPr lang="pt-BR" sz="2000" dirty="0">
                <a:solidFill>
                  <a:srgbClr val="121212"/>
                </a:solidFill>
                <a:latin typeface="Calibri Light" panose="020F0302020204030204" pitchFamily="34" charset="0"/>
              </a:rPr>
              <a:t>: uma mudança que redefine como o Java lida com concorrência, além de consolidar o </a:t>
            </a:r>
            <a:r>
              <a:rPr lang="pt-BR" sz="2000" i="1" dirty="0" err="1">
                <a:solidFill>
                  <a:srgbClr val="121212"/>
                </a:solidFill>
                <a:latin typeface="Calibri Light" panose="020F0302020204030204" pitchFamily="34" charset="0"/>
              </a:rPr>
              <a:t>pattern</a:t>
            </a:r>
            <a:r>
              <a:rPr lang="pt-BR" sz="2000" i="1" dirty="0">
                <a:solidFill>
                  <a:srgbClr val="121212"/>
                </a:solidFill>
                <a:latin typeface="Calibri Light" panose="020F0302020204030204" pitchFamily="34" charset="0"/>
              </a:rPr>
              <a:t> </a:t>
            </a:r>
            <a:r>
              <a:rPr lang="pt-BR" sz="2000" i="1" dirty="0" err="1">
                <a:solidFill>
                  <a:srgbClr val="121212"/>
                </a:solidFill>
                <a:latin typeface="Calibri Light" panose="020F0302020204030204" pitchFamily="34" charset="0"/>
              </a:rPr>
              <a:t>matching</a:t>
            </a:r>
            <a:r>
              <a:rPr lang="pt-BR" sz="2000" dirty="0">
                <a:solidFill>
                  <a:srgbClr val="121212"/>
                </a:solidFill>
                <a:latin typeface="Calibri Light" panose="020F0302020204030204" pitchFamily="34" charset="0"/>
              </a:rPr>
              <a:t> como ferramenta central da linguagem.</a:t>
            </a:r>
          </a:p>
          <a:p>
            <a:pPr algn="just">
              <a:lnSpc>
                <a:spcPct val="130000"/>
              </a:lnSpc>
              <a:spcAft>
                <a:spcPts val="800"/>
              </a:spcAft>
            </a:pPr>
            <a:r>
              <a:rPr lang="pt-BR" sz="2000" dirty="0">
                <a:solidFill>
                  <a:srgbClr val="121212"/>
                </a:solidFill>
                <a:latin typeface="Calibri Light" panose="020F0302020204030204" pitchFamily="34" charset="0"/>
              </a:rPr>
              <a:t>Com </a:t>
            </a:r>
            <a:r>
              <a:rPr lang="pt-BR" sz="2000" i="1" dirty="0">
                <a:solidFill>
                  <a:srgbClr val="121212"/>
                </a:solidFill>
                <a:latin typeface="Calibri Light" panose="020F0302020204030204" pitchFamily="34" charset="0"/>
              </a:rPr>
              <a:t>Virtual Threads</a:t>
            </a:r>
            <a:r>
              <a:rPr lang="pt-BR" sz="2000" dirty="0">
                <a:solidFill>
                  <a:srgbClr val="121212"/>
                </a:solidFill>
                <a:latin typeface="Calibri Light" panose="020F0302020204030204" pitchFamily="34" charset="0"/>
              </a:rPr>
              <a:t>, aplicações que fazem muitas chamadas de rede ou acesso a banco de dados podem escalar para milhões de conexões simultâneas sem a complexidade de programação reativa. O </a:t>
            </a:r>
            <a:r>
              <a:rPr lang="pt-BR" sz="2000" i="1" dirty="0" err="1">
                <a:solidFill>
                  <a:srgbClr val="121212"/>
                </a:solidFill>
                <a:latin typeface="Calibri Light" panose="020F0302020204030204" pitchFamily="34" charset="0"/>
              </a:rPr>
              <a:t>pattern</a:t>
            </a:r>
            <a:r>
              <a:rPr lang="pt-BR" sz="2000" i="1" dirty="0">
                <a:solidFill>
                  <a:srgbClr val="121212"/>
                </a:solidFill>
                <a:latin typeface="Calibri Light" panose="020F0302020204030204" pitchFamily="34" charset="0"/>
              </a:rPr>
              <a:t> </a:t>
            </a:r>
            <a:r>
              <a:rPr lang="pt-BR" sz="2000" i="1" dirty="0" err="1">
                <a:solidFill>
                  <a:srgbClr val="121212"/>
                </a:solidFill>
                <a:latin typeface="Calibri Light" panose="020F0302020204030204" pitchFamily="34" charset="0"/>
              </a:rPr>
              <a:t>matching</a:t>
            </a:r>
            <a:r>
              <a:rPr lang="pt-BR" sz="2000" i="1" dirty="0">
                <a:solidFill>
                  <a:srgbClr val="121212"/>
                </a:solidFill>
                <a:latin typeface="Calibri Light" panose="020F0302020204030204" pitchFamily="34" charset="0"/>
              </a:rPr>
              <a:t> </a:t>
            </a:r>
            <a:r>
              <a:rPr lang="pt-BR" sz="2000" dirty="0">
                <a:solidFill>
                  <a:srgbClr val="121212"/>
                </a:solidFill>
                <a:latin typeface="Calibri Light" panose="020F0302020204030204" pitchFamily="34" charset="0"/>
              </a:rPr>
              <a:t>no switch, por sua vez, transforma o antigo </a:t>
            </a:r>
            <a:r>
              <a:rPr lang="pt-BR" sz="2000" i="1" dirty="0">
                <a:solidFill>
                  <a:srgbClr val="121212"/>
                </a:solidFill>
                <a:latin typeface="Calibri Light" panose="020F0302020204030204" pitchFamily="34" charset="0"/>
              </a:rPr>
              <a:t>switch</a:t>
            </a:r>
            <a:r>
              <a:rPr lang="pt-BR" sz="2000" dirty="0">
                <a:solidFill>
                  <a:srgbClr val="121212"/>
                </a:solidFill>
                <a:latin typeface="Calibri Light" panose="020F0302020204030204" pitchFamily="34" charset="0"/>
              </a:rPr>
              <a:t> limitado em uma das estruturas mais poderosas da linguagem. E as </a:t>
            </a:r>
            <a:r>
              <a:rPr lang="pt-BR" sz="2000" i="1" dirty="0" err="1">
                <a:solidFill>
                  <a:srgbClr val="121212"/>
                </a:solidFill>
                <a:latin typeface="Calibri Light" panose="020F0302020204030204" pitchFamily="34" charset="0"/>
              </a:rPr>
              <a:t>Sequenced</a:t>
            </a:r>
            <a:r>
              <a:rPr lang="pt-BR" sz="2000" i="1" dirty="0">
                <a:solidFill>
                  <a:srgbClr val="121212"/>
                </a:solidFill>
                <a:latin typeface="Calibri Light" panose="020F0302020204030204" pitchFamily="34" charset="0"/>
              </a:rPr>
              <a:t> Collections </a:t>
            </a:r>
            <a:r>
              <a:rPr lang="pt-BR" sz="2000" dirty="0">
                <a:solidFill>
                  <a:srgbClr val="121212"/>
                </a:solidFill>
                <a:latin typeface="Calibri Light" panose="020F0302020204030204" pitchFamily="34" charset="0"/>
              </a:rPr>
              <a:t>unificam a forma de acessar elementos ordenados.</a:t>
            </a:r>
          </a:p>
          <a:p>
            <a:pPr algn="just">
              <a:lnSpc>
                <a:spcPct val="130000"/>
              </a:lnSpc>
              <a:spcAft>
                <a:spcPts val="800"/>
              </a:spcAft>
            </a:pPr>
            <a:r>
              <a:rPr lang="pt-BR" sz="2000" dirty="0">
                <a:solidFill>
                  <a:srgbClr val="121212"/>
                </a:solidFill>
                <a:latin typeface="Calibri Light" panose="020F0302020204030204" pitchFamily="34" charset="0"/>
              </a:rPr>
              <a:t>O Java 21 é a versão recomendada para novos projetos desde 2024. Se você está aprendendo Java agora, esta é a versão ideal para começar.</a:t>
            </a:r>
          </a:p>
        </p:txBody>
      </p:sp>
      <p:sp>
        <p:nvSpPr>
          <p:cNvPr id="9" name="AccentBar">
            <a:extLst>
              <a:ext uri="{C183D7F6-B498-43B3-948B-1728B52AA6E4}">
                <adec:decorative xmlns:adec="http://schemas.microsoft.com/office/drawing/2017/decorative" val="1"/>
              </a:ext>
            </a:extLst>
          </p:cNvPr>
          <p:cNvSpPr/>
          <p:nvPr/>
        </p:nvSpPr>
        <p:spPr>
          <a:xfrm>
            <a:off x="476249" y="0"/>
            <a:ext cx="72000" cy="1946064"/>
          </a:xfrm>
          <a:prstGeom prst="rect">
            <a:avLst/>
          </a:prstGeom>
          <a:gradFill flip="none" rotWithShape="1">
            <a:gsLst>
              <a:gs pos="0">
                <a:srgbClr val="E2AE4E"/>
              </a:gs>
              <a:gs pos="60000">
                <a:srgbClr val="B71C1C"/>
              </a:gs>
              <a:gs pos="100000">
                <a:srgbClr val="121212"/>
              </a:gs>
            </a:gsLst>
            <a:lin ang="5400000" scaled="1"/>
            <a:tileRect/>
          </a:gradFill>
          <a:ln>
            <a:noFill/>
          </a:ln>
        </p:spPr>
        <p:txBody>
          <a:bodyPr rtlCol="0" anchor="ctr"/>
          <a:lstStyle/>
          <a:p>
            <a:pPr algn="ctr"/>
            <a:endParaRPr lang="pt-BR"/>
          </a:p>
        </p:txBody>
      </p:sp>
      <p:sp>
        <p:nvSpPr>
          <p:cNvPr id="5" name="Footer">
            <a:extLst>
              <a:ext uri="{C183D7F6-B498-43B3-948B-1728B52AA6E4}">
                <adec:decorative xmlns:adec="http://schemas.microsoft.com/office/drawing/2017/decorative" val="1"/>
              </a:ext>
            </a:extLst>
          </p:cNvPr>
          <p:cNvSpPr>
            <a:spLocks noGrp="1"/>
          </p:cNvSpPr>
          <p:nvPr>
            <p:ph type="ftr" sz="quarter" idx="11"/>
          </p:nvPr>
        </p:nvSpPr>
        <p:spPr/>
        <p:txBody>
          <a:bodyPr/>
          <a:lstStyle/>
          <a:p>
            <a:r>
              <a:rPr lang="pt-BR" dirty="0">
                <a:solidFill>
                  <a:srgbClr val="BDBDBD"/>
                </a:solidFill>
              </a:rPr>
              <a:t>JAVA BUSHIDŌ</a:t>
            </a:r>
          </a:p>
        </p:txBody>
      </p:sp>
      <p:sp>
        <p:nvSpPr>
          <p:cNvPr id="10" name="SlideNum">
            <a:extLst>
              <a:ext uri="{C183D7F6-B498-43B3-948B-1728B52AA6E4}">
                <adec:decorative xmlns:adec="http://schemas.microsoft.com/office/drawing/2017/decorative" val="1"/>
              </a:ext>
            </a:extLst>
          </p:cNvPr>
          <p:cNvSpPr>
            <a:spLocks noGrp="1"/>
          </p:cNvSpPr>
          <p:nvPr>
            <p:ph type="sldNum" sz="quarter" idx="12"/>
          </p:nvPr>
        </p:nvSpPr>
        <p:spPr/>
        <p:txBody>
          <a:bodyPr/>
          <a:lstStyle/>
          <a:p>
            <a:fld id="{50C1CB04-2BE3-4164-84E0-A56E2E41F695}" type="slidenum">
              <a:rPr lang="pt-BR" smtClean="0"/>
              <a:t>23</a:t>
            </a:fld>
            <a:endParaRPr lang="pt-BR"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AccentBar">
            <a:extLst>
              <a:ext uri="{C183D7F6-B498-43B3-948B-1728B52AA6E4}">
                <adec:decorative xmlns:adec="http://schemas.microsoft.com/office/drawing/2017/decorative" val="1"/>
              </a:ext>
            </a:extLst>
          </p:cNvPr>
          <p:cNvSpPr/>
          <p:nvPr/>
        </p:nvSpPr>
        <p:spPr>
          <a:xfrm>
            <a:off x="476249" y="0"/>
            <a:ext cx="72000" cy="1946064"/>
          </a:xfrm>
          <a:prstGeom prst="rect">
            <a:avLst/>
          </a:prstGeom>
          <a:gradFill flip="none" rotWithShape="1">
            <a:gsLst>
              <a:gs pos="0">
                <a:srgbClr val="E2AE4E"/>
              </a:gs>
              <a:gs pos="60000">
                <a:srgbClr val="B71C1C"/>
              </a:gs>
              <a:gs pos="100000">
                <a:srgbClr val="121212"/>
              </a:gs>
            </a:gsLst>
            <a:lin ang="5400000" scaled="1"/>
            <a:tileRect/>
          </a:gradFill>
          <a:ln>
            <a:noFill/>
          </a:ln>
        </p:spPr>
        <p:txBody>
          <a:bodyPr rtlCol="0" anchor="ctr"/>
          <a:lstStyle/>
          <a:p>
            <a:pPr algn="ctr"/>
            <a:endParaRPr lang="pt-BR"/>
          </a:p>
        </p:txBody>
      </p:sp>
      <p:sp>
        <p:nvSpPr>
          <p:cNvPr id="5" name="Footer">
            <a:extLst>
              <a:ext uri="{C183D7F6-B498-43B3-948B-1728B52AA6E4}">
                <adec:decorative xmlns:adec="http://schemas.microsoft.com/office/drawing/2017/decorative" val="1"/>
              </a:ext>
            </a:extLst>
          </p:cNvPr>
          <p:cNvSpPr>
            <a:spLocks noGrp="1"/>
          </p:cNvSpPr>
          <p:nvPr>
            <p:ph type="ftr" sz="quarter" idx="11"/>
          </p:nvPr>
        </p:nvSpPr>
        <p:spPr/>
        <p:txBody>
          <a:bodyPr/>
          <a:lstStyle/>
          <a:p>
            <a:r>
              <a:rPr lang="pt-BR" dirty="0">
                <a:solidFill>
                  <a:srgbClr val="BDBDBD"/>
                </a:solidFill>
              </a:rPr>
              <a:t>JAVA BUSHIDŌ</a:t>
            </a:r>
          </a:p>
        </p:txBody>
      </p:sp>
      <p:sp>
        <p:nvSpPr>
          <p:cNvPr id="10" name="SlideNum">
            <a:extLst>
              <a:ext uri="{C183D7F6-B498-43B3-948B-1728B52AA6E4}">
                <adec:decorative xmlns:adec="http://schemas.microsoft.com/office/drawing/2017/decorative" val="1"/>
              </a:ext>
            </a:extLst>
          </p:cNvPr>
          <p:cNvSpPr>
            <a:spLocks noGrp="1"/>
          </p:cNvSpPr>
          <p:nvPr>
            <p:ph type="sldNum" sz="quarter" idx="12"/>
          </p:nvPr>
        </p:nvSpPr>
        <p:spPr/>
        <p:txBody>
          <a:bodyPr/>
          <a:lstStyle/>
          <a:p>
            <a:fld id="{50C1CB04-2BE3-4164-84E0-A56E2E41F695}" type="slidenum">
              <a:rPr lang="pt-BR" smtClean="0"/>
              <a:t>24</a:t>
            </a:fld>
            <a:endParaRPr lang="pt-BR" dirty="0"/>
          </a:p>
        </p:txBody>
      </p:sp>
      <p:sp>
        <p:nvSpPr>
          <p:cNvPr id="6" name="Title"/>
          <p:cNvSpPr txBox="1">
            <a:spLocks noGrp="1"/>
          </p:cNvSpPr>
          <p:nvPr>
            <p:ph type="title" idx="4294967295"/>
          </p:nvPr>
        </p:nvSpPr>
        <p:spPr>
          <a:xfrm>
            <a:off x="819150" y="524114"/>
            <a:ext cx="8292192" cy="646331"/>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pt-BR" sz="3600" b="1" i="0" u="none" strike="noStrike" kern="1200" cap="none" spc="0" normalizeH="0" baseline="0" noProof="0" dirty="0">
                <a:ln>
                  <a:noFill/>
                </a:ln>
                <a:solidFill>
                  <a:srgbClr val="B71C1C"/>
                </a:solidFill>
                <a:effectLst/>
                <a:uLnTx/>
                <a:uFillTx/>
                <a:latin typeface="Arial Black" panose="020B0A04020102020204" pitchFamily="34" charset="0"/>
                <a:ea typeface="+mn-ea"/>
                <a:cs typeface="+mn-cs"/>
              </a:rPr>
              <a:t>Java 21 | Virtual Threads</a:t>
            </a:r>
          </a:p>
        </p:txBody>
      </p:sp>
      <p:sp>
        <p:nvSpPr>
          <p:cNvPr id="2" name="Subtitle">
            <a:extLst>
              <a:ext uri="{FF2B5EF4-FFF2-40B4-BE49-F238E27FC236}">
                <a16:creationId xmlns:a16="http://schemas.microsoft.com/office/drawing/2014/main" id="{FA5B0AB1-C077-9892-247D-43874AEDA81A}"/>
              </a:ext>
            </a:extLst>
          </p:cNvPr>
          <p:cNvSpPr txBox="1"/>
          <p:nvPr/>
        </p:nvSpPr>
        <p:spPr>
          <a:xfrm>
            <a:off x="476249" y="2024555"/>
            <a:ext cx="8635093" cy="523220"/>
          </a:xfrm>
          <a:prstGeom prst="rect">
            <a:avLst/>
          </a:prstGeom>
          <a:noFill/>
        </p:spPr>
        <p:txBody>
          <a:bodyPr wrap="square" rtlCol="0">
            <a:spAutoFit/>
          </a:bodyPr>
          <a:lstStyle/>
          <a:p>
            <a:r>
              <a:rPr lang="pt-BR" sz="2800" dirty="0">
                <a:solidFill>
                  <a:srgbClr val="E2AE4E"/>
                </a:solidFill>
                <a:latin typeface="Calibri Light" panose="020F0302020204030204" pitchFamily="34" charset="0"/>
              </a:rPr>
              <a:t>Mil Lâminas em Movimento</a:t>
            </a:r>
          </a:p>
        </p:txBody>
      </p:sp>
      <p:sp>
        <p:nvSpPr>
          <p:cNvPr id="3" name="Body">
            <a:extLst>
              <a:ext uri="{FF2B5EF4-FFF2-40B4-BE49-F238E27FC236}">
                <a16:creationId xmlns:a16="http://schemas.microsoft.com/office/drawing/2014/main" id="{D5D066D9-DC41-8D81-3A7E-09A8BE832797}"/>
              </a:ext>
            </a:extLst>
          </p:cNvPr>
          <p:cNvSpPr txBox="1"/>
          <p:nvPr/>
        </p:nvSpPr>
        <p:spPr>
          <a:xfrm>
            <a:off x="476249" y="2800000"/>
            <a:ext cx="8635092" cy="1545038"/>
          </a:xfrm>
          <a:prstGeom prst="rect">
            <a:avLst/>
          </a:prstGeom>
          <a:noFill/>
        </p:spPr>
        <p:txBody>
          <a:bodyPr wrap="square" rtlCol="0">
            <a:spAutoFit/>
          </a:bodyPr>
          <a:lstStyle/>
          <a:p>
            <a:pPr>
              <a:lnSpc>
                <a:spcPct val="120000"/>
              </a:lnSpc>
            </a:pPr>
            <a:r>
              <a:rPr lang="pt-BR" sz="2000" i="1" dirty="0">
                <a:solidFill>
                  <a:srgbClr val="121212"/>
                </a:solidFill>
                <a:latin typeface="Calibri Light" panose="020F0302020204030204" pitchFamily="34" charset="0"/>
              </a:rPr>
              <a:t>Virtual threads </a:t>
            </a:r>
            <a:r>
              <a:rPr lang="pt-BR" sz="2000" dirty="0">
                <a:solidFill>
                  <a:srgbClr val="121212"/>
                </a:solidFill>
                <a:latin typeface="Calibri Light" panose="020F0302020204030204" pitchFamily="34" charset="0"/>
              </a:rPr>
              <a:t>são </a:t>
            </a:r>
            <a:r>
              <a:rPr lang="pt-BR" sz="2000" i="1" dirty="0">
                <a:solidFill>
                  <a:srgbClr val="121212"/>
                </a:solidFill>
                <a:latin typeface="Calibri Light" panose="020F0302020204030204" pitchFamily="34" charset="0"/>
              </a:rPr>
              <a:t>threads</a:t>
            </a:r>
            <a:r>
              <a:rPr lang="pt-BR" sz="2000" dirty="0">
                <a:solidFill>
                  <a:srgbClr val="121212"/>
                </a:solidFill>
                <a:latin typeface="Calibri Light" panose="020F0302020204030204" pitchFamily="34" charset="0"/>
              </a:rPr>
              <a:t> leves gerenciadas pela JVM, não pelo Sistema Operacional. Você pode criar até milhões delas utilizando todo o potencial de memória e processamento. Ideais para aplicações </a:t>
            </a:r>
            <a:r>
              <a:rPr lang="pt-BR" sz="2000" i="1" dirty="0">
                <a:solidFill>
                  <a:srgbClr val="121212"/>
                </a:solidFill>
                <a:latin typeface="Calibri Light" panose="020F0302020204030204" pitchFamily="34" charset="0"/>
              </a:rPr>
              <a:t>I/O-</a:t>
            </a:r>
            <a:r>
              <a:rPr lang="pt-BR" sz="2000" i="1" dirty="0" err="1">
                <a:solidFill>
                  <a:srgbClr val="121212"/>
                </a:solidFill>
                <a:latin typeface="Calibri Light" panose="020F0302020204030204" pitchFamily="34" charset="0"/>
              </a:rPr>
              <a:t>bound</a:t>
            </a:r>
            <a:r>
              <a:rPr lang="pt-BR" sz="2000" i="1" dirty="0">
                <a:solidFill>
                  <a:srgbClr val="121212"/>
                </a:solidFill>
                <a:latin typeface="Calibri Light" panose="020F0302020204030204" pitchFamily="34" charset="0"/>
              </a:rPr>
              <a:t> </a:t>
            </a:r>
            <a:r>
              <a:rPr lang="pt-BR" sz="2000" dirty="0">
                <a:solidFill>
                  <a:srgbClr val="121212"/>
                </a:solidFill>
                <a:latin typeface="Calibri Light" panose="020F0302020204030204" pitchFamily="34" charset="0"/>
              </a:rPr>
              <a:t>como APIs REST e microsserviços.</a:t>
            </a:r>
          </a:p>
        </p:txBody>
      </p:sp>
      <p:pic>
        <p:nvPicPr>
          <p:cNvPr id="15" name="Imagem 14" descr="Código Java com exemplo de uso de Virtual Threads para executar 10.000 tarefas paralelas simulando treino de samurais, destacando medição de tempo de execução. Estrutura inclui método main com Executor para gerenciamento automático de threads e método auxiliar que simula treino rápido com pausa de 10 ms.">
            <a:extLst>
              <a:ext uri="{FF2B5EF4-FFF2-40B4-BE49-F238E27FC236}">
                <a16:creationId xmlns:a16="http://schemas.microsoft.com/office/drawing/2014/main" id="{382638EF-E6E3-56A2-1DFF-D402B31151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6247" y="4382367"/>
            <a:ext cx="8087753" cy="6568833"/>
          </a:xfrm>
          <a:prstGeom prst="rect">
            <a:avLst/>
          </a:prstGeom>
        </p:spPr>
      </p:pic>
      <p:pic>
        <p:nvPicPr>
          <p:cNvPr id="17" name="Imagem 16" descr="Captura de tela de um terminal mostrando uma lista de usuários &quot;Samurai&quot; que completaram um treino, com números de identificação variados. Abaixo da lista, há um tempo de execução registrado de 365 ms e uma mensagem indicando que tarefas leves foram gerenciadas pela JVM.">
            <a:extLst>
              <a:ext uri="{FF2B5EF4-FFF2-40B4-BE49-F238E27FC236}">
                <a16:creationId xmlns:a16="http://schemas.microsoft.com/office/drawing/2014/main" id="{4F836439-EDBF-33A6-CB7A-629B876171AA}"/>
              </a:ext>
            </a:extLst>
          </p:cNvPr>
          <p:cNvPicPr>
            <a:picLocks noChangeAspect="1"/>
          </p:cNvPicPr>
          <p:nvPr/>
        </p:nvPicPr>
        <p:blipFill>
          <a:blip r:embed="rId3"/>
          <a:stretch>
            <a:fillRect/>
          </a:stretch>
        </p:blipFill>
        <p:spPr>
          <a:xfrm>
            <a:off x="4490908" y="9872133"/>
            <a:ext cx="4620433" cy="2020374"/>
          </a:xfrm>
          <a:prstGeom prst="rect">
            <a:avLst/>
          </a:prstGeom>
          <a:ln w="38100">
            <a:solidFill>
              <a:srgbClr val="BDBDBD"/>
            </a:solid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AccentBar">
            <a:extLst>
              <a:ext uri="{C183D7F6-B498-43B3-948B-1728B52AA6E4}">
                <adec:decorative xmlns:adec="http://schemas.microsoft.com/office/drawing/2017/decorative" val="1"/>
              </a:ext>
            </a:extLst>
          </p:cNvPr>
          <p:cNvSpPr/>
          <p:nvPr/>
        </p:nvSpPr>
        <p:spPr>
          <a:xfrm>
            <a:off x="476249" y="0"/>
            <a:ext cx="72000" cy="1946064"/>
          </a:xfrm>
          <a:prstGeom prst="rect">
            <a:avLst/>
          </a:prstGeom>
          <a:gradFill flip="none" rotWithShape="1">
            <a:gsLst>
              <a:gs pos="0">
                <a:srgbClr val="E2AE4E"/>
              </a:gs>
              <a:gs pos="60000">
                <a:srgbClr val="B71C1C"/>
              </a:gs>
              <a:gs pos="100000">
                <a:srgbClr val="121212"/>
              </a:gs>
            </a:gsLst>
            <a:lin ang="5400000" scaled="1"/>
            <a:tileRect/>
          </a:gradFill>
          <a:ln>
            <a:noFill/>
          </a:ln>
        </p:spPr>
        <p:txBody>
          <a:bodyPr rtlCol="0" anchor="ctr"/>
          <a:lstStyle/>
          <a:p>
            <a:pPr algn="ctr"/>
            <a:endParaRPr lang="pt-BR"/>
          </a:p>
        </p:txBody>
      </p:sp>
      <p:sp>
        <p:nvSpPr>
          <p:cNvPr id="5" name="Footer">
            <a:extLst>
              <a:ext uri="{C183D7F6-B498-43B3-948B-1728B52AA6E4}">
                <adec:decorative xmlns:adec="http://schemas.microsoft.com/office/drawing/2017/decorative" val="1"/>
              </a:ext>
            </a:extLst>
          </p:cNvPr>
          <p:cNvSpPr>
            <a:spLocks noGrp="1"/>
          </p:cNvSpPr>
          <p:nvPr>
            <p:ph type="ftr" sz="quarter" idx="11"/>
          </p:nvPr>
        </p:nvSpPr>
        <p:spPr/>
        <p:txBody>
          <a:bodyPr/>
          <a:lstStyle/>
          <a:p>
            <a:r>
              <a:rPr lang="pt-BR" dirty="0">
                <a:solidFill>
                  <a:srgbClr val="BDBDBD"/>
                </a:solidFill>
              </a:rPr>
              <a:t>JAVA BUSHIDŌ</a:t>
            </a:r>
          </a:p>
        </p:txBody>
      </p:sp>
      <p:sp>
        <p:nvSpPr>
          <p:cNvPr id="10" name="SlideNum">
            <a:extLst>
              <a:ext uri="{C183D7F6-B498-43B3-948B-1728B52AA6E4}">
                <adec:decorative xmlns:adec="http://schemas.microsoft.com/office/drawing/2017/decorative" val="1"/>
              </a:ext>
            </a:extLst>
          </p:cNvPr>
          <p:cNvSpPr>
            <a:spLocks noGrp="1"/>
          </p:cNvSpPr>
          <p:nvPr>
            <p:ph type="sldNum" sz="quarter" idx="12"/>
          </p:nvPr>
        </p:nvSpPr>
        <p:spPr/>
        <p:txBody>
          <a:bodyPr/>
          <a:lstStyle/>
          <a:p>
            <a:fld id="{50C1CB04-2BE3-4164-84E0-A56E2E41F695}" type="slidenum">
              <a:rPr lang="pt-BR" smtClean="0"/>
              <a:t>25</a:t>
            </a:fld>
            <a:endParaRPr lang="pt-BR" dirty="0"/>
          </a:p>
        </p:txBody>
      </p:sp>
      <p:sp>
        <p:nvSpPr>
          <p:cNvPr id="6" name="Title"/>
          <p:cNvSpPr txBox="1">
            <a:spLocks noGrp="1"/>
          </p:cNvSpPr>
          <p:nvPr>
            <p:ph type="title" idx="4294967295"/>
          </p:nvPr>
        </p:nvSpPr>
        <p:spPr>
          <a:xfrm>
            <a:off x="819150" y="524114"/>
            <a:ext cx="8292192" cy="1200329"/>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pt-BR" sz="3600" b="1" i="0" u="none" strike="noStrike" kern="1200" cap="none" spc="0" normalizeH="0" baseline="0" noProof="0" dirty="0">
                <a:ln>
                  <a:noFill/>
                </a:ln>
                <a:solidFill>
                  <a:srgbClr val="B71C1C"/>
                </a:solidFill>
                <a:effectLst/>
                <a:uLnTx/>
                <a:uFillTx/>
                <a:latin typeface="Arial Black" panose="020B0A04020102020204" pitchFamily="34" charset="0"/>
                <a:ea typeface="+mn-ea"/>
                <a:cs typeface="+mn-cs"/>
              </a:rPr>
              <a:t>Java 21 | </a:t>
            </a:r>
            <a:r>
              <a:rPr kumimoji="0" lang="pt-BR" sz="3600" b="1" i="0" u="none" strike="noStrike" kern="1200" cap="none" spc="0" normalizeH="0" baseline="0" noProof="0" dirty="0" err="1">
                <a:ln>
                  <a:noFill/>
                </a:ln>
                <a:solidFill>
                  <a:srgbClr val="B71C1C"/>
                </a:solidFill>
                <a:effectLst/>
                <a:uLnTx/>
                <a:uFillTx/>
                <a:latin typeface="Arial Black" panose="020B0A04020102020204" pitchFamily="34" charset="0"/>
                <a:ea typeface="+mn-ea"/>
                <a:cs typeface="+mn-cs"/>
              </a:rPr>
              <a:t>Pattern</a:t>
            </a:r>
            <a:r>
              <a:rPr kumimoji="0" lang="pt-BR" sz="3600" b="1" i="0" u="none" strike="noStrike" kern="1200" cap="none" spc="0" normalizeH="0" baseline="0" noProof="0" dirty="0">
                <a:ln>
                  <a:noFill/>
                </a:ln>
                <a:solidFill>
                  <a:srgbClr val="B71C1C"/>
                </a:solidFill>
                <a:effectLst/>
                <a:uLnTx/>
                <a:uFillTx/>
                <a:latin typeface="Arial Black" panose="020B0A04020102020204" pitchFamily="34" charset="0"/>
                <a:ea typeface="+mn-ea"/>
                <a:cs typeface="+mn-cs"/>
              </a:rPr>
              <a:t> </a:t>
            </a:r>
            <a:r>
              <a:rPr kumimoji="0" lang="pt-BR" sz="3600" b="1" i="0" u="none" strike="noStrike" kern="1200" cap="none" spc="0" normalizeH="0" baseline="0" noProof="0" dirty="0" err="1">
                <a:ln>
                  <a:noFill/>
                </a:ln>
                <a:solidFill>
                  <a:srgbClr val="B71C1C"/>
                </a:solidFill>
                <a:effectLst/>
                <a:uLnTx/>
                <a:uFillTx/>
                <a:latin typeface="Arial Black" panose="020B0A04020102020204" pitchFamily="34" charset="0"/>
                <a:ea typeface="+mn-ea"/>
                <a:cs typeface="+mn-cs"/>
              </a:rPr>
              <a:t>Matching</a:t>
            </a:r>
            <a:r>
              <a:rPr kumimoji="0" lang="pt-BR" sz="3600" b="1" i="0" u="none" strike="noStrike" kern="1200" cap="none" spc="0" normalizeH="0" baseline="0" noProof="0" dirty="0">
                <a:ln>
                  <a:noFill/>
                </a:ln>
                <a:solidFill>
                  <a:srgbClr val="B71C1C"/>
                </a:solidFill>
                <a:effectLst/>
                <a:uLnTx/>
                <a:uFillTx/>
                <a:latin typeface="Arial Black" panose="020B0A04020102020204" pitchFamily="34" charset="0"/>
                <a:ea typeface="+mn-ea"/>
                <a:cs typeface="+mn-cs"/>
              </a:rPr>
              <a:t> no switch</a:t>
            </a:r>
          </a:p>
        </p:txBody>
      </p:sp>
      <p:sp>
        <p:nvSpPr>
          <p:cNvPr id="14" name="Subtitle">
            <a:extLst>
              <a:ext uri="{FF2B5EF4-FFF2-40B4-BE49-F238E27FC236}">
                <a16:creationId xmlns:a16="http://schemas.microsoft.com/office/drawing/2014/main" id="{AF4D4589-00B1-5BBC-348C-ECA1355117D9}"/>
              </a:ext>
            </a:extLst>
          </p:cNvPr>
          <p:cNvSpPr txBox="1"/>
          <p:nvPr/>
        </p:nvSpPr>
        <p:spPr>
          <a:xfrm>
            <a:off x="476249" y="2024555"/>
            <a:ext cx="8635093" cy="523220"/>
          </a:xfrm>
          <a:prstGeom prst="rect">
            <a:avLst/>
          </a:prstGeom>
          <a:noFill/>
        </p:spPr>
        <p:txBody>
          <a:bodyPr wrap="square" rtlCol="0">
            <a:spAutoFit/>
          </a:bodyPr>
          <a:lstStyle/>
          <a:p>
            <a:r>
              <a:rPr lang="pt-BR" sz="2800" dirty="0">
                <a:solidFill>
                  <a:srgbClr val="E2AE4E"/>
                </a:solidFill>
                <a:latin typeface="Calibri Light" panose="020F0302020204030204" pitchFamily="34" charset="0"/>
              </a:rPr>
              <a:t>O Corte Preciso</a:t>
            </a:r>
          </a:p>
        </p:txBody>
      </p:sp>
      <p:sp>
        <p:nvSpPr>
          <p:cNvPr id="15" name="Body">
            <a:extLst>
              <a:ext uri="{FF2B5EF4-FFF2-40B4-BE49-F238E27FC236}">
                <a16:creationId xmlns:a16="http://schemas.microsoft.com/office/drawing/2014/main" id="{7E148720-B28E-FE3C-44E5-B443D37F88FE}"/>
              </a:ext>
            </a:extLst>
          </p:cNvPr>
          <p:cNvSpPr txBox="1"/>
          <p:nvPr/>
        </p:nvSpPr>
        <p:spPr>
          <a:xfrm>
            <a:off x="476249" y="2800000"/>
            <a:ext cx="8635092" cy="1175706"/>
          </a:xfrm>
          <a:prstGeom prst="rect">
            <a:avLst/>
          </a:prstGeom>
          <a:noFill/>
        </p:spPr>
        <p:txBody>
          <a:bodyPr wrap="square" rtlCol="0">
            <a:spAutoFit/>
          </a:bodyPr>
          <a:lstStyle/>
          <a:p>
            <a:pPr>
              <a:lnSpc>
                <a:spcPct val="120000"/>
              </a:lnSpc>
            </a:pPr>
            <a:r>
              <a:rPr lang="pt-BR" sz="2000" dirty="0">
                <a:solidFill>
                  <a:srgbClr val="121212"/>
                </a:solidFill>
                <a:latin typeface="Calibri Light" panose="020F0302020204030204" pitchFamily="34" charset="0"/>
              </a:rPr>
              <a:t>O </a:t>
            </a:r>
            <a:r>
              <a:rPr lang="pt-BR" sz="2000" dirty="0">
                <a:solidFill>
                  <a:srgbClr val="121212"/>
                </a:solidFill>
                <a:latin typeface="Consolas" panose="020B0609020204030204" pitchFamily="49" charset="0"/>
              </a:rPr>
              <a:t>switch</a:t>
            </a:r>
            <a:r>
              <a:rPr lang="pt-BR" sz="2000" dirty="0">
                <a:solidFill>
                  <a:srgbClr val="121212"/>
                </a:solidFill>
                <a:latin typeface="Calibri Light" panose="020F0302020204030204" pitchFamily="34" charset="0"/>
              </a:rPr>
              <a:t> agora suporta </a:t>
            </a:r>
            <a:r>
              <a:rPr lang="pt-BR" sz="2000" i="1" dirty="0" err="1">
                <a:solidFill>
                  <a:srgbClr val="121212"/>
                </a:solidFill>
                <a:latin typeface="Calibri Light" panose="020F0302020204030204" pitchFamily="34" charset="0"/>
              </a:rPr>
              <a:t>pattern</a:t>
            </a:r>
            <a:r>
              <a:rPr lang="pt-BR" sz="2000" i="1" dirty="0">
                <a:solidFill>
                  <a:srgbClr val="121212"/>
                </a:solidFill>
                <a:latin typeface="Calibri Light" panose="020F0302020204030204" pitchFamily="34" charset="0"/>
              </a:rPr>
              <a:t> </a:t>
            </a:r>
            <a:r>
              <a:rPr lang="pt-BR" sz="2000" i="1" dirty="0" err="1">
                <a:solidFill>
                  <a:srgbClr val="121212"/>
                </a:solidFill>
                <a:latin typeface="Calibri Light" panose="020F0302020204030204" pitchFamily="34" charset="0"/>
              </a:rPr>
              <a:t>matching</a:t>
            </a:r>
            <a:r>
              <a:rPr lang="pt-BR" sz="2000" i="1" dirty="0">
                <a:solidFill>
                  <a:srgbClr val="121212"/>
                </a:solidFill>
                <a:latin typeface="Calibri Light" panose="020F0302020204030204" pitchFamily="34" charset="0"/>
              </a:rPr>
              <a:t> </a:t>
            </a:r>
            <a:r>
              <a:rPr lang="pt-BR" sz="2000" dirty="0">
                <a:solidFill>
                  <a:srgbClr val="121212"/>
                </a:solidFill>
                <a:latin typeface="Calibri Light" panose="020F0302020204030204" pitchFamily="34" charset="0"/>
              </a:rPr>
              <a:t>com tipos, condições e </a:t>
            </a:r>
            <a:r>
              <a:rPr lang="pt-BR" sz="2000" i="1" dirty="0" err="1">
                <a:solidFill>
                  <a:srgbClr val="121212"/>
                </a:solidFill>
                <a:latin typeface="Calibri Light" panose="020F0302020204030204" pitchFamily="34" charset="0"/>
              </a:rPr>
              <a:t>null</a:t>
            </a:r>
            <a:r>
              <a:rPr lang="pt-BR" sz="2000" dirty="0">
                <a:solidFill>
                  <a:srgbClr val="121212"/>
                </a:solidFill>
                <a:latin typeface="Calibri Light" panose="020F0302020204030204" pitchFamily="34" charset="0"/>
              </a:rPr>
              <a:t>. Combinado com </a:t>
            </a:r>
            <a:r>
              <a:rPr lang="pt-BR" sz="2000" i="1" dirty="0" err="1">
                <a:solidFill>
                  <a:srgbClr val="121212"/>
                </a:solidFill>
                <a:latin typeface="Calibri Light" panose="020F0302020204030204" pitchFamily="34" charset="0"/>
              </a:rPr>
              <a:t>sealed</a:t>
            </a:r>
            <a:r>
              <a:rPr lang="pt-BR" sz="2000" dirty="0">
                <a:solidFill>
                  <a:srgbClr val="121212"/>
                </a:solidFill>
                <a:latin typeface="Calibri Light" panose="020F0302020204030204" pitchFamily="34" charset="0"/>
              </a:rPr>
              <a:t> </a:t>
            </a:r>
            <a:r>
              <a:rPr lang="pt-BR" sz="2000" i="1" dirty="0">
                <a:solidFill>
                  <a:srgbClr val="121212"/>
                </a:solidFill>
                <a:latin typeface="Calibri Light" panose="020F0302020204030204" pitchFamily="34" charset="0"/>
              </a:rPr>
              <a:t>classes</a:t>
            </a:r>
            <a:r>
              <a:rPr lang="pt-BR" sz="2000" dirty="0">
                <a:solidFill>
                  <a:srgbClr val="121212"/>
                </a:solidFill>
                <a:latin typeface="Calibri Light" panose="020F0302020204030204" pitchFamily="34" charset="0"/>
              </a:rPr>
              <a:t>, o compilador verifica se todos os casos foram cobertos, adeus cadeias de </a:t>
            </a:r>
            <a:r>
              <a:rPr lang="pt-BR" sz="2000" i="1" dirty="0" err="1">
                <a:solidFill>
                  <a:srgbClr val="121212"/>
                </a:solidFill>
                <a:latin typeface="Calibri Light" panose="020F0302020204030204" pitchFamily="34" charset="0"/>
              </a:rPr>
              <a:t>if</a:t>
            </a:r>
            <a:r>
              <a:rPr lang="pt-BR" sz="2000" i="1" dirty="0">
                <a:solidFill>
                  <a:srgbClr val="121212"/>
                </a:solidFill>
                <a:latin typeface="Calibri Light" panose="020F0302020204030204" pitchFamily="34" charset="0"/>
              </a:rPr>
              <a:t>/</a:t>
            </a:r>
            <a:r>
              <a:rPr lang="pt-BR" sz="2000" i="1" dirty="0" err="1">
                <a:solidFill>
                  <a:srgbClr val="121212"/>
                </a:solidFill>
                <a:latin typeface="Calibri Light" panose="020F0302020204030204" pitchFamily="34" charset="0"/>
              </a:rPr>
              <a:t>else</a:t>
            </a:r>
            <a:r>
              <a:rPr lang="pt-BR" sz="2000" i="1" dirty="0">
                <a:solidFill>
                  <a:srgbClr val="121212"/>
                </a:solidFill>
                <a:latin typeface="Calibri Light" panose="020F0302020204030204" pitchFamily="34" charset="0"/>
              </a:rPr>
              <a:t> </a:t>
            </a:r>
            <a:r>
              <a:rPr lang="pt-BR" sz="2000" dirty="0">
                <a:solidFill>
                  <a:srgbClr val="121212"/>
                </a:solidFill>
                <a:latin typeface="Calibri Light" panose="020F0302020204030204" pitchFamily="34" charset="0"/>
              </a:rPr>
              <a:t>com </a:t>
            </a:r>
            <a:r>
              <a:rPr lang="pt-BR" sz="2000" i="1" dirty="0" err="1">
                <a:solidFill>
                  <a:srgbClr val="121212"/>
                </a:solidFill>
                <a:latin typeface="Calibri Light" panose="020F0302020204030204" pitchFamily="34" charset="0"/>
              </a:rPr>
              <a:t>instanceof</a:t>
            </a:r>
            <a:r>
              <a:rPr lang="pt-BR" sz="2000" dirty="0">
                <a:solidFill>
                  <a:srgbClr val="121212"/>
                </a:solidFill>
                <a:latin typeface="Calibri Light" panose="020F0302020204030204" pitchFamily="34" charset="0"/>
              </a:rPr>
              <a:t>.</a:t>
            </a:r>
          </a:p>
        </p:txBody>
      </p:sp>
      <p:pic>
        <p:nvPicPr>
          <p:cNvPr id="13" name="Imagem 12" descr="Código Java com exemplo de uso de pattern matching em switch para decidir próximo movimento de combate entre classes seladas SamuraiAtaque e SamuraiDefesa. Destacam-se declarações de guardas, métodos que imprimem nomes e próximos movimentos baseados em dano ou armadura, com casos específicos para executar ataque supremo, preparar ataque rápido, manter posição defensiva ou avaliar situação.">
            <a:extLst>
              <a:ext uri="{FF2B5EF4-FFF2-40B4-BE49-F238E27FC236}">
                <a16:creationId xmlns:a16="http://schemas.microsoft.com/office/drawing/2014/main" id="{BD0DFA70-F5EA-4317-AF71-527F8E01937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6249" y="4056599"/>
            <a:ext cx="7804151" cy="7199098"/>
          </a:xfrm>
          <a:prstGeom prst="rect">
            <a:avLst/>
          </a:prstGeom>
        </p:spPr>
      </p:pic>
      <p:pic>
        <p:nvPicPr>
          <p:cNvPr id="11" name="Imagem 10" descr="Tela de texto exibindo informações de um jogo ou simulação de batalha entre atacante Musashi e defensor Takeda. Detalha próximos movimentos de cada personagem: Musashi vai executar ataque supremo e Takeda manter posição defensiva.">
            <a:extLst>
              <a:ext uri="{FF2B5EF4-FFF2-40B4-BE49-F238E27FC236}">
                <a16:creationId xmlns:a16="http://schemas.microsoft.com/office/drawing/2014/main" id="{AA6FD7A8-A3D1-7182-5075-926AF674D3BE}"/>
              </a:ext>
            </a:extLst>
          </p:cNvPr>
          <p:cNvPicPr>
            <a:picLocks noChangeAspect="1"/>
          </p:cNvPicPr>
          <p:nvPr/>
        </p:nvPicPr>
        <p:blipFill>
          <a:blip r:embed="rId3"/>
          <a:stretch>
            <a:fillRect/>
          </a:stretch>
        </p:blipFill>
        <p:spPr>
          <a:xfrm>
            <a:off x="4800599" y="10404785"/>
            <a:ext cx="4140519" cy="1247988"/>
          </a:xfrm>
          <a:prstGeom prst="rect">
            <a:avLst/>
          </a:prstGeom>
          <a:ln w="38100">
            <a:solidFill>
              <a:srgbClr val="BDBDBD"/>
            </a:solid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AccentBar">
            <a:extLst>
              <a:ext uri="{C183D7F6-B498-43B3-948B-1728B52AA6E4}">
                <adec:decorative xmlns:adec="http://schemas.microsoft.com/office/drawing/2017/decorative" val="1"/>
              </a:ext>
            </a:extLst>
          </p:cNvPr>
          <p:cNvSpPr/>
          <p:nvPr/>
        </p:nvSpPr>
        <p:spPr>
          <a:xfrm>
            <a:off x="476249" y="0"/>
            <a:ext cx="72000" cy="1946064"/>
          </a:xfrm>
          <a:prstGeom prst="rect">
            <a:avLst/>
          </a:prstGeom>
          <a:gradFill flip="none" rotWithShape="1">
            <a:gsLst>
              <a:gs pos="0">
                <a:srgbClr val="E2AE4E"/>
              </a:gs>
              <a:gs pos="60000">
                <a:srgbClr val="B71C1C"/>
              </a:gs>
              <a:gs pos="100000">
                <a:srgbClr val="121212"/>
              </a:gs>
            </a:gsLst>
            <a:lin ang="5400000" scaled="1"/>
            <a:tileRect/>
          </a:gradFill>
          <a:ln>
            <a:noFill/>
          </a:ln>
        </p:spPr>
        <p:txBody>
          <a:bodyPr rtlCol="0" anchor="ctr"/>
          <a:lstStyle/>
          <a:p>
            <a:pPr algn="ctr"/>
            <a:endParaRPr lang="pt-BR"/>
          </a:p>
        </p:txBody>
      </p:sp>
      <p:sp>
        <p:nvSpPr>
          <p:cNvPr id="5" name="Footer">
            <a:extLst>
              <a:ext uri="{C183D7F6-B498-43B3-948B-1728B52AA6E4}">
                <adec:decorative xmlns:adec="http://schemas.microsoft.com/office/drawing/2017/decorative" val="1"/>
              </a:ext>
            </a:extLst>
          </p:cNvPr>
          <p:cNvSpPr>
            <a:spLocks noGrp="1"/>
          </p:cNvSpPr>
          <p:nvPr>
            <p:ph type="ftr" sz="quarter" idx="11"/>
          </p:nvPr>
        </p:nvSpPr>
        <p:spPr/>
        <p:txBody>
          <a:bodyPr/>
          <a:lstStyle/>
          <a:p>
            <a:r>
              <a:rPr lang="pt-BR" dirty="0">
                <a:solidFill>
                  <a:srgbClr val="BDBDBD"/>
                </a:solidFill>
              </a:rPr>
              <a:t>JAVA BUSHIDŌ</a:t>
            </a:r>
          </a:p>
        </p:txBody>
      </p:sp>
      <p:sp>
        <p:nvSpPr>
          <p:cNvPr id="10" name="SlideNum">
            <a:extLst>
              <a:ext uri="{C183D7F6-B498-43B3-948B-1728B52AA6E4}">
                <adec:decorative xmlns:adec="http://schemas.microsoft.com/office/drawing/2017/decorative" val="1"/>
              </a:ext>
            </a:extLst>
          </p:cNvPr>
          <p:cNvSpPr>
            <a:spLocks noGrp="1"/>
          </p:cNvSpPr>
          <p:nvPr>
            <p:ph type="sldNum" sz="quarter" idx="12"/>
          </p:nvPr>
        </p:nvSpPr>
        <p:spPr/>
        <p:txBody>
          <a:bodyPr/>
          <a:lstStyle/>
          <a:p>
            <a:fld id="{50C1CB04-2BE3-4164-84E0-A56E2E41F695}" type="slidenum">
              <a:rPr lang="pt-BR" smtClean="0"/>
              <a:t>26</a:t>
            </a:fld>
            <a:endParaRPr lang="pt-BR" dirty="0"/>
          </a:p>
        </p:txBody>
      </p:sp>
      <p:sp>
        <p:nvSpPr>
          <p:cNvPr id="6" name="Title"/>
          <p:cNvSpPr txBox="1">
            <a:spLocks noGrp="1"/>
          </p:cNvSpPr>
          <p:nvPr>
            <p:ph type="title" idx="4294967295"/>
          </p:nvPr>
        </p:nvSpPr>
        <p:spPr>
          <a:xfrm>
            <a:off x="819150" y="524114"/>
            <a:ext cx="8292192" cy="1200329"/>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pt-BR" sz="3600" b="1" i="0" u="none" strike="noStrike" kern="1200" cap="none" spc="0" normalizeH="0" baseline="0" noProof="0" dirty="0">
                <a:ln>
                  <a:noFill/>
                </a:ln>
                <a:solidFill>
                  <a:srgbClr val="B71C1C"/>
                </a:solidFill>
                <a:effectLst/>
                <a:uLnTx/>
                <a:uFillTx/>
                <a:latin typeface="Arial Black" panose="020B0A04020102020204" pitchFamily="34" charset="0"/>
                <a:ea typeface="+mn-ea"/>
                <a:cs typeface="+mn-cs"/>
              </a:rPr>
              <a:t>Java 21 | </a:t>
            </a:r>
            <a:r>
              <a:rPr kumimoji="0" lang="pt-BR" sz="3600" b="1" i="0" u="none" strike="noStrike" kern="1200" cap="none" spc="0" normalizeH="0" baseline="0" noProof="0" dirty="0" err="1">
                <a:ln>
                  <a:noFill/>
                </a:ln>
                <a:solidFill>
                  <a:srgbClr val="B71C1C"/>
                </a:solidFill>
                <a:effectLst/>
                <a:uLnTx/>
                <a:uFillTx/>
                <a:latin typeface="Arial Black" panose="020B0A04020102020204" pitchFamily="34" charset="0"/>
                <a:ea typeface="+mn-ea"/>
                <a:cs typeface="+mn-cs"/>
              </a:rPr>
              <a:t>Sequenced</a:t>
            </a:r>
            <a:r>
              <a:rPr kumimoji="0" lang="pt-BR" sz="3600" b="1" i="0" u="none" strike="noStrike" kern="1200" cap="none" spc="0" normalizeH="0" baseline="0" noProof="0" dirty="0">
                <a:ln>
                  <a:noFill/>
                </a:ln>
                <a:solidFill>
                  <a:srgbClr val="B71C1C"/>
                </a:solidFill>
                <a:effectLst/>
                <a:uLnTx/>
                <a:uFillTx/>
                <a:latin typeface="Arial Black" panose="020B0A04020102020204" pitchFamily="34" charset="0"/>
                <a:ea typeface="+mn-ea"/>
                <a:cs typeface="+mn-cs"/>
              </a:rPr>
              <a:t> Collections</a:t>
            </a:r>
          </a:p>
        </p:txBody>
      </p:sp>
      <p:sp>
        <p:nvSpPr>
          <p:cNvPr id="2" name="Subtitle">
            <a:extLst>
              <a:ext uri="{FF2B5EF4-FFF2-40B4-BE49-F238E27FC236}">
                <a16:creationId xmlns:a16="http://schemas.microsoft.com/office/drawing/2014/main" id="{E4531B9B-84B0-4B2E-4D64-3E3996717849}"/>
              </a:ext>
            </a:extLst>
          </p:cNvPr>
          <p:cNvSpPr txBox="1"/>
          <p:nvPr/>
        </p:nvSpPr>
        <p:spPr>
          <a:xfrm>
            <a:off x="476249" y="2024555"/>
            <a:ext cx="8635093" cy="523220"/>
          </a:xfrm>
          <a:prstGeom prst="rect">
            <a:avLst/>
          </a:prstGeom>
          <a:noFill/>
        </p:spPr>
        <p:txBody>
          <a:bodyPr wrap="square" rtlCol="0">
            <a:spAutoFit/>
          </a:bodyPr>
          <a:lstStyle/>
          <a:p>
            <a:r>
              <a:rPr lang="pt-BR" sz="2800" dirty="0">
                <a:solidFill>
                  <a:srgbClr val="E2AE4E"/>
                </a:solidFill>
                <a:latin typeface="Calibri Light" panose="020F0302020204030204" pitchFamily="34" charset="0"/>
              </a:rPr>
              <a:t>A Ordem do Dojō</a:t>
            </a:r>
          </a:p>
        </p:txBody>
      </p:sp>
      <p:sp>
        <p:nvSpPr>
          <p:cNvPr id="3" name="Body">
            <a:extLst>
              <a:ext uri="{FF2B5EF4-FFF2-40B4-BE49-F238E27FC236}">
                <a16:creationId xmlns:a16="http://schemas.microsoft.com/office/drawing/2014/main" id="{4D21AC63-D6EE-137E-99D9-968DF207F309}"/>
              </a:ext>
            </a:extLst>
          </p:cNvPr>
          <p:cNvSpPr txBox="1"/>
          <p:nvPr/>
        </p:nvSpPr>
        <p:spPr>
          <a:xfrm>
            <a:off x="476249" y="2800000"/>
            <a:ext cx="8635092" cy="1175706"/>
          </a:xfrm>
          <a:prstGeom prst="rect">
            <a:avLst/>
          </a:prstGeom>
          <a:noFill/>
        </p:spPr>
        <p:txBody>
          <a:bodyPr wrap="square" rtlCol="0">
            <a:spAutoFit/>
          </a:bodyPr>
          <a:lstStyle/>
          <a:p>
            <a:pPr>
              <a:lnSpc>
                <a:spcPct val="120000"/>
              </a:lnSpc>
            </a:pPr>
            <a:r>
              <a:rPr lang="pt-BR" sz="2000" dirty="0">
                <a:solidFill>
                  <a:srgbClr val="121212"/>
                </a:solidFill>
                <a:latin typeface="Calibri Light" panose="020F0302020204030204" pitchFamily="34" charset="0"/>
              </a:rPr>
              <a:t>A interface </a:t>
            </a:r>
            <a:r>
              <a:rPr lang="pt-BR" sz="2000" i="1" dirty="0" err="1">
                <a:solidFill>
                  <a:srgbClr val="121212"/>
                </a:solidFill>
                <a:latin typeface="Calibri Light" panose="020F0302020204030204" pitchFamily="34" charset="0"/>
              </a:rPr>
              <a:t>SequencedCollection</a:t>
            </a:r>
            <a:r>
              <a:rPr lang="pt-BR" sz="2000" dirty="0">
                <a:solidFill>
                  <a:srgbClr val="121212"/>
                </a:solidFill>
                <a:latin typeface="Calibri Light" panose="020F0302020204030204" pitchFamily="34" charset="0"/>
              </a:rPr>
              <a:t> unifica o acesso a elementos ordenados com </a:t>
            </a:r>
            <a:r>
              <a:rPr lang="pt-BR" sz="2000" i="1" dirty="0" err="1">
                <a:solidFill>
                  <a:srgbClr val="121212"/>
                </a:solidFill>
                <a:latin typeface="Calibri Light" panose="020F0302020204030204" pitchFamily="34" charset="0"/>
              </a:rPr>
              <a:t>getFirst</a:t>
            </a:r>
            <a:r>
              <a:rPr lang="pt-BR" sz="2000" i="1" dirty="0">
                <a:solidFill>
                  <a:srgbClr val="121212"/>
                </a:solidFill>
                <a:latin typeface="Calibri Light" panose="020F0302020204030204" pitchFamily="34" charset="0"/>
              </a:rPr>
              <a:t>()</a:t>
            </a:r>
            <a:r>
              <a:rPr lang="pt-BR" sz="2000" dirty="0">
                <a:solidFill>
                  <a:srgbClr val="121212"/>
                </a:solidFill>
                <a:latin typeface="Calibri Light" panose="020F0302020204030204" pitchFamily="34" charset="0"/>
              </a:rPr>
              <a:t>, </a:t>
            </a:r>
            <a:r>
              <a:rPr lang="pt-BR" sz="2000" i="1" dirty="0" err="1">
                <a:solidFill>
                  <a:srgbClr val="121212"/>
                </a:solidFill>
                <a:latin typeface="Calibri Light" panose="020F0302020204030204" pitchFamily="34" charset="0"/>
              </a:rPr>
              <a:t>getLast</a:t>
            </a:r>
            <a:r>
              <a:rPr lang="pt-BR" sz="2000" i="1" dirty="0">
                <a:solidFill>
                  <a:srgbClr val="121212"/>
                </a:solidFill>
                <a:latin typeface="Calibri Light" panose="020F0302020204030204" pitchFamily="34" charset="0"/>
              </a:rPr>
              <a:t>() </a:t>
            </a:r>
            <a:r>
              <a:rPr lang="pt-BR" sz="2000" dirty="0">
                <a:solidFill>
                  <a:srgbClr val="121212"/>
                </a:solidFill>
                <a:latin typeface="Calibri Light" panose="020F0302020204030204" pitchFamily="34" charset="0"/>
              </a:rPr>
              <a:t>e </a:t>
            </a:r>
            <a:r>
              <a:rPr lang="pt-BR" sz="2000" i="1" dirty="0" err="1">
                <a:solidFill>
                  <a:srgbClr val="121212"/>
                </a:solidFill>
                <a:latin typeface="Calibri Light" panose="020F0302020204030204" pitchFamily="34" charset="0"/>
              </a:rPr>
              <a:t>reversed</a:t>
            </a:r>
            <a:r>
              <a:rPr lang="pt-BR" sz="2000" i="1" dirty="0">
                <a:solidFill>
                  <a:srgbClr val="121212"/>
                </a:solidFill>
                <a:latin typeface="Calibri Light" panose="020F0302020204030204" pitchFamily="34" charset="0"/>
              </a:rPr>
              <a:t>()</a:t>
            </a:r>
            <a:r>
              <a:rPr lang="pt-BR" sz="2000" dirty="0">
                <a:solidFill>
                  <a:srgbClr val="121212"/>
                </a:solidFill>
                <a:latin typeface="Calibri Light" panose="020F0302020204030204" pitchFamily="34" charset="0"/>
              </a:rPr>
              <a:t>. Funciona igual em </a:t>
            </a:r>
            <a:r>
              <a:rPr lang="pt-BR" sz="2000" i="1" dirty="0" err="1">
                <a:solidFill>
                  <a:srgbClr val="121212"/>
                </a:solidFill>
                <a:latin typeface="Calibri Light" panose="020F0302020204030204" pitchFamily="34" charset="0"/>
              </a:rPr>
              <a:t>ArrayList</a:t>
            </a:r>
            <a:r>
              <a:rPr lang="pt-BR" sz="2000" dirty="0">
                <a:solidFill>
                  <a:srgbClr val="121212"/>
                </a:solidFill>
                <a:latin typeface="Calibri Light" panose="020F0302020204030204" pitchFamily="34" charset="0"/>
              </a:rPr>
              <a:t>, </a:t>
            </a:r>
            <a:r>
              <a:rPr lang="pt-BR" sz="2000" i="1" dirty="0" err="1">
                <a:solidFill>
                  <a:srgbClr val="121212"/>
                </a:solidFill>
                <a:latin typeface="Calibri Light" panose="020F0302020204030204" pitchFamily="34" charset="0"/>
              </a:rPr>
              <a:t>LinkedList</a:t>
            </a:r>
            <a:r>
              <a:rPr lang="pt-BR" sz="2000" dirty="0">
                <a:solidFill>
                  <a:srgbClr val="121212"/>
                </a:solidFill>
                <a:latin typeface="Calibri Light" panose="020F0302020204030204" pitchFamily="34" charset="0"/>
              </a:rPr>
              <a:t> ou </a:t>
            </a:r>
            <a:r>
              <a:rPr lang="pt-BR" sz="2000" i="1" dirty="0" err="1">
                <a:solidFill>
                  <a:srgbClr val="121212"/>
                </a:solidFill>
                <a:latin typeface="Calibri Light" panose="020F0302020204030204" pitchFamily="34" charset="0"/>
              </a:rPr>
              <a:t>TreeSet</a:t>
            </a:r>
            <a:r>
              <a:rPr lang="pt-BR" sz="2000" dirty="0">
                <a:solidFill>
                  <a:srgbClr val="121212"/>
                </a:solidFill>
                <a:latin typeface="Calibri Light" panose="020F0302020204030204" pitchFamily="34" charset="0"/>
              </a:rPr>
              <a:t>,</a:t>
            </a:r>
            <a:r>
              <a:rPr lang="pt-BR" sz="2000" i="1" dirty="0">
                <a:solidFill>
                  <a:srgbClr val="121212"/>
                </a:solidFill>
                <a:latin typeface="Calibri Light" panose="020F0302020204030204" pitchFamily="34" charset="0"/>
              </a:rPr>
              <a:t> </a:t>
            </a:r>
            <a:r>
              <a:rPr lang="pt-BR" sz="2000" dirty="0">
                <a:solidFill>
                  <a:srgbClr val="121212"/>
                </a:solidFill>
                <a:latin typeface="Calibri Light" panose="020F0302020204030204" pitchFamily="34" charset="0"/>
              </a:rPr>
              <a:t>é uma API pequena com grande impacto.</a:t>
            </a:r>
          </a:p>
        </p:txBody>
      </p:sp>
      <p:pic>
        <p:nvPicPr>
          <p:cNvPr id="17" name="Imagem 16" descr="Código Java exibindo sequência de ataques em uma lista ligada, com comentários em português explicando a ordem dos ataques. Destaca métodos para obter primeiro ataque, último ataque e sequência reversa, usando cores para diferenciar palavras-chave, comentários e strings.">
            <a:extLst>
              <a:ext uri="{FF2B5EF4-FFF2-40B4-BE49-F238E27FC236}">
                <a16:creationId xmlns:a16="http://schemas.microsoft.com/office/drawing/2014/main" id="{9C38C605-991F-3BC4-AD1F-6D5D6FC5066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6248" y="4134382"/>
            <a:ext cx="7626285" cy="6652716"/>
          </a:xfrm>
          <a:prstGeom prst="rect">
            <a:avLst/>
          </a:prstGeom>
        </p:spPr>
      </p:pic>
      <p:pic>
        <p:nvPicPr>
          <p:cNvPr id="15" name="Imagem 14" descr="Captura de tela de um código de jogo mostrando comandos para ataques: &quot;Primeiro ataque: Saque rápido&quot;, &quot;Golpe final: Golpe final&quot; e &quot;Sequência reversa&quot; com uma lista de movimentos entre colchetes. Texto em fundo preto com letras brancas e azuis, indicando instruções para execução de golpes em sequência.">
            <a:extLst>
              <a:ext uri="{FF2B5EF4-FFF2-40B4-BE49-F238E27FC236}">
                <a16:creationId xmlns:a16="http://schemas.microsoft.com/office/drawing/2014/main" id="{45D0520A-2CE8-2ABD-6BD8-2C20AB4D756D}"/>
              </a:ext>
            </a:extLst>
          </p:cNvPr>
          <p:cNvPicPr>
            <a:picLocks noChangeAspect="1"/>
          </p:cNvPicPr>
          <p:nvPr/>
        </p:nvPicPr>
        <p:blipFill>
          <a:blip r:embed="rId3"/>
          <a:stretch>
            <a:fillRect/>
          </a:stretch>
        </p:blipFill>
        <p:spPr>
          <a:xfrm>
            <a:off x="476249" y="10575726"/>
            <a:ext cx="8603003" cy="837341"/>
          </a:xfrm>
          <a:prstGeom prst="rect">
            <a:avLst/>
          </a:prstGeom>
          <a:ln w="38100">
            <a:solidFill>
              <a:srgbClr val="BDBDBD"/>
            </a:solid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gRect">
            <a:extLst>
              <a:ext uri="{C183D7F6-B498-43B3-948B-1728B52AA6E4}">
                <adec:decorative xmlns:adec="http://schemas.microsoft.com/office/drawing/2017/decorative" val="1"/>
              </a:ext>
            </a:extLst>
          </p:cNvPr>
          <p:cNvSpPr/>
          <p:nvPr/>
        </p:nvSpPr>
        <p:spPr>
          <a:xfrm>
            <a:off x="0" y="0"/>
            <a:ext cx="9601200" cy="12801600"/>
          </a:xfrm>
          <a:prstGeom prst="rect">
            <a:avLst/>
          </a:prstGeom>
          <a:solidFill>
            <a:srgbClr val="121212"/>
          </a:solidFill>
          <a:ln>
            <a:noFill/>
          </a:ln>
        </p:spPr>
        <p:txBody>
          <a:bodyPr rtlCol="0" anchor="ctr"/>
          <a:lstStyle/>
          <a:p>
            <a:pPr algn="ctr"/>
            <a:endParaRPr lang="pt-BR"/>
          </a:p>
        </p:txBody>
      </p:sp>
      <p:sp>
        <p:nvSpPr>
          <p:cNvPr id="5" name="Number" descr="Arco VI"/>
          <p:cNvSpPr txBox="1"/>
          <p:nvPr/>
        </p:nvSpPr>
        <p:spPr>
          <a:xfrm>
            <a:off x="700000" y="200000"/>
            <a:ext cx="8200000" cy="6447919"/>
          </a:xfrm>
          <a:prstGeom prst="rect">
            <a:avLst/>
          </a:prstGeom>
          <a:noFill/>
        </p:spPr>
        <p:txBody>
          <a:bodyPr wrap="square" rtlCol="0">
            <a:spAutoFit/>
          </a:bodyPr>
          <a:lstStyle/>
          <a:p>
            <a:pPr algn="ctr"/>
            <a:r>
              <a:rPr lang="pt-BR" sz="41300" dirty="0">
                <a:ln w="12700">
                  <a:solidFill>
                    <a:srgbClr val="B71C1C"/>
                  </a:solidFill>
                </a:ln>
                <a:noFill/>
                <a:latin typeface="Arial Black" panose="020B0A04020102020204" pitchFamily="34" charset="0"/>
              </a:rPr>
              <a:t>VI</a:t>
            </a:r>
          </a:p>
        </p:txBody>
      </p:sp>
      <p:sp>
        <p:nvSpPr>
          <p:cNvPr id="3" name="Title"/>
          <p:cNvSpPr txBox="1">
            <a:spLocks noGrp="1"/>
          </p:cNvSpPr>
          <p:nvPr>
            <p:ph type="title" idx="4294967295"/>
          </p:nvPr>
        </p:nvSpPr>
        <p:spPr>
          <a:xfrm>
            <a:off x="489857" y="6000000"/>
            <a:ext cx="8621485" cy="2585323"/>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pt-BR" sz="5400" b="0" i="0" u="none" strike="noStrike" kern="1200" cap="none" spc="0" normalizeH="0" baseline="0" noProof="0" dirty="0">
                <a:ln>
                  <a:noFill/>
                </a:ln>
                <a:solidFill>
                  <a:srgbClr val="FFFFFF"/>
                </a:solidFill>
                <a:effectLst/>
                <a:uLnTx/>
                <a:uFillTx/>
                <a:latin typeface="Arial Black" panose="020B0A04020102020204" pitchFamily="34" charset="0"/>
                <a:ea typeface="+mn-ea"/>
                <a:cs typeface="+mn-cs"/>
              </a:rPr>
              <a:t>A LÂMINA</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pt-BR" sz="5400" b="0" i="0" u="none" strike="noStrike" kern="1200" cap="none" spc="0" normalizeH="0" baseline="0" noProof="0" dirty="0">
                <a:ln>
                  <a:noFill/>
                </a:ln>
                <a:solidFill>
                  <a:srgbClr val="FFFFFF"/>
                </a:solidFill>
                <a:effectLst/>
                <a:uLnTx/>
                <a:uFillTx/>
                <a:latin typeface="Arial Black" panose="020B0A04020102020204" pitchFamily="34" charset="0"/>
                <a:ea typeface="+mn-ea"/>
                <a:cs typeface="+mn-cs"/>
              </a:rPr>
              <a:t>AFIADA
JAVA 25</a:t>
            </a:r>
          </a:p>
        </p:txBody>
      </p:sp>
      <p:sp>
        <p:nvSpPr>
          <p:cNvPr id="4" name="GradLine">
            <a:extLst>
              <a:ext uri="{C183D7F6-B498-43B3-948B-1728B52AA6E4}">
                <adec:decorative xmlns:adec="http://schemas.microsoft.com/office/drawing/2017/decorative" val="1"/>
              </a:ext>
            </a:extLst>
          </p:cNvPr>
          <p:cNvSpPr/>
          <p:nvPr/>
        </p:nvSpPr>
        <p:spPr>
          <a:xfrm rot="5400000">
            <a:off x="4757736" y="5600700"/>
            <a:ext cx="182880" cy="7200900"/>
          </a:xfrm>
          <a:prstGeom prst="rect">
            <a:avLst/>
          </a:prstGeom>
          <a:gradFill flip="none" rotWithShape="1">
            <a:gsLst>
              <a:gs pos="0">
                <a:srgbClr val="E2AE4E"/>
              </a:gs>
              <a:gs pos="60000">
                <a:srgbClr val="B71C1C"/>
              </a:gs>
              <a:gs pos="100000">
                <a:srgbClr val="121212"/>
              </a:gs>
            </a:gsLst>
            <a:lin ang="5400000" scaled="1"/>
            <a:tileRect/>
          </a:gradFill>
          <a:ln>
            <a:noFill/>
          </a:ln>
        </p:spPr>
        <p:txBody>
          <a:bodyPr rtlCol="0" anchor="ctr"/>
          <a:lstStyle/>
          <a:p>
            <a:pPr algn="ctr"/>
            <a:endParaRPr lang="pt-BR"/>
          </a:p>
        </p:txBody>
      </p:sp>
      <p:sp>
        <p:nvSpPr>
          <p:cNvPr id="7" name="SlideNum">
            <a:extLst>
              <a:ext uri="{C183D7F6-B498-43B3-948B-1728B52AA6E4}">
                <adec:decorative xmlns:adec="http://schemas.microsoft.com/office/drawing/2017/decorative" val="1"/>
              </a:ext>
            </a:extLst>
          </p:cNvPr>
          <p:cNvSpPr>
            <a:spLocks noGrp="1"/>
          </p:cNvSpPr>
          <p:nvPr>
            <p:ph type="sldNum" sz="quarter" idx="12"/>
          </p:nvPr>
        </p:nvSpPr>
        <p:spPr/>
        <p:txBody>
          <a:bodyPr/>
          <a:lstStyle/>
          <a:p>
            <a:fld id="{50C1CB04-2BE3-4164-84E0-A56E2E41F695}" type="slidenum">
              <a:rPr lang="pt-BR" smtClean="0">
                <a:solidFill>
                  <a:srgbClr val="BDBDBD"/>
                </a:solidFill>
              </a:rPr>
              <a:t>27</a:t>
            </a:fld>
            <a:endParaRPr lang="pt-BR" dirty="0">
              <a:solidFill>
                <a:srgbClr val="BDBDBD"/>
              </a:solidFill>
            </a:endParaRPr>
          </a:p>
        </p:txBody>
      </p:sp>
      <p:sp>
        <p:nvSpPr>
          <p:cNvPr id="8" name="Footer">
            <a:extLst>
              <a:ext uri="{C183D7F6-B498-43B3-948B-1728B52AA6E4}">
                <adec:decorative xmlns:adec="http://schemas.microsoft.com/office/drawing/2017/decorative" val="1"/>
              </a:ext>
            </a:extLst>
          </p:cNvPr>
          <p:cNvSpPr>
            <a:spLocks noGrp="1"/>
          </p:cNvSpPr>
          <p:nvPr>
            <p:ph type="ftr" sz="quarter" idx="11"/>
          </p:nvPr>
        </p:nvSpPr>
        <p:spPr/>
        <p:txBody>
          <a:bodyPr/>
          <a:lstStyle/>
          <a:p>
            <a:r>
              <a:rPr lang="pt-BR" dirty="0">
                <a:solidFill>
                  <a:srgbClr val="BDBDBD"/>
                </a:solidFill>
              </a:rPr>
              <a:t>JAVA BUSHIDŌ</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C21BC20D-EB8A-FE75-03F7-478430FB323E}"/>
              </a:ext>
              <a:ext uri="{C183D7F6-B498-43B3-948B-1728B52AA6E4}">
                <adec:decorative xmlns:adec="http://schemas.microsoft.com/office/drawing/2017/decorative" val="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2781" b="12889"/>
          <a:stretch>
            <a:fillRect/>
          </a:stretch>
        </p:blipFill>
        <p:spPr bwMode="auto">
          <a:xfrm>
            <a:off x="0" y="8518849"/>
            <a:ext cx="9601200" cy="4282751"/>
          </a:xfrm>
          <a:prstGeom prst="rect">
            <a:avLst/>
          </a:prstGeom>
          <a:noFill/>
          <a:extLst>
            <a:ext uri="{909E8E84-426E-40DD-AFC4-6F175D3DCCD1}">
              <a14:hiddenFill xmlns:a14="http://schemas.microsoft.com/office/drawing/2010/main">
                <a:solidFill>
                  <a:srgbClr val="FFFFFF"/>
                </a:solidFill>
              </a14:hiddenFill>
            </a:ext>
          </a:extLst>
        </p:spPr>
      </p:pic>
      <p:sp>
        <p:nvSpPr>
          <p:cNvPr id="6" name="Title"/>
          <p:cNvSpPr txBox="1">
            <a:spLocks noGrp="1"/>
          </p:cNvSpPr>
          <p:nvPr>
            <p:ph type="title" idx="4294967295"/>
          </p:nvPr>
        </p:nvSpPr>
        <p:spPr>
          <a:xfrm>
            <a:off x="819150" y="524114"/>
            <a:ext cx="8292192" cy="646331"/>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pt-BR" sz="3600" b="1" i="0" u="none" strike="noStrike" kern="1200" cap="none" spc="0" normalizeH="0" baseline="0" noProof="0" dirty="0">
                <a:ln>
                  <a:noFill/>
                </a:ln>
                <a:solidFill>
                  <a:srgbClr val="B71C1C"/>
                </a:solidFill>
                <a:effectLst/>
                <a:uLnTx/>
                <a:uFillTx/>
                <a:latin typeface="Arial Black" panose="020B0A04020102020204" pitchFamily="34" charset="0"/>
                <a:ea typeface="+mn-ea"/>
                <a:cs typeface="+mn-cs"/>
              </a:rPr>
              <a:t>Java 25 | Visão Geral</a:t>
            </a:r>
          </a:p>
        </p:txBody>
      </p:sp>
      <p:sp>
        <p:nvSpPr>
          <p:cNvPr id="7" name="Subtitle"/>
          <p:cNvSpPr txBox="1"/>
          <p:nvPr/>
        </p:nvSpPr>
        <p:spPr>
          <a:xfrm>
            <a:off x="476249" y="2024555"/>
            <a:ext cx="8635093" cy="523220"/>
          </a:xfrm>
          <a:prstGeom prst="rect">
            <a:avLst/>
          </a:prstGeom>
          <a:noFill/>
        </p:spPr>
        <p:txBody>
          <a:bodyPr wrap="square" rtlCol="0">
            <a:spAutoFit/>
          </a:bodyPr>
          <a:lstStyle/>
          <a:p>
            <a:r>
              <a:rPr lang="pt-BR" sz="2800" dirty="0">
                <a:solidFill>
                  <a:srgbClr val="E2AE4E"/>
                </a:solidFill>
                <a:latin typeface="Calibri Light" panose="020F0302020204030204" pitchFamily="34" charset="0"/>
              </a:rPr>
              <a:t>Arco VI — A Lâmina Afiada</a:t>
            </a:r>
          </a:p>
        </p:txBody>
      </p:sp>
      <p:sp>
        <p:nvSpPr>
          <p:cNvPr id="8" name="Body"/>
          <p:cNvSpPr txBox="1"/>
          <p:nvPr/>
        </p:nvSpPr>
        <p:spPr>
          <a:xfrm>
            <a:off x="476249" y="2800000"/>
            <a:ext cx="8635092" cy="5066515"/>
          </a:xfrm>
          <a:prstGeom prst="rect">
            <a:avLst/>
          </a:prstGeom>
          <a:noFill/>
        </p:spPr>
        <p:txBody>
          <a:bodyPr wrap="square" rtlCol="0">
            <a:spAutoFit/>
          </a:bodyPr>
          <a:lstStyle/>
          <a:p>
            <a:pPr>
              <a:lnSpc>
                <a:spcPct val="130000"/>
              </a:lnSpc>
              <a:spcAft>
                <a:spcPts val="800"/>
              </a:spcAft>
            </a:pPr>
            <a:r>
              <a:rPr lang="pt-BR" sz="2000" dirty="0">
                <a:solidFill>
                  <a:srgbClr val="121212"/>
                </a:solidFill>
                <a:latin typeface="Calibri Light" panose="020F0302020204030204" pitchFamily="34" charset="0"/>
              </a:rPr>
              <a:t>O Java 25 representa mais um passo no ciclo de evolução semestral que a plataforma adotou desde o Java 9. Nem toda versão traz recursos revolucionários e isso é intencional. Muitas versões focam em consolidar funcionalidades que estavam em </a:t>
            </a:r>
            <a:r>
              <a:rPr lang="pt-BR" sz="2000" i="1" dirty="0">
                <a:solidFill>
                  <a:srgbClr val="121212"/>
                </a:solidFill>
                <a:latin typeface="Calibri Light" panose="020F0302020204030204" pitchFamily="34" charset="0"/>
              </a:rPr>
              <a:t>preview</a:t>
            </a:r>
            <a:r>
              <a:rPr lang="pt-BR" sz="2000" dirty="0">
                <a:solidFill>
                  <a:srgbClr val="121212"/>
                </a:solidFill>
                <a:latin typeface="Calibri Light" panose="020F0302020204030204" pitchFamily="34" charset="0"/>
              </a:rPr>
              <a:t>, melhorar a performance da JVM e refinar a experiência do desenvolvedor.</a:t>
            </a:r>
          </a:p>
          <a:p>
            <a:pPr>
              <a:lnSpc>
                <a:spcPct val="130000"/>
              </a:lnSpc>
              <a:spcAft>
                <a:spcPts val="800"/>
              </a:spcAft>
            </a:pPr>
            <a:r>
              <a:rPr lang="pt-BR" sz="2000" dirty="0">
                <a:solidFill>
                  <a:srgbClr val="121212"/>
                </a:solidFill>
                <a:latin typeface="Calibri Light" panose="020F0302020204030204" pitchFamily="34" charset="0"/>
              </a:rPr>
              <a:t>Entre as melhorias desta versão, destacam-se o novo método </a:t>
            </a:r>
            <a:r>
              <a:rPr lang="pt-BR" sz="2000" i="1" dirty="0" err="1">
                <a:solidFill>
                  <a:srgbClr val="121212"/>
                </a:solidFill>
                <a:latin typeface="Calibri Light" panose="020F0302020204030204" pitchFamily="34" charset="0"/>
              </a:rPr>
              <a:t>main</a:t>
            </a:r>
            <a:r>
              <a:rPr lang="pt-BR" sz="2000" i="1" dirty="0">
                <a:solidFill>
                  <a:srgbClr val="121212"/>
                </a:solidFill>
                <a:latin typeface="Calibri Light" panose="020F0302020204030204" pitchFamily="34" charset="0"/>
              </a:rPr>
              <a:t>, </a:t>
            </a:r>
            <a:r>
              <a:rPr lang="pt-BR" sz="2000" dirty="0">
                <a:solidFill>
                  <a:srgbClr val="121212"/>
                </a:solidFill>
                <a:latin typeface="Calibri Light" panose="020F0302020204030204" pitchFamily="34" charset="0"/>
              </a:rPr>
              <a:t>a estabilização de APIs que vinham sendo testadas (como </a:t>
            </a:r>
            <a:r>
              <a:rPr lang="pt-BR" sz="2000" i="1" dirty="0" err="1">
                <a:solidFill>
                  <a:srgbClr val="121212"/>
                </a:solidFill>
                <a:latin typeface="Calibri Light" panose="020F0302020204030204" pitchFamily="34" charset="0"/>
              </a:rPr>
              <a:t>Structured</a:t>
            </a:r>
            <a:r>
              <a:rPr lang="pt-BR" sz="2000" i="1" dirty="0">
                <a:solidFill>
                  <a:srgbClr val="121212"/>
                </a:solidFill>
                <a:latin typeface="Calibri Light" panose="020F0302020204030204" pitchFamily="34" charset="0"/>
              </a:rPr>
              <a:t> </a:t>
            </a:r>
            <a:r>
              <a:rPr lang="pt-BR" sz="2000" i="1" dirty="0" err="1">
                <a:solidFill>
                  <a:srgbClr val="121212"/>
                </a:solidFill>
                <a:latin typeface="Calibri Light" panose="020F0302020204030204" pitchFamily="34" charset="0"/>
              </a:rPr>
              <a:t>Concurrency</a:t>
            </a:r>
            <a:r>
              <a:rPr lang="pt-BR" sz="2000" i="1" dirty="0">
                <a:solidFill>
                  <a:srgbClr val="121212"/>
                </a:solidFill>
                <a:latin typeface="Calibri Light" panose="020F0302020204030204" pitchFamily="34" charset="0"/>
              </a:rPr>
              <a:t> </a:t>
            </a:r>
            <a:r>
              <a:rPr lang="pt-BR" sz="2000" dirty="0">
                <a:solidFill>
                  <a:srgbClr val="121212"/>
                </a:solidFill>
                <a:latin typeface="Calibri Light" panose="020F0302020204030204" pitchFamily="34" charset="0"/>
              </a:rPr>
              <a:t>e </a:t>
            </a:r>
            <a:r>
              <a:rPr lang="pt-BR" sz="2000" i="1" dirty="0" err="1">
                <a:solidFill>
                  <a:srgbClr val="121212"/>
                </a:solidFill>
                <a:latin typeface="Calibri Light" panose="020F0302020204030204" pitchFamily="34" charset="0"/>
              </a:rPr>
              <a:t>Scoped</a:t>
            </a:r>
            <a:r>
              <a:rPr lang="pt-BR" sz="2000" i="1" dirty="0">
                <a:solidFill>
                  <a:srgbClr val="121212"/>
                </a:solidFill>
                <a:latin typeface="Calibri Light" panose="020F0302020204030204" pitchFamily="34" charset="0"/>
              </a:rPr>
              <a:t> </a:t>
            </a:r>
            <a:r>
              <a:rPr lang="pt-BR" sz="2000" i="1" dirty="0" err="1">
                <a:solidFill>
                  <a:srgbClr val="121212"/>
                </a:solidFill>
                <a:latin typeface="Calibri Light" panose="020F0302020204030204" pitchFamily="34" charset="0"/>
              </a:rPr>
              <a:t>Values</a:t>
            </a:r>
            <a:r>
              <a:rPr lang="pt-BR" sz="2000" dirty="0">
                <a:solidFill>
                  <a:srgbClr val="121212"/>
                </a:solidFill>
                <a:latin typeface="Calibri Light" panose="020F0302020204030204" pitchFamily="34" charset="0"/>
              </a:rPr>
              <a:t>), otimizações internas no coletor de lixo e aprimoramentos no compilador JIT. Para quem usa o Java no dia a dia, isso se traduz em aplicações mais rápidas e estáveis.</a:t>
            </a:r>
          </a:p>
          <a:p>
            <a:pPr>
              <a:lnSpc>
                <a:spcPct val="130000"/>
              </a:lnSpc>
              <a:spcAft>
                <a:spcPts val="800"/>
              </a:spcAft>
            </a:pPr>
            <a:r>
              <a:rPr lang="pt-BR" sz="2000" dirty="0">
                <a:solidFill>
                  <a:srgbClr val="121212"/>
                </a:solidFill>
                <a:latin typeface="Calibri Light" panose="020F0302020204030204" pitchFamily="34" charset="0"/>
              </a:rPr>
              <a:t>O ponto mais importante é entender a filosofia: o Java evolui de forma incremental e deliberada. Cada versão é um refinamento, não uma reinvenção. </a:t>
            </a:r>
          </a:p>
        </p:txBody>
      </p:sp>
      <p:sp>
        <p:nvSpPr>
          <p:cNvPr id="9" name="AccentBar">
            <a:extLst>
              <a:ext uri="{C183D7F6-B498-43B3-948B-1728B52AA6E4}">
                <adec:decorative xmlns:adec="http://schemas.microsoft.com/office/drawing/2017/decorative" val="1"/>
              </a:ext>
            </a:extLst>
          </p:cNvPr>
          <p:cNvSpPr/>
          <p:nvPr/>
        </p:nvSpPr>
        <p:spPr>
          <a:xfrm>
            <a:off x="476249" y="0"/>
            <a:ext cx="72000" cy="1946064"/>
          </a:xfrm>
          <a:prstGeom prst="rect">
            <a:avLst/>
          </a:prstGeom>
          <a:gradFill flip="none" rotWithShape="1">
            <a:gsLst>
              <a:gs pos="0">
                <a:srgbClr val="E2AE4E"/>
              </a:gs>
              <a:gs pos="60000">
                <a:srgbClr val="B71C1C"/>
              </a:gs>
              <a:gs pos="100000">
                <a:srgbClr val="121212"/>
              </a:gs>
            </a:gsLst>
            <a:lin ang="5400000" scaled="1"/>
            <a:tileRect/>
          </a:gradFill>
          <a:ln>
            <a:noFill/>
          </a:ln>
        </p:spPr>
        <p:txBody>
          <a:bodyPr rtlCol="0" anchor="ctr"/>
          <a:lstStyle/>
          <a:p>
            <a:pPr algn="ctr"/>
            <a:endParaRPr lang="pt-BR"/>
          </a:p>
        </p:txBody>
      </p:sp>
      <p:sp>
        <p:nvSpPr>
          <p:cNvPr id="5" name="Footer">
            <a:extLst>
              <a:ext uri="{C183D7F6-B498-43B3-948B-1728B52AA6E4}">
                <adec:decorative xmlns:adec="http://schemas.microsoft.com/office/drawing/2017/decorative" val="1"/>
              </a:ext>
            </a:extLst>
          </p:cNvPr>
          <p:cNvSpPr>
            <a:spLocks noGrp="1"/>
          </p:cNvSpPr>
          <p:nvPr>
            <p:ph type="ftr" sz="quarter" idx="11"/>
          </p:nvPr>
        </p:nvSpPr>
        <p:spPr/>
        <p:txBody>
          <a:bodyPr/>
          <a:lstStyle/>
          <a:p>
            <a:r>
              <a:rPr lang="pt-BR" dirty="0">
                <a:solidFill>
                  <a:srgbClr val="BDBDBD"/>
                </a:solidFill>
              </a:rPr>
              <a:t>JAVA BUSHIDŌ</a:t>
            </a:r>
          </a:p>
        </p:txBody>
      </p:sp>
      <p:sp>
        <p:nvSpPr>
          <p:cNvPr id="10" name="SlideNum">
            <a:extLst>
              <a:ext uri="{C183D7F6-B498-43B3-948B-1728B52AA6E4}">
                <adec:decorative xmlns:adec="http://schemas.microsoft.com/office/drawing/2017/decorative" val="1"/>
              </a:ext>
            </a:extLst>
          </p:cNvPr>
          <p:cNvSpPr>
            <a:spLocks noGrp="1"/>
          </p:cNvSpPr>
          <p:nvPr>
            <p:ph type="sldNum" sz="quarter" idx="12"/>
          </p:nvPr>
        </p:nvSpPr>
        <p:spPr/>
        <p:txBody>
          <a:bodyPr/>
          <a:lstStyle/>
          <a:p>
            <a:fld id="{50C1CB04-2BE3-4164-84E0-A56E2E41F695}" type="slidenum">
              <a:rPr lang="pt-BR" smtClean="0"/>
              <a:t>28</a:t>
            </a:fld>
            <a:endParaRPr lang="pt-BR" dirty="0"/>
          </a:p>
        </p:txBody>
      </p:sp>
      <p:sp>
        <p:nvSpPr>
          <p:cNvPr id="4" name="CaixaDeTexto 3">
            <a:extLst>
              <a:ext uri="{FF2B5EF4-FFF2-40B4-BE49-F238E27FC236}">
                <a16:creationId xmlns:a16="http://schemas.microsoft.com/office/drawing/2014/main" id="{82985E28-538B-C7CB-02F4-268CC4E576C8}"/>
              </a:ext>
            </a:extLst>
          </p:cNvPr>
          <p:cNvSpPr txBox="1"/>
          <p:nvPr/>
        </p:nvSpPr>
        <p:spPr>
          <a:xfrm>
            <a:off x="1675447" y="9399599"/>
            <a:ext cx="7131093" cy="370933"/>
          </a:xfrm>
          <a:prstGeom prst="rect">
            <a:avLst/>
          </a:prstGeom>
          <a:noFill/>
        </p:spPr>
        <p:txBody>
          <a:bodyPr wrap="square">
            <a:spAutoFit/>
          </a:bodyPr>
          <a:lstStyle/>
          <a:p>
            <a:pPr algn="just">
              <a:spcBef>
                <a:spcPts val="1200"/>
              </a:spcBef>
            </a:pPr>
            <a:r>
              <a:rPr lang="pt-BR" sz="1800" i="1" dirty="0">
                <a:solidFill>
                  <a:srgbClr val="E2AE4E"/>
                </a:solidFill>
                <a:latin typeface="Calibri Light" panose="020F0302020204030204" pitchFamily="34" charset="0"/>
              </a:rPr>
              <a:t>“O verdadeiro mestre refina, não reinventa.”</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AccentBar">
            <a:extLst>
              <a:ext uri="{C183D7F6-B498-43B3-948B-1728B52AA6E4}">
                <adec:decorative xmlns:adec="http://schemas.microsoft.com/office/drawing/2017/decorative" val="1"/>
              </a:ext>
            </a:extLst>
          </p:cNvPr>
          <p:cNvSpPr/>
          <p:nvPr/>
        </p:nvSpPr>
        <p:spPr>
          <a:xfrm>
            <a:off x="476249" y="0"/>
            <a:ext cx="72000" cy="1946064"/>
          </a:xfrm>
          <a:prstGeom prst="rect">
            <a:avLst/>
          </a:prstGeom>
          <a:gradFill flip="none" rotWithShape="1">
            <a:gsLst>
              <a:gs pos="0">
                <a:srgbClr val="E2AE4E"/>
              </a:gs>
              <a:gs pos="60000">
                <a:srgbClr val="B71C1C"/>
              </a:gs>
              <a:gs pos="100000">
                <a:srgbClr val="121212"/>
              </a:gs>
            </a:gsLst>
            <a:lin ang="5400000" scaled="1"/>
            <a:tileRect/>
          </a:gradFill>
          <a:ln>
            <a:noFill/>
          </a:ln>
        </p:spPr>
        <p:txBody>
          <a:bodyPr rtlCol="0" anchor="ctr"/>
          <a:lstStyle/>
          <a:p>
            <a:pPr algn="ctr"/>
            <a:endParaRPr lang="pt-BR"/>
          </a:p>
        </p:txBody>
      </p:sp>
      <p:sp>
        <p:nvSpPr>
          <p:cNvPr id="5" name="Footer">
            <a:extLst>
              <a:ext uri="{C183D7F6-B498-43B3-948B-1728B52AA6E4}">
                <adec:decorative xmlns:adec="http://schemas.microsoft.com/office/drawing/2017/decorative" val="1"/>
              </a:ext>
            </a:extLst>
          </p:cNvPr>
          <p:cNvSpPr>
            <a:spLocks noGrp="1"/>
          </p:cNvSpPr>
          <p:nvPr>
            <p:ph type="ftr" sz="quarter" idx="11"/>
          </p:nvPr>
        </p:nvSpPr>
        <p:spPr/>
        <p:txBody>
          <a:bodyPr/>
          <a:lstStyle/>
          <a:p>
            <a:r>
              <a:rPr lang="pt-BR" dirty="0">
                <a:solidFill>
                  <a:srgbClr val="BDBDBD"/>
                </a:solidFill>
              </a:rPr>
              <a:t>JAVA BUSHIDŌ</a:t>
            </a:r>
          </a:p>
        </p:txBody>
      </p:sp>
      <p:sp>
        <p:nvSpPr>
          <p:cNvPr id="10" name="SlideNum">
            <a:extLst>
              <a:ext uri="{C183D7F6-B498-43B3-948B-1728B52AA6E4}">
                <adec:decorative xmlns:adec="http://schemas.microsoft.com/office/drawing/2017/decorative" val="1"/>
              </a:ext>
            </a:extLst>
          </p:cNvPr>
          <p:cNvSpPr>
            <a:spLocks noGrp="1"/>
          </p:cNvSpPr>
          <p:nvPr>
            <p:ph type="sldNum" sz="quarter" idx="12"/>
          </p:nvPr>
        </p:nvSpPr>
        <p:spPr/>
        <p:txBody>
          <a:bodyPr/>
          <a:lstStyle/>
          <a:p>
            <a:fld id="{50C1CB04-2BE3-4164-84E0-A56E2E41F695}" type="slidenum">
              <a:rPr lang="pt-BR" smtClean="0"/>
              <a:t>29</a:t>
            </a:fld>
            <a:endParaRPr lang="pt-BR" dirty="0"/>
          </a:p>
        </p:txBody>
      </p:sp>
      <p:sp>
        <p:nvSpPr>
          <p:cNvPr id="6" name="Title"/>
          <p:cNvSpPr txBox="1">
            <a:spLocks noGrp="1"/>
          </p:cNvSpPr>
          <p:nvPr>
            <p:ph type="title" idx="4294967295"/>
          </p:nvPr>
        </p:nvSpPr>
        <p:spPr>
          <a:xfrm>
            <a:off x="819150" y="524114"/>
            <a:ext cx="8292192" cy="1200329"/>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pt-BR" sz="3600" b="1" i="0" u="none" strike="noStrike" kern="1200" cap="none" spc="0" normalizeH="0" baseline="0" noProof="0" dirty="0">
                <a:ln>
                  <a:noFill/>
                </a:ln>
                <a:solidFill>
                  <a:srgbClr val="B71C1C"/>
                </a:solidFill>
                <a:effectLst/>
                <a:uLnTx/>
                <a:uFillTx/>
                <a:latin typeface="Arial Black" panose="020B0A04020102020204" pitchFamily="34" charset="0"/>
                <a:ea typeface="+mn-ea"/>
                <a:cs typeface="+mn-cs"/>
              </a:rPr>
              <a:t>Java 25 | Método </a:t>
            </a:r>
            <a:r>
              <a:rPr kumimoji="0" lang="pt-BR" sz="3600" b="1" i="0" u="none" strike="noStrike" kern="1200" cap="none" spc="0" normalizeH="0" baseline="0" noProof="0" dirty="0" err="1">
                <a:ln>
                  <a:noFill/>
                </a:ln>
                <a:solidFill>
                  <a:srgbClr val="B71C1C"/>
                </a:solidFill>
                <a:effectLst/>
                <a:uLnTx/>
                <a:uFillTx/>
                <a:latin typeface="Arial Black" panose="020B0A04020102020204" pitchFamily="34" charset="0"/>
                <a:ea typeface="+mn-ea"/>
                <a:cs typeface="+mn-cs"/>
              </a:rPr>
              <a:t>main</a:t>
            </a:r>
            <a:r>
              <a:rPr kumimoji="0" lang="pt-BR" sz="3600" b="1" i="0" u="none" strike="noStrike" kern="1200" cap="none" spc="0" normalizeH="0" baseline="0" noProof="0" dirty="0">
                <a:ln>
                  <a:noFill/>
                </a:ln>
                <a:solidFill>
                  <a:srgbClr val="B71C1C"/>
                </a:solidFill>
                <a:effectLst/>
                <a:uLnTx/>
                <a:uFillTx/>
                <a:latin typeface="Arial Black" panose="020B0A04020102020204" pitchFamily="34" charset="0"/>
                <a:ea typeface="+mn-ea"/>
                <a:cs typeface="+mn-cs"/>
              </a:rPr>
              <a:t> simplificado</a:t>
            </a:r>
          </a:p>
        </p:txBody>
      </p:sp>
      <p:sp>
        <p:nvSpPr>
          <p:cNvPr id="2" name="Subtitle">
            <a:extLst>
              <a:ext uri="{FF2B5EF4-FFF2-40B4-BE49-F238E27FC236}">
                <a16:creationId xmlns:a16="http://schemas.microsoft.com/office/drawing/2014/main" id="{CCF9E6C6-2FC7-E808-4A6C-8FA7036766A9}"/>
              </a:ext>
            </a:extLst>
          </p:cNvPr>
          <p:cNvSpPr txBox="1"/>
          <p:nvPr/>
        </p:nvSpPr>
        <p:spPr>
          <a:xfrm>
            <a:off x="476249" y="2024555"/>
            <a:ext cx="8635093" cy="523220"/>
          </a:xfrm>
          <a:prstGeom prst="rect">
            <a:avLst/>
          </a:prstGeom>
          <a:noFill/>
        </p:spPr>
        <p:txBody>
          <a:bodyPr wrap="square" rtlCol="0">
            <a:spAutoFit/>
          </a:bodyPr>
          <a:lstStyle/>
          <a:p>
            <a:r>
              <a:rPr lang="pt-BR" sz="2800" dirty="0">
                <a:solidFill>
                  <a:srgbClr val="E2AE4E"/>
                </a:solidFill>
                <a:latin typeface="Calibri Light" panose="020F0302020204030204" pitchFamily="34" charset="0"/>
              </a:rPr>
              <a:t>Prossiga com Essência</a:t>
            </a:r>
          </a:p>
        </p:txBody>
      </p:sp>
      <p:sp>
        <p:nvSpPr>
          <p:cNvPr id="11" name="Body">
            <a:extLst>
              <a:ext uri="{FF2B5EF4-FFF2-40B4-BE49-F238E27FC236}">
                <a16:creationId xmlns:a16="http://schemas.microsoft.com/office/drawing/2014/main" id="{BBEF563F-6E4E-B231-2AC0-D19ED64ED45A}"/>
              </a:ext>
            </a:extLst>
          </p:cNvPr>
          <p:cNvSpPr txBox="1"/>
          <p:nvPr/>
        </p:nvSpPr>
        <p:spPr>
          <a:xfrm>
            <a:off x="476249" y="2800000"/>
            <a:ext cx="8635092" cy="1175706"/>
          </a:xfrm>
          <a:prstGeom prst="rect">
            <a:avLst/>
          </a:prstGeom>
          <a:noFill/>
        </p:spPr>
        <p:txBody>
          <a:bodyPr wrap="square" rtlCol="0">
            <a:spAutoFit/>
          </a:bodyPr>
          <a:lstStyle/>
          <a:p>
            <a:pPr>
              <a:lnSpc>
                <a:spcPct val="120000"/>
              </a:lnSpc>
            </a:pPr>
            <a:r>
              <a:rPr lang="pt-BR" sz="2000" dirty="0">
                <a:solidFill>
                  <a:srgbClr val="121212"/>
                </a:solidFill>
                <a:latin typeface="Calibri Light" panose="020F0302020204030204" pitchFamily="34" charset="0"/>
              </a:rPr>
              <a:t>No Java 25, iniciar um programa ficou ainda mais simples.</a:t>
            </a:r>
          </a:p>
          <a:p>
            <a:pPr>
              <a:lnSpc>
                <a:spcPct val="120000"/>
              </a:lnSpc>
            </a:pPr>
            <a:r>
              <a:rPr lang="pt-BR" sz="2000" dirty="0">
                <a:solidFill>
                  <a:srgbClr val="121212"/>
                </a:solidFill>
                <a:latin typeface="Calibri Light" panose="020F0302020204030204" pitchFamily="34" charset="0"/>
              </a:rPr>
              <a:t>Agora, o método </a:t>
            </a:r>
            <a:r>
              <a:rPr lang="pt-BR" sz="2000" i="1" dirty="0" err="1">
                <a:solidFill>
                  <a:srgbClr val="121212"/>
                </a:solidFill>
                <a:latin typeface="Calibri Light" panose="020F0302020204030204" pitchFamily="34" charset="0"/>
              </a:rPr>
              <a:t>main</a:t>
            </a:r>
            <a:r>
              <a:rPr lang="pt-BR" sz="2000" dirty="0">
                <a:solidFill>
                  <a:srgbClr val="121212"/>
                </a:solidFill>
                <a:latin typeface="Calibri Light" panose="020F0302020204030204" pitchFamily="34" charset="0"/>
              </a:rPr>
              <a:t> pode ser definido sem </a:t>
            </a:r>
            <a:r>
              <a:rPr lang="pt-BR" sz="2000" i="1" dirty="0" err="1">
                <a:solidFill>
                  <a:srgbClr val="121212"/>
                </a:solidFill>
                <a:latin typeface="Calibri Light" panose="020F0302020204030204" pitchFamily="34" charset="0"/>
              </a:rPr>
              <a:t>public</a:t>
            </a:r>
            <a:r>
              <a:rPr lang="pt-BR" sz="2000" i="1" dirty="0">
                <a:solidFill>
                  <a:srgbClr val="121212"/>
                </a:solidFill>
                <a:latin typeface="Calibri Light" panose="020F0302020204030204" pitchFamily="34" charset="0"/>
              </a:rPr>
              <a:t> </a:t>
            </a:r>
            <a:r>
              <a:rPr lang="pt-BR" sz="2000" i="1" dirty="0" err="1">
                <a:solidFill>
                  <a:srgbClr val="121212"/>
                </a:solidFill>
                <a:latin typeface="Calibri Light" panose="020F0302020204030204" pitchFamily="34" charset="0"/>
              </a:rPr>
              <a:t>static</a:t>
            </a:r>
            <a:r>
              <a:rPr lang="pt-BR" sz="2000" i="1" dirty="0">
                <a:solidFill>
                  <a:srgbClr val="121212"/>
                </a:solidFill>
                <a:latin typeface="Calibri Light" panose="020F0302020204030204" pitchFamily="34" charset="0"/>
              </a:rPr>
              <a:t> </a:t>
            </a:r>
            <a:r>
              <a:rPr lang="pt-BR" sz="2000" i="1" dirty="0" err="1">
                <a:solidFill>
                  <a:srgbClr val="121212"/>
                </a:solidFill>
                <a:latin typeface="Calibri Light" panose="020F0302020204030204" pitchFamily="34" charset="0"/>
              </a:rPr>
              <a:t>void</a:t>
            </a:r>
            <a:r>
              <a:rPr lang="pt-BR" sz="2000" i="1" dirty="0">
                <a:solidFill>
                  <a:srgbClr val="121212"/>
                </a:solidFill>
                <a:latin typeface="Calibri Light" panose="020F0302020204030204" pitchFamily="34" charset="0"/>
              </a:rPr>
              <a:t> </a:t>
            </a:r>
            <a:r>
              <a:rPr lang="pt-BR" sz="2000" dirty="0">
                <a:solidFill>
                  <a:srgbClr val="121212"/>
                </a:solidFill>
                <a:latin typeface="Calibri Light" panose="020F0302020204030204" pitchFamily="34" charset="0"/>
              </a:rPr>
              <a:t>e sem parâmetros, tornando o código mais limpo e direto desde a primeira linha.</a:t>
            </a:r>
          </a:p>
        </p:txBody>
      </p:sp>
      <p:pic>
        <p:nvPicPr>
          <p:cNvPr id="4" name="Imagem 3" descr="Código Java exibindo classe MainSimplificado com método main simplificado sem static ou String[] args. Contém quatro linhas de saída com textos e emojis explicando funcionalidades e simplicidade do método main.">
            <a:extLst>
              <a:ext uri="{FF2B5EF4-FFF2-40B4-BE49-F238E27FC236}">
                <a16:creationId xmlns:a16="http://schemas.microsoft.com/office/drawing/2014/main" id="{85A2C26F-6683-41BC-B59E-84C8B8CA8D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6249" y="4662535"/>
            <a:ext cx="8635092" cy="3126709"/>
          </a:xfrm>
          <a:prstGeom prst="rect">
            <a:avLst/>
          </a:prstGeom>
        </p:spPr>
      </p:pic>
      <p:pic>
        <p:nvPicPr>
          <p:cNvPr id="8" name="Imagem 7" descr="Captura de tela de código em linguagem Java destacando simplificação do método main, sem necessidade de static ou parâmetros. Texto enfatiza uso de classes anônimas e métodos main de instância, indicando que método 'void main()' é suficiente para execução.">
            <a:extLst>
              <a:ext uri="{FF2B5EF4-FFF2-40B4-BE49-F238E27FC236}">
                <a16:creationId xmlns:a16="http://schemas.microsoft.com/office/drawing/2014/main" id="{B3863EFC-FFF3-456B-DA2E-16BCA27C1516}"/>
              </a:ext>
            </a:extLst>
          </p:cNvPr>
          <p:cNvPicPr>
            <a:picLocks noChangeAspect="1"/>
          </p:cNvPicPr>
          <p:nvPr/>
        </p:nvPicPr>
        <p:blipFill>
          <a:blip r:embed="rId3"/>
          <a:stretch>
            <a:fillRect/>
          </a:stretch>
        </p:blipFill>
        <p:spPr>
          <a:xfrm>
            <a:off x="512249" y="8015075"/>
            <a:ext cx="8599092" cy="2256776"/>
          </a:xfrm>
          <a:prstGeom prst="rect">
            <a:avLst/>
          </a:prstGeom>
          <a:ln w="38100">
            <a:solidFill>
              <a:srgbClr val="BDBDBD"/>
            </a:solid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AccentBar">
            <a:extLst>
              <a:ext uri="{C183D7F6-B498-43B3-948B-1728B52AA6E4}">
                <adec:decorative xmlns:adec="http://schemas.microsoft.com/office/drawing/2017/decorative" val="1"/>
              </a:ext>
            </a:extLst>
          </p:cNvPr>
          <p:cNvSpPr/>
          <p:nvPr/>
        </p:nvSpPr>
        <p:spPr>
          <a:xfrm>
            <a:off x="476249" y="0"/>
            <a:ext cx="72000" cy="1946064"/>
          </a:xfrm>
          <a:prstGeom prst="rect">
            <a:avLst/>
          </a:prstGeom>
          <a:gradFill flip="none" rotWithShape="1">
            <a:gsLst>
              <a:gs pos="0">
                <a:srgbClr val="E2AE4E"/>
              </a:gs>
              <a:gs pos="60000">
                <a:srgbClr val="B71C1C"/>
              </a:gs>
              <a:gs pos="100000">
                <a:srgbClr val="121212"/>
              </a:gs>
            </a:gsLst>
            <a:lin ang="5400000" scaled="1"/>
            <a:tileRect/>
          </a:gradFill>
          <a:ln>
            <a:noFill/>
          </a:ln>
        </p:spPr>
        <p:txBody>
          <a:bodyPr rtlCol="0" anchor="ctr"/>
          <a:lstStyle/>
          <a:p>
            <a:pPr algn="ctr"/>
            <a:endParaRPr lang="pt-BR"/>
          </a:p>
        </p:txBody>
      </p:sp>
      <p:sp>
        <p:nvSpPr>
          <p:cNvPr id="5" name="Footer">
            <a:extLst>
              <a:ext uri="{C183D7F6-B498-43B3-948B-1728B52AA6E4}">
                <adec:decorative xmlns:adec="http://schemas.microsoft.com/office/drawing/2017/decorative" val="1"/>
              </a:ext>
            </a:extLst>
          </p:cNvPr>
          <p:cNvSpPr>
            <a:spLocks noGrp="1"/>
          </p:cNvSpPr>
          <p:nvPr>
            <p:ph type="ftr" sz="quarter" idx="11"/>
          </p:nvPr>
        </p:nvSpPr>
        <p:spPr/>
        <p:txBody>
          <a:bodyPr/>
          <a:lstStyle/>
          <a:p>
            <a:r>
              <a:rPr lang="pt-BR" dirty="0">
                <a:solidFill>
                  <a:srgbClr val="BDBDBD"/>
                </a:solidFill>
              </a:rPr>
              <a:t>JAVA BUSHIDŌ</a:t>
            </a:r>
          </a:p>
        </p:txBody>
      </p:sp>
      <p:sp>
        <p:nvSpPr>
          <p:cNvPr id="10" name="SlideNum">
            <a:extLst>
              <a:ext uri="{C183D7F6-B498-43B3-948B-1728B52AA6E4}">
                <adec:decorative xmlns:adec="http://schemas.microsoft.com/office/drawing/2017/decorative" val="1"/>
              </a:ext>
            </a:extLst>
          </p:cNvPr>
          <p:cNvSpPr>
            <a:spLocks noGrp="1"/>
          </p:cNvSpPr>
          <p:nvPr>
            <p:ph type="sldNum" sz="quarter" idx="12"/>
          </p:nvPr>
        </p:nvSpPr>
        <p:spPr/>
        <p:txBody>
          <a:bodyPr/>
          <a:lstStyle/>
          <a:p>
            <a:fld id="{50C1CB04-2BE3-4164-84E0-A56E2E41F695}" type="slidenum">
              <a:rPr lang="pt-BR" smtClean="0"/>
              <a:t>30</a:t>
            </a:fld>
            <a:endParaRPr lang="pt-BR" dirty="0"/>
          </a:p>
        </p:txBody>
      </p:sp>
      <p:sp>
        <p:nvSpPr>
          <p:cNvPr id="6" name="Title"/>
          <p:cNvSpPr txBox="1">
            <a:spLocks noGrp="1"/>
          </p:cNvSpPr>
          <p:nvPr>
            <p:ph type="title" idx="4294967295"/>
          </p:nvPr>
        </p:nvSpPr>
        <p:spPr>
          <a:xfrm>
            <a:off x="819150" y="524114"/>
            <a:ext cx="8292192" cy="646331"/>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pt-BR" sz="3600" b="1" i="0" u="none" strike="noStrike" kern="1200" cap="none" spc="0" normalizeH="0" baseline="0" noProof="0" dirty="0">
                <a:ln>
                  <a:noFill/>
                </a:ln>
                <a:solidFill>
                  <a:srgbClr val="B71C1C"/>
                </a:solidFill>
                <a:effectLst/>
                <a:uLnTx/>
                <a:uFillTx/>
                <a:latin typeface="Arial Black" panose="020B0A04020102020204" pitchFamily="34" charset="0"/>
                <a:ea typeface="+mn-ea"/>
                <a:cs typeface="+mn-cs"/>
              </a:rPr>
              <a:t>Java 25 | </a:t>
            </a:r>
            <a:r>
              <a:rPr kumimoji="0" lang="pt-BR" sz="3600" b="1" i="0" u="none" strike="noStrike" kern="1200" cap="none" spc="0" normalizeH="0" baseline="0" noProof="0" dirty="0" err="1">
                <a:ln>
                  <a:noFill/>
                </a:ln>
                <a:solidFill>
                  <a:srgbClr val="B71C1C"/>
                </a:solidFill>
                <a:effectLst/>
                <a:uLnTx/>
                <a:uFillTx/>
                <a:latin typeface="Arial Black" panose="020B0A04020102020204" pitchFamily="34" charset="0"/>
                <a:ea typeface="+mn-ea"/>
                <a:cs typeface="+mn-cs"/>
              </a:rPr>
              <a:t>Scoped</a:t>
            </a:r>
            <a:r>
              <a:rPr kumimoji="0" lang="pt-BR" sz="3600" b="1" i="0" u="none" strike="noStrike" kern="1200" cap="none" spc="0" normalizeH="0" baseline="0" noProof="0" dirty="0">
                <a:ln>
                  <a:noFill/>
                </a:ln>
                <a:solidFill>
                  <a:srgbClr val="B71C1C"/>
                </a:solidFill>
                <a:effectLst/>
                <a:uLnTx/>
                <a:uFillTx/>
                <a:latin typeface="Arial Black" panose="020B0A04020102020204" pitchFamily="34" charset="0"/>
                <a:ea typeface="+mn-ea"/>
                <a:cs typeface="+mn-cs"/>
              </a:rPr>
              <a:t> </a:t>
            </a:r>
            <a:r>
              <a:rPr kumimoji="0" lang="pt-BR" sz="3600" b="1" i="0" u="none" strike="noStrike" kern="1200" cap="none" spc="0" normalizeH="0" baseline="0" noProof="0" dirty="0" err="1">
                <a:ln>
                  <a:noFill/>
                </a:ln>
                <a:solidFill>
                  <a:srgbClr val="B71C1C"/>
                </a:solidFill>
                <a:effectLst/>
                <a:uLnTx/>
                <a:uFillTx/>
                <a:latin typeface="Arial Black" panose="020B0A04020102020204" pitchFamily="34" charset="0"/>
                <a:ea typeface="+mn-ea"/>
                <a:cs typeface="+mn-cs"/>
              </a:rPr>
              <a:t>Values</a:t>
            </a:r>
            <a:endParaRPr kumimoji="0" lang="pt-BR" sz="3600" b="1" i="0" u="none" strike="noStrike" kern="1200" cap="none" spc="0" normalizeH="0" baseline="0" noProof="0" dirty="0">
              <a:ln>
                <a:noFill/>
              </a:ln>
              <a:solidFill>
                <a:srgbClr val="B71C1C"/>
              </a:solidFill>
              <a:effectLst/>
              <a:uLnTx/>
              <a:uFillTx/>
              <a:latin typeface="Arial Black" panose="020B0A04020102020204" pitchFamily="34" charset="0"/>
              <a:ea typeface="+mn-ea"/>
              <a:cs typeface="+mn-cs"/>
            </a:endParaRPr>
          </a:p>
        </p:txBody>
      </p:sp>
      <p:sp>
        <p:nvSpPr>
          <p:cNvPr id="2" name="Subtitle">
            <a:extLst>
              <a:ext uri="{FF2B5EF4-FFF2-40B4-BE49-F238E27FC236}">
                <a16:creationId xmlns:a16="http://schemas.microsoft.com/office/drawing/2014/main" id="{6A45091A-0B4B-38E1-E96D-8FD0EA720B68}"/>
              </a:ext>
            </a:extLst>
          </p:cNvPr>
          <p:cNvSpPr txBox="1"/>
          <p:nvPr/>
        </p:nvSpPr>
        <p:spPr>
          <a:xfrm>
            <a:off x="476249" y="2024555"/>
            <a:ext cx="8635093" cy="523220"/>
          </a:xfrm>
          <a:prstGeom prst="rect">
            <a:avLst/>
          </a:prstGeom>
          <a:noFill/>
        </p:spPr>
        <p:txBody>
          <a:bodyPr wrap="square" rtlCol="0">
            <a:spAutoFit/>
          </a:bodyPr>
          <a:lstStyle/>
          <a:p>
            <a:r>
              <a:rPr lang="pt-BR" sz="2800" dirty="0">
                <a:solidFill>
                  <a:srgbClr val="E2AE4E"/>
                </a:solidFill>
                <a:latin typeface="Calibri Light" panose="020F0302020204030204" pitchFamily="34" charset="0"/>
              </a:rPr>
              <a:t>Contexto Preciso, Missão Cumprida </a:t>
            </a:r>
          </a:p>
        </p:txBody>
      </p:sp>
      <p:sp>
        <p:nvSpPr>
          <p:cNvPr id="3" name="Body">
            <a:extLst>
              <a:ext uri="{FF2B5EF4-FFF2-40B4-BE49-F238E27FC236}">
                <a16:creationId xmlns:a16="http://schemas.microsoft.com/office/drawing/2014/main" id="{D3C939FE-BFDE-A4A0-3AA3-D3F715C17A54}"/>
              </a:ext>
            </a:extLst>
          </p:cNvPr>
          <p:cNvSpPr txBox="1"/>
          <p:nvPr/>
        </p:nvSpPr>
        <p:spPr>
          <a:xfrm>
            <a:off x="476249" y="2800000"/>
            <a:ext cx="8635092" cy="1175706"/>
          </a:xfrm>
          <a:prstGeom prst="rect">
            <a:avLst/>
          </a:prstGeom>
          <a:noFill/>
        </p:spPr>
        <p:txBody>
          <a:bodyPr wrap="square" rtlCol="0">
            <a:spAutoFit/>
          </a:bodyPr>
          <a:lstStyle/>
          <a:p>
            <a:pPr>
              <a:lnSpc>
                <a:spcPct val="120000"/>
              </a:lnSpc>
            </a:pPr>
            <a:r>
              <a:rPr lang="pt-BR" sz="2000" i="1" dirty="0" err="1">
                <a:solidFill>
                  <a:srgbClr val="121212"/>
                </a:solidFill>
                <a:latin typeface="Calibri Light" panose="020F0302020204030204" pitchFamily="34" charset="0"/>
              </a:rPr>
              <a:t>Scoped</a:t>
            </a:r>
            <a:r>
              <a:rPr lang="pt-BR" sz="2000" i="1" dirty="0">
                <a:solidFill>
                  <a:srgbClr val="121212"/>
                </a:solidFill>
                <a:latin typeface="Calibri Light" panose="020F0302020204030204" pitchFamily="34" charset="0"/>
              </a:rPr>
              <a:t> </a:t>
            </a:r>
            <a:r>
              <a:rPr lang="pt-BR" sz="2000" i="1" dirty="0" err="1">
                <a:solidFill>
                  <a:srgbClr val="121212"/>
                </a:solidFill>
                <a:latin typeface="Calibri Light" panose="020F0302020204030204" pitchFamily="34" charset="0"/>
              </a:rPr>
              <a:t>Values</a:t>
            </a:r>
            <a:r>
              <a:rPr lang="pt-BR" sz="2000" i="1" dirty="0">
                <a:solidFill>
                  <a:srgbClr val="121212"/>
                </a:solidFill>
                <a:latin typeface="Calibri Light" panose="020F0302020204030204" pitchFamily="34" charset="0"/>
              </a:rPr>
              <a:t> </a:t>
            </a:r>
            <a:r>
              <a:rPr lang="pt-BR" sz="2000" dirty="0">
                <a:solidFill>
                  <a:srgbClr val="121212"/>
                </a:solidFill>
                <a:latin typeface="Calibri Light" panose="020F0302020204030204" pitchFamily="34" charset="0"/>
              </a:rPr>
              <a:t>permitem transmitir contexto dentro de um escopo de execução de forma segura, sem compartilhar estado global. É como passar uma mensagem sigilosa só para os métodos que realmente precisam dela.</a:t>
            </a:r>
          </a:p>
        </p:txBody>
      </p:sp>
      <p:pic>
        <p:nvPicPr>
          <p:cNvPr id="7" name="Imagem 6" descr="Código-fonte Java exibindo classe ScopedValues que demonstra uso de ScopedValue para gerenciar valores de missão e dojo em contextos isolados. Destaque para métodos que imprimem mensagens específicas de dojo e missão, ilustrando execução de ações com contexto separado usando chamadas encadeadas e métodos estáticos.">
            <a:extLst>
              <a:ext uri="{FF2B5EF4-FFF2-40B4-BE49-F238E27FC236}">
                <a16:creationId xmlns:a16="http://schemas.microsoft.com/office/drawing/2014/main" id="{EC41E01B-E5F1-DCEA-D1CE-E2F6D7F677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6249" y="4120527"/>
            <a:ext cx="7258233" cy="5995061"/>
          </a:xfrm>
          <a:prstGeom prst="rect">
            <a:avLst/>
          </a:prstGeom>
        </p:spPr>
      </p:pic>
      <p:pic>
        <p:nvPicPr>
          <p:cNvPr id="11" name="Imagem 10" descr="Captura de tela de código exibindo mensagens de dois dojos, Kyoto Dojo com missão de proteger o pergaminho e Tokyo Dojo com missão de recuperar a espada sagrada, ambas ações executadas com contexto isolado. Texto inclui marcador de valores escopados indicando contexto por escopo, sem uso de ThreadLocal.">
            <a:extLst>
              <a:ext uri="{FF2B5EF4-FFF2-40B4-BE49-F238E27FC236}">
                <a16:creationId xmlns:a16="http://schemas.microsoft.com/office/drawing/2014/main" id="{DC77E745-8F21-43C0-8200-7EEE1CC69E6C}"/>
              </a:ext>
            </a:extLst>
          </p:cNvPr>
          <p:cNvPicPr>
            <a:picLocks noChangeAspect="1"/>
          </p:cNvPicPr>
          <p:nvPr/>
        </p:nvPicPr>
        <p:blipFill>
          <a:blip r:embed="rId3"/>
          <a:stretch>
            <a:fillRect/>
          </a:stretch>
        </p:blipFill>
        <p:spPr>
          <a:xfrm>
            <a:off x="4800600" y="9827737"/>
            <a:ext cx="3987683" cy="1984902"/>
          </a:xfrm>
          <a:prstGeom prst="rect">
            <a:avLst/>
          </a:prstGeom>
          <a:ln w="38100">
            <a:solidFill>
              <a:srgbClr val="BDBDBD"/>
            </a:solid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AccentBar">
            <a:extLst>
              <a:ext uri="{C183D7F6-B498-43B3-948B-1728B52AA6E4}">
                <adec:decorative xmlns:adec="http://schemas.microsoft.com/office/drawing/2017/decorative" val="1"/>
              </a:ext>
            </a:extLst>
          </p:cNvPr>
          <p:cNvSpPr/>
          <p:nvPr/>
        </p:nvSpPr>
        <p:spPr>
          <a:xfrm>
            <a:off x="476249" y="0"/>
            <a:ext cx="72000" cy="1946064"/>
          </a:xfrm>
          <a:prstGeom prst="rect">
            <a:avLst/>
          </a:prstGeom>
          <a:gradFill flip="none" rotWithShape="1">
            <a:gsLst>
              <a:gs pos="0">
                <a:srgbClr val="E2AE4E"/>
              </a:gs>
              <a:gs pos="60000">
                <a:srgbClr val="B71C1C"/>
              </a:gs>
              <a:gs pos="100000">
                <a:srgbClr val="121212"/>
              </a:gs>
            </a:gsLst>
            <a:lin ang="5400000" scaled="1"/>
            <a:tileRect/>
          </a:gradFill>
          <a:ln>
            <a:noFill/>
          </a:ln>
        </p:spPr>
        <p:txBody>
          <a:bodyPr rtlCol="0" anchor="ctr"/>
          <a:lstStyle/>
          <a:p>
            <a:pPr algn="ctr"/>
            <a:endParaRPr lang="pt-BR"/>
          </a:p>
        </p:txBody>
      </p:sp>
      <p:sp>
        <p:nvSpPr>
          <p:cNvPr id="5" name="Footer">
            <a:extLst>
              <a:ext uri="{C183D7F6-B498-43B3-948B-1728B52AA6E4}">
                <adec:decorative xmlns:adec="http://schemas.microsoft.com/office/drawing/2017/decorative" val="1"/>
              </a:ext>
            </a:extLst>
          </p:cNvPr>
          <p:cNvSpPr>
            <a:spLocks noGrp="1"/>
          </p:cNvSpPr>
          <p:nvPr>
            <p:ph type="ftr" sz="quarter" idx="11"/>
          </p:nvPr>
        </p:nvSpPr>
        <p:spPr/>
        <p:txBody>
          <a:bodyPr/>
          <a:lstStyle/>
          <a:p>
            <a:r>
              <a:rPr lang="pt-BR" dirty="0">
                <a:solidFill>
                  <a:srgbClr val="BDBDBD"/>
                </a:solidFill>
              </a:rPr>
              <a:t>JAVA BUSHIDŌ</a:t>
            </a:r>
          </a:p>
        </p:txBody>
      </p:sp>
      <p:sp>
        <p:nvSpPr>
          <p:cNvPr id="10" name="SlideNum">
            <a:extLst>
              <a:ext uri="{C183D7F6-B498-43B3-948B-1728B52AA6E4}">
                <adec:decorative xmlns:adec="http://schemas.microsoft.com/office/drawing/2017/decorative" val="1"/>
              </a:ext>
            </a:extLst>
          </p:cNvPr>
          <p:cNvSpPr>
            <a:spLocks noGrp="1"/>
          </p:cNvSpPr>
          <p:nvPr>
            <p:ph type="sldNum" sz="quarter" idx="12"/>
          </p:nvPr>
        </p:nvSpPr>
        <p:spPr/>
        <p:txBody>
          <a:bodyPr/>
          <a:lstStyle/>
          <a:p>
            <a:fld id="{50C1CB04-2BE3-4164-84E0-A56E2E41F695}" type="slidenum">
              <a:rPr lang="pt-BR" smtClean="0"/>
              <a:t>31</a:t>
            </a:fld>
            <a:endParaRPr lang="pt-BR"/>
          </a:p>
        </p:txBody>
      </p:sp>
      <p:sp>
        <p:nvSpPr>
          <p:cNvPr id="6" name="Title"/>
          <p:cNvSpPr txBox="1">
            <a:spLocks noGrp="1"/>
          </p:cNvSpPr>
          <p:nvPr>
            <p:ph type="title" idx="4294967295"/>
          </p:nvPr>
        </p:nvSpPr>
        <p:spPr>
          <a:xfrm>
            <a:off x="819150" y="524114"/>
            <a:ext cx="8292192" cy="646331"/>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pt-BR" sz="3600" b="1" i="0" u="none" strike="noStrike" kern="1200" cap="none" spc="0" normalizeH="0" baseline="0" noProof="0" dirty="0">
                <a:ln>
                  <a:noFill/>
                </a:ln>
                <a:solidFill>
                  <a:srgbClr val="B71C1C"/>
                </a:solidFill>
                <a:effectLst/>
                <a:uLnTx/>
                <a:uFillTx/>
                <a:latin typeface="Arial Black" panose="020B0A04020102020204" pitchFamily="34" charset="0"/>
                <a:ea typeface="+mn-ea"/>
                <a:cs typeface="+mn-cs"/>
              </a:rPr>
              <a:t>Java 25 | </a:t>
            </a:r>
            <a:r>
              <a:rPr kumimoji="0" lang="pt-BR" sz="3600" b="1" i="0" u="none" strike="noStrike" kern="1200" cap="none" spc="0" normalizeH="0" baseline="0" noProof="0" dirty="0" err="1">
                <a:ln>
                  <a:noFill/>
                </a:ln>
                <a:solidFill>
                  <a:srgbClr val="B71C1C"/>
                </a:solidFill>
                <a:effectLst/>
                <a:uLnTx/>
                <a:uFillTx/>
                <a:latin typeface="Arial Black" panose="020B0A04020102020204" pitchFamily="34" charset="0"/>
                <a:ea typeface="+mn-ea"/>
                <a:cs typeface="+mn-cs"/>
              </a:rPr>
              <a:t>Flexible</a:t>
            </a:r>
            <a:r>
              <a:rPr kumimoji="0" lang="pt-BR" sz="3600" b="1" i="0" u="none" strike="noStrike" kern="1200" cap="none" spc="0" normalizeH="0" baseline="0" noProof="0" dirty="0">
                <a:ln>
                  <a:noFill/>
                </a:ln>
                <a:solidFill>
                  <a:srgbClr val="B71C1C"/>
                </a:solidFill>
                <a:effectLst/>
                <a:uLnTx/>
                <a:uFillTx/>
                <a:latin typeface="Arial Black" panose="020B0A04020102020204" pitchFamily="34" charset="0"/>
                <a:ea typeface="+mn-ea"/>
                <a:cs typeface="+mn-cs"/>
              </a:rPr>
              <a:t> </a:t>
            </a:r>
            <a:r>
              <a:rPr kumimoji="0" lang="pt-BR" sz="3600" b="1" i="0" u="none" strike="noStrike" kern="1200" cap="none" spc="0" normalizeH="0" baseline="0" noProof="0" dirty="0" err="1">
                <a:ln>
                  <a:noFill/>
                </a:ln>
                <a:solidFill>
                  <a:srgbClr val="B71C1C"/>
                </a:solidFill>
                <a:effectLst/>
                <a:uLnTx/>
                <a:uFillTx/>
                <a:latin typeface="Arial Black" panose="020B0A04020102020204" pitchFamily="34" charset="0"/>
                <a:ea typeface="+mn-ea"/>
                <a:cs typeface="+mn-cs"/>
              </a:rPr>
              <a:t>Constructors</a:t>
            </a:r>
            <a:endParaRPr kumimoji="0" lang="pt-BR" sz="3600" b="1" i="0" u="none" strike="noStrike" kern="1200" cap="none" spc="0" normalizeH="0" baseline="0" noProof="0" dirty="0">
              <a:ln>
                <a:noFill/>
              </a:ln>
              <a:solidFill>
                <a:srgbClr val="B71C1C"/>
              </a:solidFill>
              <a:effectLst/>
              <a:uLnTx/>
              <a:uFillTx/>
              <a:latin typeface="Arial Black" panose="020B0A04020102020204" pitchFamily="34" charset="0"/>
              <a:ea typeface="+mn-ea"/>
              <a:cs typeface="+mn-cs"/>
            </a:endParaRPr>
          </a:p>
        </p:txBody>
      </p:sp>
      <p:sp>
        <p:nvSpPr>
          <p:cNvPr id="2" name="Subtitle">
            <a:extLst>
              <a:ext uri="{FF2B5EF4-FFF2-40B4-BE49-F238E27FC236}">
                <a16:creationId xmlns:a16="http://schemas.microsoft.com/office/drawing/2014/main" id="{1776077B-724C-BE07-6854-95AB2C630EEC}"/>
              </a:ext>
            </a:extLst>
          </p:cNvPr>
          <p:cNvSpPr txBox="1"/>
          <p:nvPr/>
        </p:nvSpPr>
        <p:spPr>
          <a:xfrm>
            <a:off x="476249" y="2024555"/>
            <a:ext cx="8635093" cy="523220"/>
          </a:xfrm>
          <a:prstGeom prst="rect">
            <a:avLst/>
          </a:prstGeom>
          <a:noFill/>
        </p:spPr>
        <p:txBody>
          <a:bodyPr wrap="square" rtlCol="0">
            <a:spAutoFit/>
          </a:bodyPr>
          <a:lstStyle/>
          <a:p>
            <a:r>
              <a:rPr lang="pt-BR" sz="2800" dirty="0">
                <a:solidFill>
                  <a:srgbClr val="E2AE4E"/>
                </a:solidFill>
                <a:latin typeface="Calibri Light" panose="020F0302020204030204" pitchFamily="34" charset="0"/>
              </a:rPr>
              <a:t>A Inicialização Harmoniosa</a:t>
            </a:r>
          </a:p>
        </p:txBody>
      </p:sp>
      <p:sp>
        <p:nvSpPr>
          <p:cNvPr id="3" name="Body">
            <a:extLst>
              <a:ext uri="{FF2B5EF4-FFF2-40B4-BE49-F238E27FC236}">
                <a16:creationId xmlns:a16="http://schemas.microsoft.com/office/drawing/2014/main" id="{2F6FE09A-1A8F-AC69-AC37-F33AA063FA4A}"/>
              </a:ext>
            </a:extLst>
          </p:cNvPr>
          <p:cNvSpPr txBox="1"/>
          <p:nvPr/>
        </p:nvSpPr>
        <p:spPr>
          <a:xfrm>
            <a:off x="476249" y="2800000"/>
            <a:ext cx="8635092" cy="1175706"/>
          </a:xfrm>
          <a:prstGeom prst="rect">
            <a:avLst/>
          </a:prstGeom>
          <a:noFill/>
        </p:spPr>
        <p:txBody>
          <a:bodyPr wrap="square" rtlCol="0">
            <a:spAutoFit/>
          </a:bodyPr>
          <a:lstStyle/>
          <a:p>
            <a:pPr>
              <a:lnSpc>
                <a:spcPct val="120000"/>
              </a:lnSpc>
            </a:pPr>
            <a:r>
              <a:rPr lang="pt-BR" sz="2000" dirty="0">
                <a:solidFill>
                  <a:srgbClr val="121212"/>
                </a:solidFill>
                <a:latin typeface="Calibri Light" panose="020F0302020204030204" pitchFamily="34" charset="0"/>
              </a:rPr>
              <a:t>No Java 25, objetos podem ser criados de várias formas, sem precisar de múltiplos construtores ou fábricas. Isso torna o código mais limpo e evita duplicação de lógica. O resultado é um design mais claro e alinhado ao domínio do problema.</a:t>
            </a:r>
          </a:p>
        </p:txBody>
      </p:sp>
      <p:pic>
        <p:nvPicPr>
          <p:cNvPr id="13" name="Imagem 12" descr="Código Java com classes estáticas Guerreiro e Samurai, onde Samurai estende Guerreiro e implementa validação flexível no construtor para nível entre 0 e 10, lançando IllegalArgumentException em caso de erro. Destaque para uso de try-catch no método main para testar criação de objetos Samurai com diferentes níveis e exibir mensagens de erro ou sucesso.">
            <a:extLst>
              <a:ext uri="{FF2B5EF4-FFF2-40B4-BE49-F238E27FC236}">
                <a16:creationId xmlns:a16="http://schemas.microsoft.com/office/drawing/2014/main" id="{8A5778AC-AEE0-DD8B-D749-D928523474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2248" y="4134545"/>
            <a:ext cx="6610553" cy="7332032"/>
          </a:xfrm>
          <a:prstGeom prst="rect">
            <a:avLst/>
          </a:prstGeom>
        </p:spPr>
      </p:pic>
      <p:pic>
        <p:nvPicPr>
          <p:cNvPr id="11" name="Imagem 10" descr="Captura de tela de código em Java demonstrando validação de construtores flexíveis. O terminal exibe confirmação de inscrição para “Musashi” no nível 10 e mensagem de erro ao tentar inscrever “Yoshi” com nível inválido, destacando regras de inicialização e feedback direto ao usuário.">
            <a:extLst>
              <a:ext uri="{FF2B5EF4-FFF2-40B4-BE49-F238E27FC236}">
                <a16:creationId xmlns:a16="http://schemas.microsoft.com/office/drawing/2014/main" id="{3E1E169A-C82E-3664-2CCF-AF39C6466306}"/>
              </a:ext>
            </a:extLst>
          </p:cNvPr>
          <p:cNvPicPr>
            <a:picLocks noChangeAspect="1"/>
          </p:cNvPicPr>
          <p:nvPr/>
        </p:nvPicPr>
        <p:blipFill>
          <a:blip r:embed="rId3"/>
          <a:stretch>
            <a:fillRect/>
          </a:stretch>
        </p:blipFill>
        <p:spPr>
          <a:xfrm>
            <a:off x="1260919" y="11140683"/>
            <a:ext cx="7680199" cy="622361"/>
          </a:xfrm>
          <a:prstGeom prst="rect">
            <a:avLst/>
          </a:prstGeom>
          <a:ln w="38100">
            <a:solidFill>
              <a:srgbClr val="BDBDBD"/>
            </a:solid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gRect">
            <a:extLst>
              <a:ext uri="{C183D7F6-B498-43B3-948B-1728B52AA6E4}">
                <adec:decorative xmlns:adec="http://schemas.microsoft.com/office/drawing/2017/decorative" val="1"/>
              </a:ext>
            </a:extLst>
          </p:cNvPr>
          <p:cNvSpPr/>
          <p:nvPr/>
        </p:nvSpPr>
        <p:spPr>
          <a:xfrm>
            <a:off x="0" y="0"/>
            <a:ext cx="9601200" cy="12801600"/>
          </a:xfrm>
          <a:prstGeom prst="rect">
            <a:avLst/>
          </a:prstGeom>
          <a:solidFill>
            <a:srgbClr val="121212"/>
          </a:solidFill>
          <a:ln>
            <a:noFill/>
          </a:ln>
        </p:spPr>
        <p:txBody>
          <a:bodyPr rtlCol="0" anchor="ctr"/>
          <a:lstStyle/>
          <a:p>
            <a:pPr algn="ctr"/>
            <a:endParaRPr lang="pt-BR"/>
          </a:p>
        </p:txBody>
      </p:sp>
      <p:sp>
        <p:nvSpPr>
          <p:cNvPr id="3" name="Title"/>
          <p:cNvSpPr txBox="1">
            <a:spLocks noGrp="1"/>
          </p:cNvSpPr>
          <p:nvPr>
            <p:ph type="title" idx="4294967295"/>
          </p:nvPr>
        </p:nvSpPr>
        <p:spPr>
          <a:xfrm>
            <a:off x="489857" y="4500000"/>
            <a:ext cx="8621485" cy="1754326"/>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pt-BR" sz="5400" b="0" i="0" u="none" strike="noStrike" kern="1200" cap="none" spc="0" normalizeH="0" baseline="0" noProof="0" dirty="0">
                <a:ln>
                  <a:noFill/>
                </a:ln>
                <a:solidFill>
                  <a:srgbClr val="FFFFFF"/>
                </a:solidFill>
                <a:effectLst/>
                <a:uLnTx/>
                <a:uFillTx/>
                <a:latin typeface="Arial Black" panose="020B0A04020102020204" pitchFamily="34" charset="0"/>
                <a:ea typeface="+mn-ea"/>
                <a:cs typeface="+mn-cs"/>
              </a:rPr>
              <a:t>O CAMINHO DO
JAVA BUSHIDŌ</a:t>
            </a:r>
          </a:p>
        </p:txBody>
      </p:sp>
      <p:sp>
        <p:nvSpPr>
          <p:cNvPr id="4" name="GradLine">
            <a:extLst>
              <a:ext uri="{C183D7F6-B498-43B3-948B-1728B52AA6E4}">
                <adec:decorative xmlns:adec="http://schemas.microsoft.com/office/drawing/2017/decorative" val="1"/>
              </a:ext>
            </a:extLst>
          </p:cNvPr>
          <p:cNvSpPr/>
          <p:nvPr/>
        </p:nvSpPr>
        <p:spPr>
          <a:xfrm rot="5400000">
            <a:off x="4757736" y="5600700"/>
            <a:ext cx="182880" cy="7200900"/>
          </a:xfrm>
          <a:prstGeom prst="rect">
            <a:avLst/>
          </a:prstGeom>
          <a:gradFill flip="none" rotWithShape="1">
            <a:gsLst>
              <a:gs pos="0">
                <a:srgbClr val="E2AE4E"/>
              </a:gs>
              <a:gs pos="60000">
                <a:srgbClr val="B71C1C"/>
              </a:gs>
              <a:gs pos="100000">
                <a:srgbClr val="121212"/>
              </a:gs>
            </a:gsLst>
            <a:lin ang="5400000" scaled="1"/>
            <a:tileRect/>
          </a:gradFill>
          <a:ln>
            <a:noFill/>
          </a:ln>
        </p:spPr>
        <p:txBody>
          <a:bodyPr rtlCol="0" anchor="ctr"/>
          <a:lstStyle/>
          <a:p>
            <a:pPr algn="ctr"/>
            <a:endParaRPr lang="pt-BR"/>
          </a:p>
        </p:txBody>
      </p:sp>
      <p:sp>
        <p:nvSpPr>
          <p:cNvPr id="7" name="SlideNum">
            <a:extLst>
              <a:ext uri="{C183D7F6-B498-43B3-948B-1728B52AA6E4}">
                <adec:decorative xmlns:adec="http://schemas.microsoft.com/office/drawing/2017/decorative" val="1"/>
              </a:ext>
            </a:extLst>
          </p:cNvPr>
          <p:cNvSpPr>
            <a:spLocks noGrp="1"/>
          </p:cNvSpPr>
          <p:nvPr>
            <p:ph type="sldNum" sz="quarter" idx="12"/>
          </p:nvPr>
        </p:nvSpPr>
        <p:spPr/>
        <p:txBody>
          <a:bodyPr/>
          <a:lstStyle/>
          <a:p>
            <a:fld id="{50C1CB04-2BE3-4164-84E0-A56E2E41F695}" type="slidenum">
              <a:rPr lang="pt-BR" smtClean="0">
                <a:solidFill>
                  <a:srgbClr val="BDBDBD"/>
                </a:solidFill>
              </a:rPr>
              <a:t>32</a:t>
            </a:fld>
            <a:endParaRPr lang="pt-BR" dirty="0">
              <a:solidFill>
                <a:srgbClr val="BDBDBD"/>
              </a:solidFill>
            </a:endParaRPr>
          </a:p>
        </p:txBody>
      </p:sp>
      <p:sp>
        <p:nvSpPr>
          <p:cNvPr id="8" name="Footer">
            <a:extLst>
              <a:ext uri="{C183D7F6-B498-43B3-948B-1728B52AA6E4}">
                <adec:decorative xmlns:adec="http://schemas.microsoft.com/office/drawing/2017/decorative" val="1"/>
              </a:ext>
            </a:extLst>
          </p:cNvPr>
          <p:cNvSpPr>
            <a:spLocks noGrp="1"/>
          </p:cNvSpPr>
          <p:nvPr>
            <p:ph type="ftr" sz="quarter" idx="11"/>
          </p:nvPr>
        </p:nvSpPr>
        <p:spPr/>
        <p:txBody>
          <a:bodyPr/>
          <a:lstStyle/>
          <a:p>
            <a:r>
              <a:rPr lang="pt-BR" dirty="0">
                <a:solidFill>
                  <a:srgbClr val="BDBDBD"/>
                </a:solidFill>
              </a:rPr>
              <a:t>JAVA BUSHIDŌ</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975589B0-CC31-E891-E94E-C9898E3894A8}"/>
              </a:ext>
              <a:ext uri="{C183D7F6-B498-43B3-948B-1728B52AA6E4}">
                <adec:decorative xmlns:adec="http://schemas.microsoft.com/office/drawing/2017/decorative" val="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2781" b="12889"/>
          <a:stretch>
            <a:fillRect/>
          </a:stretch>
        </p:blipFill>
        <p:spPr bwMode="auto">
          <a:xfrm>
            <a:off x="0" y="8518849"/>
            <a:ext cx="9601200" cy="4282751"/>
          </a:xfrm>
          <a:prstGeom prst="rect">
            <a:avLst/>
          </a:prstGeom>
          <a:noFill/>
          <a:extLst>
            <a:ext uri="{909E8E84-426E-40DD-AFC4-6F175D3DCCD1}">
              <a14:hiddenFill xmlns:a14="http://schemas.microsoft.com/office/drawing/2010/main">
                <a:solidFill>
                  <a:srgbClr val="FFFFFF"/>
                </a:solidFill>
              </a14:hiddenFill>
            </a:ext>
          </a:extLst>
        </p:spPr>
      </p:pic>
      <p:sp>
        <p:nvSpPr>
          <p:cNvPr id="6" name="Title"/>
          <p:cNvSpPr txBox="1">
            <a:spLocks noGrp="1"/>
          </p:cNvSpPr>
          <p:nvPr>
            <p:ph type="title" idx="4294967295"/>
          </p:nvPr>
        </p:nvSpPr>
        <p:spPr>
          <a:xfrm>
            <a:off x="819150" y="524114"/>
            <a:ext cx="8292192" cy="646331"/>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pt-BR" sz="3600" b="1" i="0" u="none" strike="noStrike" kern="1200" cap="none" spc="0" normalizeH="0" baseline="0" noProof="0" dirty="0">
                <a:ln>
                  <a:noFill/>
                </a:ln>
                <a:solidFill>
                  <a:srgbClr val="B71C1C"/>
                </a:solidFill>
                <a:effectLst/>
                <a:uLnTx/>
                <a:uFillTx/>
                <a:latin typeface="Arial Black" panose="020B0A04020102020204" pitchFamily="34" charset="0"/>
                <a:ea typeface="+mn-ea"/>
                <a:cs typeface="+mn-cs"/>
              </a:rPr>
              <a:t>Evoluir Sem Romper</a:t>
            </a:r>
          </a:p>
        </p:txBody>
      </p:sp>
      <p:sp>
        <p:nvSpPr>
          <p:cNvPr id="7" name="Subtitle"/>
          <p:cNvSpPr txBox="1"/>
          <p:nvPr/>
        </p:nvSpPr>
        <p:spPr>
          <a:xfrm>
            <a:off x="476249" y="2024555"/>
            <a:ext cx="8635093" cy="523220"/>
          </a:xfrm>
          <a:prstGeom prst="rect">
            <a:avLst/>
          </a:prstGeom>
          <a:noFill/>
        </p:spPr>
        <p:txBody>
          <a:bodyPr wrap="square" rtlCol="0">
            <a:spAutoFit/>
          </a:bodyPr>
          <a:lstStyle/>
          <a:p>
            <a:r>
              <a:rPr lang="pt-BR" sz="2800" dirty="0">
                <a:solidFill>
                  <a:srgbClr val="E2AE4E"/>
                </a:solidFill>
                <a:latin typeface="Calibri Light" panose="020F0302020204030204" pitchFamily="34" charset="0"/>
              </a:rPr>
              <a:t>Arco Final — O Caminho do Java Bushidō</a:t>
            </a:r>
          </a:p>
        </p:txBody>
      </p:sp>
      <p:sp>
        <p:nvSpPr>
          <p:cNvPr id="8" name="Body"/>
          <p:cNvSpPr txBox="1"/>
          <p:nvPr/>
        </p:nvSpPr>
        <p:spPr>
          <a:xfrm>
            <a:off x="476249" y="2800000"/>
            <a:ext cx="8635092" cy="5466625"/>
          </a:xfrm>
          <a:prstGeom prst="rect">
            <a:avLst/>
          </a:prstGeom>
          <a:noFill/>
        </p:spPr>
        <p:txBody>
          <a:bodyPr wrap="square" rtlCol="0">
            <a:spAutoFit/>
          </a:bodyPr>
          <a:lstStyle/>
          <a:p>
            <a:pPr>
              <a:lnSpc>
                <a:spcPct val="130000"/>
              </a:lnSpc>
              <a:spcAft>
                <a:spcPts val="800"/>
              </a:spcAft>
            </a:pPr>
            <a:r>
              <a:rPr lang="pt-BR" sz="2000" dirty="0">
                <a:solidFill>
                  <a:srgbClr val="121212"/>
                </a:solidFill>
                <a:latin typeface="Calibri Light" panose="020F0302020204030204" pitchFamily="34" charset="0"/>
              </a:rPr>
              <a:t>Com tantas versões disponíveis, uma dúvida comum entre desenvolvedores iniciantes é: qual versão devo usar? A resposta é simples: em produção, priorize sempre versões </a:t>
            </a:r>
            <a:r>
              <a:rPr lang="pt-BR" sz="2000" i="1" dirty="0">
                <a:solidFill>
                  <a:srgbClr val="121212"/>
                </a:solidFill>
                <a:latin typeface="Calibri Light" panose="020F0302020204030204" pitchFamily="34" charset="0"/>
              </a:rPr>
              <a:t>LTS (</a:t>
            </a:r>
            <a:r>
              <a:rPr lang="pt-BR" sz="2000" i="1" dirty="0" err="1">
                <a:solidFill>
                  <a:srgbClr val="121212"/>
                </a:solidFill>
                <a:latin typeface="Calibri Light" panose="020F0302020204030204" pitchFamily="34" charset="0"/>
              </a:rPr>
              <a:t>Long-Term</a:t>
            </a:r>
            <a:r>
              <a:rPr lang="pt-BR" sz="2000" i="1" dirty="0">
                <a:solidFill>
                  <a:srgbClr val="121212"/>
                </a:solidFill>
                <a:latin typeface="Calibri Light" panose="020F0302020204030204" pitchFamily="34" charset="0"/>
              </a:rPr>
              <a:t> </a:t>
            </a:r>
            <a:r>
              <a:rPr lang="pt-BR" sz="2000" i="1" dirty="0" err="1">
                <a:solidFill>
                  <a:srgbClr val="121212"/>
                </a:solidFill>
                <a:latin typeface="Calibri Light" panose="020F0302020204030204" pitchFamily="34" charset="0"/>
              </a:rPr>
              <a:t>Support</a:t>
            </a:r>
            <a:r>
              <a:rPr lang="pt-BR" sz="2000" i="1" dirty="0">
                <a:solidFill>
                  <a:srgbClr val="121212"/>
                </a:solidFill>
                <a:latin typeface="Calibri Light" panose="020F0302020204030204" pitchFamily="34" charset="0"/>
              </a:rPr>
              <a:t>)</a:t>
            </a:r>
            <a:r>
              <a:rPr lang="pt-BR" sz="2000" dirty="0">
                <a:solidFill>
                  <a:srgbClr val="121212"/>
                </a:solidFill>
                <a:latin typeface="Calibri Light" panose="020F0302020204030204" pitchFamily="34" charset="0"/>
              </a:rPr>
              <a:t>. Atualmente, as versões LTS mais relevantes são o Java 17, 21 e 25. Elas recebem atualizações de segurança e correções por anos, o que é essencial para sistemas em produção.</a:t>
            </a:r>
          </a:p>
          <a:p>
            <a:pPr>
              <a:lnSpc>
                <a:spcPct val="130000"/>
              </a:lnSpc>
              <a:spcAft>
                <a:spcPts val="800"/>
              </a:spcAft>
            </a:pPr>
            <a:r>
              <a:rPr lang="pt-BR" sz="2000" dirty="0">
                <a:solidFill>
                  <a:srgbClr val="121212"/>
                </a:solidFill>
                <a:latin typeface="Calibri Light" panose="020F0302020204030204" pitchFamily="34" charset="0"/>
              </a:rPr>
              <a:t>Versões intermediárias (como 20, 22, 23, 24) são ótimas para experimentação e aprendizado. Elas permitem testar novos recursos antes que sejam consolidados nas versões LTS. Use-as em projetos pessoais, estudos e provas de conceito, mas evite colocá-las em ambientes críticos.</a:t>
            </a:r>
          </a:p>
          <a:p>
            <a:pPr>
              <a:lnSpc>
                <a:spcPct val="130000"/>
              </a:lnSpc>
              <a:spcAft>
                <a:spcPts val="800"/>
              </a:spcAft>
            </a:pPr>
            <a:r>
              <a:rPr lang="pt-BR" sz="2000" dirty="0">
                <a:solidFill>
                  <a:srgbClr val="121212"/>
                </a:solidFill>
                <a:latin typeface="Calibri Light" panose="020F0302020204030204" pitchFamily="34" charset="0"/>
              </a:rPr>
              <a:t>Planeje upgrades de versão como parte da arquitetura do projeto, não como uma emergência. Inclua atualizações de Java no backlog e aproveite as notas de release para entender o que mudou. Esse hábito é o que diferencia equipes maduras de equipes que ficam presas em versões antigas por falta de planejamento.</a:t>
            </a:r>
          </a:p>
        </p:txBody>
      </p:sp>
      <p:sp>
        <p:nvSpPr>
          <p:cNvPr id="9" name="AccentBar">
            <a:extLst>
              <a:ext uri="{C183D7F6-B498-43B3-948B-1728B52AA6E4}">
                <adec:decorative xmlns:adec="http://schemas.microsoft.com/office/drawing/2017/decorative" val="1"/>
              </a:ext>
            </a:extLst>
          </p:cNvPr>
          <p:cNvSpPr/>
          <p:nvPr/>
        </p:nvSpPr>
        <p:spPr>
          <a:xfrm>
            <a:off x="476249" y="0"/>
            <a:ext cx="72000" cy="1946064"/>
          </a:xfrm>
          <a:prstGeom prst="rect">
            <a:avLst/>
          </a:prstGeom>
          <a:gradFill flip="none" rotWithShape="1">
            <a:gsLst>
              <a:gs pos="0">
                <a:srgbClr val="E2AE4E"/>
              </a:gs>
              <a:gs pos="60000">
                <a:srgbClr val="B71C1C"/>
              </a:gs>
              <a:gs pos="100000">
                <a:srgbClr val="121212"/>
              </a:gs>
            </a:gsLst>
            <a:lin ang="5400000" scaled="1"/>
            <a:tileRect/>
          </a:gradFill>
          <a:ln>
            <a:noFill/>
          </a:ln>
        </p:spPr>
        <p:txBody>
          <a:bodyPr rtlCol="0" anchor="ctr"/>
          <a:lstStyle/>
          <a:p>
            <a:pPr algn="ctr"/>
            <a:endParaRPr lang="pt-BR"/>
          </a:p>
        </p:txBody>
      </p:sp>
      <p:sp>
        <p:nvSpPr>
          <p:cNvPr id="5" name="Footer">
            <a:extLst>
              <a:ext uri="{C183D7F6-B498-43B3-948B-1728B52AA6E4}">
                <adec:decorative xmlns:adec="http://schemas.microsoft.com/office/drawing/2017/decorative" val="1"/>
              </a:ext>
            </a:extLst>
          </p:cNvPr>
          <p:cNvSpPr>
            <a:spLocks noGrp="1"/>
          </p:cNvSpPr>
          <p:nvPr>
            <p:ph type="ftr" sz="quarter" idx="11"/>
          </p:nvPr>
        </p:nvSpPr>
        <p:spPr/>
        <p:txBody>
          <a:bodyPr/>
          <a:lstStyle/>
          <a:p>
            <a:r>
              <a:rPr lang="pt-BR" dirty="0">
                <a:solidFill>
                  <a:srgbClr val="BDBDBD"/>
                </a:solidFill>
              </a:rPr>
              <a:t>JAVA BUSHIDŌ</a:t>
            </a:r>
          </a:p>
        </p:txBody>
      </p:sp>
      <p:sp>
        <p:nvSpPr>
          <p:cNvPr id="10" name="SlideNum">
            <a:extLst>
              <a:ext uri="{C183D7F6-B498-43B3-948B-1728B52AA6E4}">
                <adec:decorative xmlns:adec="http://schemas.microsoft.com/office/drawing/2017/decorative" val="1"/>
              </a:ext>
            </a:extLst>
          </p:cNvPr>
          <p:cNvSpPr>
            <a:spLocks noGrp="1"/>
          </p:cNvSpPr>
          <p:nvPr>
            <p:ph type="sldNum" sz="quarter" idx="12"/>
          </p:nvPr>
        </p:nvSpPr>
        <p:spPr/>
        <p:txBody>
          <a:bodyPr/>
          <a:lstStyle/>
          <a:p>
            <a:fld id="{50C1CB04-2BE3-4164-84E0-A56E2E41F695}" type="slidenum">
              <a:rPr lang="pt-BR" smtClean="0"/>
              <a:t>33</a:t>
            </a:fld>
            <a:endParaRPr lang="pt-BR"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14591A15-C3C5-51AB-065E-8189B1E18BD7}"/>
              </a:ext>
              <a:ext uri="{C183D7F6-B498-43B3-948B-1728B52AA6E4}">
                <adec:decorative xmlns:adec="http://schemas.microsoft.com/office/drawing/2017/decorative" val="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2781" b="12889"/>
          <a:stretch>
            <a:fillRect/>
          </a:stretch>
        </p:blipFill>
        <p:spPr bwMode="auto">
          <a:xfrm>
            <a:off x="0" y="8518849"/>
            <a:ext cx="9601200" cy="4282751"/>
          </a:xfrm>
          <a:prstGeom prst="rect">
            <a:avLst/>
          </a:prstGeom>
          <a:noFill/>
          <a:extLst>
            <a:ext uri="{909E8E84-426E-40DD-AFC4-6F175D3DCCD1}">
              <a14:hiddenFill xmlns:a14="http://schemas.microsoft.com/office/drawing/2010/main">
                <a:solidFill>
                  <a:srgbClr val="FFFFFF"/>
                </a:solidFill>
              </a14:hiddenFill>
            </a:ext>
          </a:extLst>
        </p:spPr>
      </p:pic>
      <p:sp>
        <p:nvSpPr>
          <p:cNvPr id="6" name="Title"/>
          <p:cNvSpPr txBox="1">
            <a:spLocks noGrp="1"/>
          </p:cNvSpPr>
          <p:nvPr>
            <p:ph type="title" idx="4294967295"/>
          </p:nvPr>
        </p:nvSpPr>
        <p:spPr>
          <a:xfrm>
            <a:off x="819150" y="524114"/>
            <a:ext cx="8292192" cy="646331"/>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pt-BR" sz="3600" b="1" i="0" u="none" strike="noStrike" kern="1200" cap="none" spc="0" normalizeH="0" baseline="0" noProof="0" dirty="0">
                <a:ln>
                  <a:noFill/>
                </a:ln>
                <a:solidFill>
                  <a:srgbClr val="B71C1C"/>
                </a:solidFill>
                <a:effectLst/>
                <a:uLnTx/>
                <a:uFillTx/>
                <a:latin typeface="Arial Black" panose="020B0A04020102020204" pitchFamily="34" charset="0"/>
                <a:ea typeface="+mn-ea"/>
                <a:cs typeface="+mn-cs"/>
              </a:rPr>
              <a:t>Epílogo — Honra no Código</a:t>
            </a:r>
          </a:p>
        </p:txBody>
      </p:sp>
      <p:sp>
        <p:nvSpPr>
          <p:cNvPr id="7" name="Subtitle"/>
          <p:cNvSpPr txBox="1"/>
          <p:nvPr/>
        </p:nvSpPr>
        <p:spPr>
          <a:xfrm>
            <a:off x="476249" y="2024555"/>
            <a:ext cx="8635093" cy="523220"/>
          </a:xfrm>
          <a:prstGeom prst="rect">
            <a:avLst/>
          </a:prstGeom>
          <a:noFill/>
        </p:spPr>
        <p:txBody>
          <a:bodyPr wrap="square" rtlCol="0">
            <a:spAutoFit/>
          </a:bodyPr>
          <a:lstStyle/>
          <a:p>
            <a:r>
              <a:rPr lang="pt-BR" sz="2800">
                <a:solidFill>
                  <a:srgbClr val="E2AE4E"/>
                </a:solidFill>
                <a:latin typeface="Calibri Light" panose="020F0302020204030204" pitchFamily="34" charset="0"/>
              </a:rPr>
              <a:t>O caminho continua</a:t>
            </a:r>
          </a:p>
        </p:txBody>
      </p:sp>
      <p:sp>
        <p:nvSpPr>
          <p:cNvPr id="8" name="Body"/>
          <p:cNvSpPr txBox="1"/>
          <p:nvPr/>
        </p:nvSpPr>
        <p:spPr>
          <a:xfrm>
            <a:off x="476249" y="2800000"/>
            <a:ext cx="8635092" cy="4666406"/>
          </a:xfrm>
          <a:prstGeom prst="rect">
            <a:avLst/>
          </a:prstGeom>
          <a:noFill/>
        </p:spPr>
        <p:txBody>
          <a:bodyPr wrap="square" rtlCol="0">
            <a:spAutoFit/>
          </a:bodyPr>
          <a:lstStyle/>
          <a:p>
            <a:pPr>
              <a:lnSpc>
                <a:spcPct val="130000"/>
              </a:lnSpc>
              <a:spcAft>
                <a:spcPts val="800"/>
              </a:spcAft>
            </a:pPr>
            <a:r>
              <a:rPr lang="pt-BR" sz="2000" dirty="0">
                <a:solidFill>
                  <a:srgbClr val="121212"/>
                </a:solidFill>
                <a:latin typeface="Calibri Light" panose="020F0302020204030204" pitchFamily="34" charset="0"/>
              </a:rPr>
              <a:t>Chegamos ao final desta jornada pelo universo do Java moderno. Ao longo deste ebook, percorremos a evolução de uma das linguagens mais relevantes do mundo.</a:t>
            </a:r>
          </a:p>
          <a:p>
            <a:pPr>
              <a:lnSpc>
                <a:spcPct val="130000"/>
              </a:lnSpc>
              <a:spcAft>
                <a:spcPts val="800"/>
              </a:spcAft>
            </a:pPr>
            <a:r>
              <a:rPr lang="pt-BR" sz="2000" dirty="0">
                <a:solidFill>
                  <a:srgbClr val="121212"/>
                </a:solidFill>
                <a:latin typeface="Calibri Light" panose="020F0302020204030204" pitchFamily="34" charset="0"/>
              </a:rPr>
              <a:t>O que diferencia um bom desenvolvedor não é apenas conhecer a sintaxe mais recente, mas entender o propósito por trás de cada mudança. Código limpo não é só questão de estética, é também disciplina. Evolução não é só sobre novos recursos, é também constância. E precisão técnica não é perfeccionismo, é impacto real no produto e na equipe.</a:t>
            </a:r>
          </a:p>
          <a:p>
            <a:pPr>
              <a:lnSpc>
                <a:spcPct val="130000"/>
              </a:lnSpc>
              <a:spcAft>
                <a:spcPts val="800"/>
              </a:spcAft>
            </a:pPr>
            <a:r>
              <a:rPr lang="pt-BR" sz="2000" dirty="0">
                <a:solidFill>
                  <a:srgbClr val="121212"/>
                </a:solidFill>
                <a:latin typeface="Calibri Light" panose="020F0302020204030204" pitchFamily="34" charset="0"/>
              </a:rPr>
              <a:t>O caminho do Java Bushidō é contínuo. Cada versão traz novas oportunidades de aprendizado, e cada linha de código que você gera é uma chance de praticar o que aprendeu aqui. Continue estudando, continue </a:t>
            </a:r>
            <a:r>
              <a:rPr lang="pt-BR" sz="2000" dirty="0" err="1">
                <a:solidFill>
                  <a:srgbClr val="121212"/>
                </a:solidFill>
                <a:latin typeface="Calibri Light" panose="020F0302020204030204" pitchFamily="34" charset="0"/>
              </a:rPr>
              <a:t>codando</a:t>
            </a:r>
            <a:r>
              <a:rPr lang="pt-BR" sz="2000" dirty="0">
                <a:solidFill>
                  <a:srgbClr val="121212"/>
                </a:solidFill>
                <a:latin typeface="Calibri Light" panose="020F0302020204030204" pitchFamily="34" charset="0"/>
              </a:rPr>
              <a:t>, e leve com você a mentalidade de que evolução técnica é um compromisso diário.</a:t>
            </a:r>
          </a:p>
        </p:txBody>
      </p:sp>
      <p:sp>
        <p:nvSpPr>
          <p:cNvPr id="4" name="CaixaDeTexto 3">
            <a:extLst>
              <a:ext uri="{FF2B5EF4-FFF2-40B4-BE49-F238E27FC236}">
                <a16:creationId xmlns:a16="http://schemas.microsoft.com/office/drawing/2014/main" id="{E65B6CD6-2333-B417-C6A7-722FFE51B8DD}"/>
              </a:ext>
            </a:extLst>
          </p:cNvPr>
          <p:cNvSpPr txBox="1"/>
          <p:nvPr/>
        </p:nvSpPr>
        <p:spPr>
          <a:xfrm>
            <a:off x="1663701" y="9374200"/>
            <a:ext cx="4919132" cy="369332"/>
          </a:xfrm>
          <a:prstGeom prst="rect">
            <a:avLst/>
          </a:prstGeom>
          <a:noFill/>
        </p:spPr>
        <p:txBody>
          <a:bodyPr wrap="square">
            <a:spAutoFit/>
          </a:bodyPr>
          <a:lstStyle/>
          <a:p>
            <a:pPr algn="just">
              <a:spcBef>
                <a:spcPts val="1200"/>
              </a:spcBef>
            </a:pPr>
            <a:r>
              <a:rPr lang="pt-BR" sz="1800" i="1" dirty="0">
                <a:solidFill>
                  <a:srgbClr val="E2AE4E"/>
                </a:solidFill>
                <a:latin typeface="Calibri Light" panose="020F0302020204030204" pitchFamily="34" charset="0"/>
              </a:rPr>
              <a:t>“Obrigado por seguir o caminho do Java Bushidō.”</a:t>
            </a:r>
          </a:p>
        </p:txBody>
      </p:sp>
      <p:sp>
        <p:nvSpPr>
          <p:cNvPr id="9" name="AccentBar">
            <a:extLst>
              <a:ext uri="{C183D7F6-B498-43B3-948B-1728B52AA6E4}">
                <adec:decorative xmlns:adec="http://schemas.microsoft.com/office/drawing/2017/decorative" val="1"/>
              </a:ext>
            </a:extLst>
          </p:cNvPr>
          <p:cNvSpPr/>
          <p:nvPr/>
        </p:nvSpPr>
        <p:spPr>
          <a:xfrm>
            <a:off x="476249" y="0"/>
            <a:ext cx="72000" cy="1946064"/>
          </a:xfrm>
          <a:prstGeom prst="rect">
            <a:avLst/>
          </a:prstGeom>
          <a:gradFill flip="none" rotWithShape="1">
            <a:gsLst>
              <a:gs pos="0">
                <a:srgbClr val="E2AE4E"/>
              </a:gs>
              <a:gs pos="60000">
                <a:srgbClr val="B71C1C"/>
              </a:gs>
              <a:gs pos="100000">
                <a:srgbClr val="121212"/>
              </a:gs>
            </a:gsLst>
            <a:lin ang="5400000" scaled="1"/>
            <a:tileRect/>
          </a:gradFill>
          <a:ln>
            <a:noFill/>
          </a:ln>
        </p:spPr>
        <p:txBody>
          <a:bodyPr rtlCol="0" anchor="ctr"/>
          <a:lstStyle/>
          <a:p>
            <a:pPr algn="ctr"/>
            <a:endParaRPr lang="pt-BR"/>
          </a:p>
        </p:txBody>
      </p:sp>
      <p:sp>
        <p:nvSpPr>
          <p:cNvPr id="5" name="Footer">
            <a:extLst>
              <a:ext uri="{C183D7F6-B498-43B3-948B-1728B52AA6E4}">
                <adec:decorative xmlns:adec="http://schemas.microsoft.com/office/drawing/2017/decorative" val="1"/>
              </a:ext>
            </a:extLst>
          </p:cNvPr>
          <p:cNvSpPr>
            <a:spLocks noGrp="1"/>
          </p:cNvSpPr>
          <p:nvPr>
            <p:ph type="ftr" sz="quarter" idx="11"/>
          </p:nvPr>
        </p:nvSpPr>
        <p:spPr/>
        <p:txBody>
          <a:bodyPr/>
          <a:lstStyle/>
          <a:p>
            <a:r>
              <a:rPr lang="pt-BR" dirty="0">
                <a:solidFill>
                  <a:srgbClr val="BDBDBD"/>
                </a:solidFill>
              </a:rPr>
              <a:t>JAVA BUSHIDŌ</a:t>
            </a:r>
          </a:p>
        </p:txBody>
      </p:sp>
      <p:sp>
        <p:nvSpPr>
          <p:cNvPr id="10" name="SlideNum">
            <a:extLst>
              <a:ext uri="{C183D7F6-B498-43B3-948B-1728B52AA6E4}">
                <adec:decorative xmlns:adec="http://schemas.microsoft.com/office/drawing/2017/decorative" val="1"/>
              </a:ext>
            </a:extLst>
          </p:cNvPr>
          <p:cNvSpPr>
            <a:spLocks noGrp="1"/>
          </p:cNvSpPr>
          <p:nvPr>
            <p:ph type="sldNum" sz="quarter" idx="12"/>
          </p:nvPr>
        </p:nvSpPr>
        <p:spPr/>
        <p:txBody>
          <a:bodyPr/>
          <a:lstStyle/>
          <a:p>
            <a:fld id="{50C1CB04-2BE3-4164-84E0-A56E2E41F695}" type="slidenum">
              <a:rPr lang="pt-BR" smtClean="0"/>
              <a:t>34</a:t>
            </a:fld>
            <a:endParaRPr lang="pt-BR" dirty="0"/>
          </a:p>
        </p:txBody>
      </p:sp>
    </p:spTree>
  </p:cSld>
  <p:clrMapOvr>
    <a:masterClrMapping/>
  </p:clrMapOvr>
</p:sld>
</file>

<file path=ppt/theme/theme1.xml><?xml version="1.0" encoding="utf-8"?>
<a:theme xmlns:a="http://schemas.openxmlformats.org/drawingml/2006/main" name="Tema do Office">
  <a:themeElements>
    <a:clrScheme name="Tema do 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Tema do 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Tema do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2658</TotalTime>
  <Words>2565</Words>
  <Application>Microsoft Office PowerPoint</Application>
  <PresentationFormat>Papel A3 (297 x 420 mm)</PresentationFormat>
  <Paragraphs>205</Paragraphs>
  <Slides>34</Slides>
  <Notes>1</Notes>
  <HiddenSlides>0</HiddenSlides>
  <MMClips>0</MMClips>
  <ScaleCrop>false</ScaleCrop>
  <HeadingPairs>
    <vt:vector size="6" baseType="variant">
      <vt:variant>
        <vt:lpstr>Fontes usadas</vt:lpstr>
      </vt:variant>
      <vt:variant>
        <vt:i4>7</vt:i4>
      </vt:variant>
      <vt:variant>
        <vt:lpstr>Tema</vt:lpstr>
      </vt:variant>
      <vt:variant>
        <vt:i4>1</vt:i4>
      </vt:variant>
      <vt:variant>
        <vt:lpstr>Títulos de slides</vt:lpstr>
      </vt:variant>
      <vt:variant>
        <vt:i4>34</vt:i4>
      </vt:variant>
    </vt:vector>
  </HeadingPairs>
  <TitlesOfParts>
    <vt:vector size="42" baseType="lpstr">
      <vt:lpstr>Aptos</vt:lpstr>
      <vt:lpstr>Aptos Display</vt:lpstr>
      <vt:lpstr>Arial</vt:lpstr>
      <vt:lpstr>Arial Black</vt:lpstr>
      <vt:lpstr>Calibri Light</vt:lpstr>
      <vt:lpstr>Consolas</vt:lpstr>
      <vt:lpstr>Helvetica</vt:lpstr>
      <vt:lpstr>Tema do Office</vt:lpstr>
      <vt:lpstr>Java Bushidō – Do Java 8 ao 25: cortes precisos na evolução.</vt:lpstr>
      <vt:lpstr>Sumário</vt:lpstr>
      <vt:lpstr>PREFÁCIO 
O CÓDIGO COMO CAMINHO</vt:lpstr>
      <vt:lpstr>O Código como Caminho</vt:lpstr>
      <vt:lpstr>ANTES DA KATANA</vt:lpstr>
      <vt:lpstr>O Java Antes da Versão 8</vt:lpstr>
      <vt:lpstr>O CORTE INICIAL  JAVA 8</vt:lpstr>
      <vt:lpstr>Java 8 | Visão Geral</vt:lpstr>
      <vt:lpstr>Java 8 | Lambdas</vt:lpstr>
      <vt:lpstr>Java 8 | Stream API</vt:lpstr>
      <vt:lpstr>Java 8 | API de Data e Hora</vt:lpstr>
      <vt:lpstr>DISCIPLINA E LEVEZA JAVA 11</vt:lpstr>
      <vt:lpstr>Java 11 | Visão Geral</vt:lpstr>
      <vt:lpstr>Java 11 | HttpClient</vt:lpstr>
      <vt:lpstr>Java 11 | Melhorias em String</vt:lpstr>
      <vt:lpstr>Java 11 | Execução direta de arquivos .java</vt:lpstr>
      <vt:lpstr>O CÓDIGO DO MESTRE JAVA 17</vt:lpstr>
      <vt:lpstr>Java 17 | Visão Geral</vt:lpstr>
      <vt:lpstr>Java 17 | Records</vt:lpstr>
      <vt:lpstr>Java 17 | Pattern Matching (instanceof)</vt:lpstr>
      <vt:lpstr>Java 17 | Sealed Classes</vt:lpstr>
      <vt:lpstr>A FLUIDEZ DO AÇO
JAVA 21</vt:lpstr>
      <vt:lpstr>Java 21 | Visão Geral</vt:lpstr>
      <vt:lpstr>Java 21 | Virtual Threads</vt:lpstr>
      <vt:lpstr>Java 21 | Pattern Matching no switch</vt:lpstr>
      <vt:lpstr>Java 21 | Sequenced Collections</vt:lpstr>
      <vt:lpstr>A LÂMINA AFIADA
JAVA 25</vt:lpstr>
      <vt:lpstr>Java 25 | Visão Geral</vt:lpstr>
      <vt:lpstr>Java 25 | Método main simplificado</vt:lpstr>
      <vt:lpstr>Java 25 | Scoped Values</vt:lpstr>
      <vt:lpstr>Java 25 | Flexible Constructors</vt:lpstr>
      <vt:lpstr>O CAMINHO DO
JAVA BUSHIDŌ</vt:lpstr>
      <vt:lpstr>Evoluir Sem Romper</vt:lpstr>
      <vt:lpstr>Epílogo — Honra no Código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Luis Carlos Zancanela</dc:creator>
  <cp:lastModifiedBy>Luis Carlos Zancanela</cp:lastModifiedBy>
  <cp:revision>23</cp:revision>
  <dcterms:created xsi:type="dcterms:W3CDTF">2025-06-07T13:36:59Z</dcterms:created>
  <dcterms:modified xsi:type="dcterms:W3CDTF">2026-05-13T20:37:03Z</dcterms:modified>
</cp:coreProperties>
</file>